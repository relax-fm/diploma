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71" r:id="rId3"/>
    <p:sldId id="259" r:id="rId4"/>
    <p:sldId id="258" r:id="rId5"/>
    <p:sldId id="269" r:id="rId6"/>
    <p:sldId id="260" r:id="rId7"/>
    <p:sldId id="261" r:id="rId8"/>
    <p:sldId id="263" r:id="rId9"/>
    <p:sldId id="262" r:id="rId10"/>
    <p:sldId id="270" r:id="rId11"/>
    <p:sldId id="264" r:id="rId12"/>
    <p:sldId id="274" r:id="rId13"/>
    <p:sldId id="276" r:id="rId14"/>
    <p:sldId id="275" r:id="rId15"/>
    <p:sldId id="266" r:id="rId16"/>
    <p:sldId id="267" r:id="rId1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DBED"/>
    <a:srgbClr val="BCD9FC"/>
    <a:srgbClr val="F99F89"/>
    <a:srgbClr val="E8F2FE"/>
    <a:srgbClr val="D7E8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7" autoAdjust="0"/>
    <p:restoredTop sz="79811" autoAdjust="0"/>
  </p:normalViewPr>
  <p:slideViewPr>
    <p:cSldViewPr snapToGrid="0">
      <p:cViewPr varScale="1">
        <p:scale>
          <a:sx n="88" d="100"/>
          <a:sy n="88" d="100"/>
        </p:scale>
        <p:origin x="141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3CFF3B-98A7-41B4-A722-42506241E61D}" type="datetimeFigureOut">
              <a:rPr lang="en-US" smtClean="0"/>
              <a:t>6/7/2026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21836F-937A-4711-805F-7618927E711E}" type="slidenum">
              <a:rPr lang="en-US" smtClean="0"/>
              <a:t>‹#›</a:t>
            </a:fld>
            <a:endParaRPr lang="en-US"/>
          </a:p>
        </p:txBody>
      </p:sp>
    </p:spTree>
    <p:extLst>
      <p:ext uri="{BB962C8B-B14F-4D97-AF65-F5344CB8AC3E}">
        <p14:creationId xmlns:p14="http://schemas.microsoft.com/office/powerpoint/2010/main" val="154529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800" dirty="0"/>
              <a:t>Добрый день, уважаемые члены государственной экзаменационной комиссии.</a:t>
            </a:r>
            <a:br>
              <a:rPr lang="ru-RU" sz="1800" dirty="0"/>
            </a:br>
            <a:r>
              <a:rPr lang="ru-RU" sz="1800" dirty="0"/>
              <a:t>Меня зовут Онюшев Артем Андреевич, группа РК6-41М.</a:t>
            </a:r>
            <a:br>
              <a:rPr lang="ru-RU" sz="1800" dirty="0"/>
            </a:br>
            <a:r>
              <a:rPr lang="ru-RU" sz="1800" dirty="0"/>
              <a:t>Тема моей выпускной квалификационной работы: </a:t>
            </a:r>
            <a:r>
              <a:rPr lang="ru-RU" sz="1800" b="1" dirty="0"/>
              <a:t>«Разработка образовательной платформы с курсами»</a:t>
            </a:r>
            <a:r>
              <a:rPr lang="ru-RU" sz="1800" dirty="0"/>
              <a:t>.</a:t>
            </a:r>
            <a:br>
              <a:rPr lang="ru-RU" sz="1800" dirty="0"/>
            </a:br>
            <a:r>
              <a:rPr lang="ru-RU" sz="1800" dirty="0"/>
              <a:t>Научный руководитель работы — Витюков Фёдор Андреевич.</a:t>
            </a:r>
          </a:p>
          <a:p>
            <a:r>
              <a:rPr lang="ru-RU" sz="1800" dirty="0"/>
              <a:t>В своей работе я рассматривал задачи проектирования и разработки современной образовательной платформы, включающей систему авторизации и разграничения доступа, курсы, видеоуроки, онлайн-эфиры, уведомления и чаты.</a:t>
            </a:r>
          </a:p>
        </p:txBody>
      </p:sp>
      <p:sp>
        <p:nvSpPr>
          <p:cNvPr id="4" name="Slide Number Placeholder 3"/>
          <p:cNvSpPr>
            <a:spLocks noGrp="1"/>
          </p:cNvSpPr>
          <p:nvPr>
            <p:ph type="sldNum" sz="quarter" idx="5"/>
          </p:nvPr>
        </p:nvSpPr>
        <p:spPr/>
        <p:txBody>
          <a:bodyPr/>
          <a:lstStyle/>
          <a:p>
            <a:fld id="{E821836F-937A-4711-805F-7618927E711E}" type="slidenum">
              <a:rPr lang="en-US" smtClean="0"/>
              <a:t>1</a:t>
            </a:fld>
            <a:endParaRPr lang="en-US"/>
          </a:p>
        </p:txBody>
      </p:sp>
    </p:spTree>
    <p:extLst>
      <p:ext uri="{BB962C8B-B14F-4D97-AF65-F5344CB8AC3E}">
        <p14:creationId xmlns:p14="http://schemas.microsoft.com/office/powerpoint/2010/main" val="490107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данном слайде вы можете увидеть основные определения, использованные в моей выпускной работе.</a:t>
            </a:r>
            <a:endParaRPr lang="en-US" dirty="0"/>
          </a:p>
        </p:txBody>
      </p:sp>
      <p:sp>
        <p:nvSpPr>
          <p:cNvPr id="4" name="Slide Number Placeholder 3"/>
          <p:cNvSpPr>
            <a:spLocks noGrp="1"/>
          </p:cNvSpPr>
          <p:nvPr>
            <p:ph type="sldNum" sz="quarter" idx="5"/>
          </p:nvPr>
        </p:nvSpPr>
        <p:spPr/>
        <p:txBody>
          <a:bodyPr/>
          <a:lstStyle/>
          <a:p>
            <a:fld id="{E821836F-937A-4711-805F-7618927E711E}" type="slidenum">
              <a:rPr lang="en-US" smtClean="0"/>
              <a:t>2</a:t>
            </a:fld>
            <a:endParaRPr lang="en-US"/>
          </a:p>
        </p:txBody>
      </p:sp>
    </p:spTree>
    <p:extLst>
      <p:ext uri="{BB962C8B-B14F-4D97-AF65-F5344CB8AC3E}">
        <p14:creationId xmlns:p14="http://schemas.microsoft.com/office/powerpoint/2010/main" val="22292359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Актуальность работы обусловлена сразу несколькими факторами.</a:t>
            </a:r>
          </a:p>
          <a:p>
            <a:pPr marL="0" indent="0">
              <a:buFont typeface="Arial" panose="020B0604020202020204" pitchFamily="34" charset="0"/>
              <a:buNone/>
            </a:pPr>
            <a:r>
              <a:rPr lang="ru-RU" dirty="0"/>
              <a:t>Во-первых, в настоящее время наблюдается устойчивый рост спроса на цифровые образовательные платформы и онлайн-курсы.</a:t>
            </a:r>
            <a:br>
              <a:rPr lang="ru-RU" dirty="0"/>
            </a:br>
            <a:r>
              <a:rPr lang="ru-RU" dirty="0"/>
              <a:t>Во-вторых, пользователи ожидают от подобных систем не только размещения учебных материалов, но и более гибкого функционала: видеоуроков, онлайн-эфиров, чатов, уведомлений и разграничения доступа.</a:t>
            </a:r>
            <a:br>
              <a:rPr lang="ru-RU" dirty="0"/>
            </a:br>
            <a:r>
              <a:rPr lang="ru-RU" dirty="0"/>
              <a:t>В-третьих, важным фактором является необходимость импортозамещения и разработки собственных платформенных решений.</a:t>
            </a:r>
            <a:br>
              <a:rPr lang="ru-RU" dirty="0"/>
            </a:br>
            <a:r>
              <a:rPr lang="ru-RU" dirty="0"/>
              <a:t>Кроме того, к таким системам предъявляются повышенные требования по безопасности, особенно в части аутентификации, авторизации и защиты доступа к контенту.</a:t>
            </a:r>
          </a:p>
          <a:p>
            <a:r>
              <a:rPr lang="ru-RU" dirty="0"/>
              <a:t>Таким образом, задача разработки надежной и масштабируемой образовательной платформы является актуальной как с практической, так и с инженерной точки зрения.</a:t>
            </a:r>
          </a:p>
        </p:txBody>
      </p:sp>
      <p:sp>
        <p:nvSpPr>
          <p:cNvPr id="4" name="Slide Number Placeholder 3"/>
          <p:cNvSpPr>
            <a:spLocks noGrp="1"/>
          </p:cNvSpPr>
          <p:nvPr>
            <p:ph type="sldNum" sz="quarter" idx="5"/>
          </p:nvPr>
        </p:nvSpPr>
        <p:spPr/>
        <p:txBody>
          <a:bodyPr/>
          <a:lstStyle/>
          <a:p>
            <a:fld id="{E821836F-937A-4711-805F-7618927E711E}" type="slidenum">
              <a:rPr lang="en-US" smtClean="0"/>
              <a:t>3</a:t>
            </a:fld>
            <a:endParaRPr lang="en-US"/>
          </a:p>
        </p:txBody>
      </p:sp>
    </p:spTree>
    <p:extLst>
      <p:ext uri="{BB962C8B-B14F-4D97-AF65-F5344CB8AC3E}">
        <p14:creationId xmlns:p14="http://schemas.microsoft.com/office/powerpoint/2010/main" val="2386302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Целью моей работы являлось </a:t>
            </a:r>
            <a:r>
              <a:rPr lang="ru-RU" b="1" dirty="0"/>
              <a:t>исследование и разработка надежной образовательной платформы с курсами, обеспечивающей управление учебным контентом, пользователями и доступом к ресурсам системы</a:t>
            </a:r>
            <a:r>
              <a:rPr lang="ru-RU" dirty="0"/>
              <a:t>.</a:t>
            </a:r>
          </a:p>
          <a:p>
            <a:r>
              <a:rPr lang="ru-RU" dirty="0"/>
              <a:t>Для достижения этой цели были поставлены следующие задачи:</a:t>
            </a:r>
          </a:p>
          <a:p>
            <a:pPr marL="171450" indent="-171450">
              <a:buFont typeface="Arial" panose="020B0604020202020204" pitchFamily="34" charset="0"/>
              <a:buChar char="•"/>
            </a:pPr>
            <a:r>
              <a:rPr lang="ru-RU" dirty="0"/>
              <a:t>провести анализ современных образовательных платформ и их требований; </a:t>
            </a:r>
          </a:p>
          <a:p>
            <a:pPr marL="171450" indent="-171450">
              <a:buFont typeface="Arial" panose="020B0604020202020204" pitchFamily="34" charset="0"/>
              <a:buChar char="•"/>
            </a:pPr>
            <a:r>
              <a:rPr lang="ru-RU" dirty="0"/>
              <a:t>исследовать подходы к аутентификации, авторизации и управлению доступом; </a:t>
            </a:r>
          </a:p>
          <a:p>
            <a:pPr marL="171450" indent="-171450">
              <a:buFont typeface="Arial" panose="020B0604020202020204" pitchFamily="34" charset="0"/>
              <a:buChar char="•"/>
            </a:pPr>
            <a:r>
              <a:rPr lang="ru-RU" dirty="0"/>
              <a:t>разработать систему авторизации и разграничения доступа; </a:t>
            </a:r>
          </a:p>
          <a:p>
            <a:pPr marL="171450" indent="-171450">
              <a:buFont typeface="Arial" panose="020B0604020202020204" pitchFamily="34" charset="0"/>
              <a:buChar char="•"/>
            </a:pPr>
            <a:r>
              <a:rPr lang="ru-RU" dirty="0"/>
              <a:t>спроектировать модель системы видео, онлайн-эфиров, уведомлений и чатов; </a:t>
            </a:r>
          </a:p>
          <a:p>
            <a:pPr marL="171450" indent="-171450">
              <a:buFont typeface="Arial" panose="020B0604020202020204" pitchFamily="34" charset="0"/>
              <a:buChar char="•"/>
            </a:pPr>
            <a:r>
              <a:rPr lang="ru-RU" dirty="0"/>
              <a:t>реализовать данные подсистемы в рамках единой платформы. </a:t>
            </a:r>
          </a:p>
          <a:p>
            <a:r>
              <a:rPr lang="ru-RU" dirty="0"/>
              <a:t>То есть работа включала как исследовательскую часть, так и практическую реализацию ключевых компонентов системы.</a:t>
            </a:r>
          </a:p>
        </p:txBody>
      </p:sp>
      <p:sp>
        <p:nvSpPr>
          <p:cNvPr id="4" name="Slide Number Placeholder 3"/>
          <p:cNvSpPr>
            <a:spLocks noGrp="1"/>
          </p:cNvSpPr>
          <p:nvPr>
            <p:ph type="sldNum" sz="quarter" idx="5"/>
          </p:nvPr>
        </p:nvSpPr>
        <p:spPr/>
        <p:txBody>
          <a:bodyPr/>
          <a:lstStyle/>
          <a:p>
            <a:fld id="{E821836F-937A-4711-805F-7618927E711E}" type="slidenum">
              <a:rPr lang="en-US" smtClean="0"/>
              <a:t>4</a:t>
            </a:fld>
            <a:endParaRPr lang="en-US"/>
          </a:p>
        </p:txBody>
      </p:sp>
    </p:spTree>
    <p:extLst>
      <p:ext uri="{BB962C8B-B14F-4D97-AF65-F5344CB8AC3E}">
        <p14:creationId xmlns:p14="http://schemas.microsoft.com/office/powerpoint/2010/main" val="2649137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800" dirty="0"/>
              <a:t>На данном слайде представлена общая архитектура разработанной платформы.</a:t>
            </a:r>
          </a:p>
          <a:p>
            <a:r>
              <a:rPr lang="ru-RU" sz="1800" dirty="0"/>
              <a:t>Система построена как набор взаимодействующих компонентов, каждый из которых отвечает за свою зону ответственности.</a:t>
            </a:r>
            <a:br>
              <a:rPr lang="ru-RU" sz="1800" dirty="0"/>
            </a:br>
            <a:r>
              <a:rPr lang="ru-RU" sz="1800" dirty="0"/>
              <a:t>В качестве серверной основы использован </a:t>
            </a:r>
            <a:r>
              <a:rPr lang="ru-RU" sz="1800" dirty="0" err="1"/>
              <a:t>backend</a:t>
            </a:r>
            <a:r>
              <a:rPr lang="ru-RU" sz="1800" dirty="0"/>
              <a:t> на </a:t>
            </a:r>
            <a:r>
              <a:rPr lang="ru-RU" sz="1800" b="1" dirty="0" err="1"/>
              <a:t>Golang</a:t>
            </a:r>
            <a:r>
              <a:rPr lang="ru-RU" sz="1800" dirty="0"/>
              <a:t>.</a:t>
            </a:r>
            <a:br>
              <a:rPr lang="ru-RU" sz="1800" dirty="0"/>
            </a:br>
            <a:r>
              <a:rPr lang="ru-RU" sz="1800" dirty="0"/>
              <a:t>Для хранения основной структурированной информации применяется </a:t>
            </a:r>
            <a:r>
              <a:rPr lang="ru-RU" sz="1800" b="1" dirty="0" err="1"/>
              <a:t>PostgreSQL</a:t>
            </a:r>
            <a:r>
              <a:rPr lang="ru-RU" sz="1800" dirty="0"/>
              <a:t>, для кэширования и временных данных — </a:t>
            </a:r>
            <a:r>
              <a:rPr lang="ru-RU" sz="1800" b="1" dirty="0" err="1"/>
              <a:t>Redis</a:t>
            </a:r>
            <a:r>
              <a:rPr lang="ru-RU" sz="1800" dirty="0"/>
              <a:t>.</a:t>
            </a:r>
            <a:br>
              <a:rPr lang="ru-RU" sz="1800" dirty="0"/>
            </a:br>
            <a:r>
              <a:rPr lang="ru-RU" sz="1800" dirty="0"/>
              <a:t>Для событийного взаимодействия между компонентами системы используется </a:t>
            </a:r>
            <a:r>
              <a:rPr lang="ru-RU" sz="1800" b="1" dirty="0" err="1"/>
              <a:t>Kafka</a:t>
            </a:r>
            <a:r>
              <a:rPr lang="ru-RU" sz="1800" dirty="0"/>
              <a:t>.</a:t>
            </a:r>
            <a:br>
              <a:rPr lang="ru-RU" sz="1800" dirty="0"/>
            </a:br>
            <a:r>
              <a:rPr lang="ru-RU" sz="1800" dirty="0"/>
              <a:t>Для чатов и уведомлений в реальном времени применяется </a:t>
            </a:r>
            <a:r>
              <a:rPr lang="ru-RU" sz="1800" b="1" dirty="0" err="1"/>
              <a:t>Centrifugo</a:t>
            </a:r>
            <a:r>
              <a:rPr lang="ru-RU" sz="1800" dirty="0"/>
              <a:t>.</a:t>
            </a:r>
            <a:br>
              <a:rPr lang="ru-RU" sz="1800" dirty="0"/>
            </a:br>
            <a:r>
              <a:rPr lang="ru-RU" sz="1800" dirty="0"/>
              <a:t>Видео и дополнительные материалы хранятся в </a:t>
            </a:r>
            <a:r>
              <a:rPr lang="ru-RU" sz="1800" b="1" dirty="0"/>
              <a:t>S3-совместимом хранилище</a:t>
            </a:r>
            <a:r>
              <a:rPr lang="ru-RU" sz="1800" dirty="0"/>
              <a:t>, а воспроизведение видео и проведение эфиров реализованы через уже готовый собственный видеосервис.</a:t>
            </a:r>
          </a:p>
          <a:p>
            <a:r>
              <a:rPr lang="ru-RU" sz="1800" dirty="0"/>
              <a:t>Такой подход позволяет сделать систему расширяемой, обеспечить разделение ответственности между компонентами и подготовить платформу к дальнейшему масштабированию.</a:t>
            </a:r>
          </a:p>
        </p:txBody>
      </p:sp>
      <p:sp>
        <p:nvSpPr>
          <p:cNvPr id="4" name="Slide Number Placeholder 3"/>
          <p:cNvSpPr>
            <a:spLocks noGrp="1"/>
          </p:cNvSpPr>
          <p:nvPr>
            <p:ph type="sldNum" sz="quarter" idx="5"/>
          </p:nvPr>
        </p:nvSpPr>
        <p:spPr/>
        <p:txBody>
          <a:bodyPr/>
          <a:lstStyle/>
          <a:p>
            <a:fld id="{E821836F-937A-4711-805F-7618927E711E}" type="slidenum">
              <a:rPr lang="en-US" smtClean="0"/>
              <a:t>5</a:t>
            </a:fld>
            <a:endParaRPr lang="en-US"/>
          </a:p>
        </p:txBody>
      </p:sp>
    </p:spTree>
    <p:extLst>
      <p:ext uri="{BB962C8B-B14F-4D97-AF65-F5344CB8AC3E}">
        <p14:creationId xmlns:p14="http://schemas.microsoft.com/office/powerpoint/2010/main" val="2577003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показан механизм авторизации пользователей.</a:t>
            </a:r>
          </a:p>
          <a:p>
            <a:r>
              <a:rPr lang="ru-RU" dirty="0"/>
              <a:t>В основе выбранного подхода лежат </a:t>
            </a:r>
            <a:r>
              <a:rPr lang="ru-RU" b="1" dirty="0" err="1"/>
              <a:t>OAuth</a:t>
            </a:r>
            <a:r>
              <a:rPr lang="ru-RU" b="1" dirty="0"/>
              <a:t> 2.0</a:t>
            </a:r>
            <a:r>
              <a:rPr lang="ru-RU" dirty="0"/>
              <a:t> и </a:t>
            </a:r>
            <a:r>
              <a:rPr lang="ru-RU" b="1" dirty="0" err="1"/>
              <a:t>OpenID</a:t>
            </a:r>
            <a:r>
              <a:rPr lang="ru-RU" b="1" dirty="0"/>
              <a:t> Connect</a:t>
            </a:r>
            <a:r>
              <a:rPr lang="ru-RU" dirty="0"/>
              <a:t>.</a:t>
            </a:r>
            <a:br>
              <a:rPr lang="ru-RU" dirty="0"/>
            </a:br>
            <a:r>
              <a:rPr lang="ru-RU" dirty="0" err="1"/>
              <a:t>OAuth</a:t>
            </a:r>
            <a:r>
              <a:rPr lang="ru-RU" dirty="0"/>
              <a:t> 2.0 используется как протокол авторизации, а OIDC дополняет его механизмом подтверждения личности пользователя. (аутентификации)</a:t>
            </a:r>
          </a:p>
          <a:p>
            <a:r>
              <a:rPr lang="ru-RU" dirty="0"/>
              <a:t>Для повышения безопасности применяется </a:t>
            </a:r>
            <a:r>
              <a:rPr lang="ru-RU" b="1" dirty="0"/>
              <a:t>PKCE</a:t>
            </a:r>
            <a:r>
              <a:rPr lang="ru-RU" dirty="0"/>
              <a:t>.</a:t>
            </a:r>
            <a:br>
              <a:rPr lang="ru-RU" dirty="0"/>
            </a:br>
            <a:r>
              <a:rPr lang="ru-RU" dirty="0"/>
              <a:t>Его основная задача состоит в том, чтобы защитить процесс обмена </a:t>
            </a:r>
            <a:r>
              <a:rPr lang="ru-RU" dirty="0" err="1"/>
              <a:t>authorization</a:t>
            </a:r>
            <a:r>
              <a:rPr lang="ru-RU" dirty="0"/>
              <a:t> </a:t>
            </a:r>
            <a:r>
              <a:rPr lang="ru-RU" dirty="0" err="1"/>
              <a:t>code</a:t>
            </a:r>
            <a:r>
              <a:rPr lang="ru-RU" dirty="0"/>
              <a:t> на токен и исключить возможность использования перехваченного кода злоумышленником.</a:t>
            </a:r>
          </a:p>
          <a:p>
            <a:r>
              <a:rPr lang="ru-RU" dirty="0"/>
              <a:t>После успешной авторизации пользователь получает токен доступа, который далее используется для обращения к </a:t>
            </a:r>
            <a:r>
              <a:rPr lang="ru-RU" dirty="0" err="1"/>
              <a:t>backend</a:t>
            </a:r>
            <a:r>
              <a:rPr lang="ru-RU" dirty="0"/>
              <a:t> API.</a:t>
            </a:r>
            <a:br>
              <a:rPr lang="ru-RU" dirty="0"/>
            </a:br>
            <a:r>
              <a:rPr lang="ru-RU" dirty="0"/>
              <a:t>При этом </a:t>
            </a:r>
            <a:r>
              <a:rPr lang="ru-RU" dirty="0" err="1"/>
              <a:t>backend</a:t>
            </a:r>
            <a:r>
              <a:rPr lang="ru-RU" dirty="0"/>
              <a:t> не только валидирует токен, но и проверяет права пользователя на конкретные ресурсы системы.</a:t>
            </a:r>
          </a:p>
          <a:p>
            <a:endParaRPr lang="en-US" dirty="0"/>
          </a:p>
        </p:txBody>
      </p:sp>
      <p:sp>
        <p:nvSpPr>
          <p:cNvPr id="4" name="Slide Number Placeholder 3"/>
          <p:cNvSpPr>
            <a:spLocks noGrp="1"/>
          </p:cNvSpPr>
          <p:nvPr>
            <p:ph type="sldNum" sz="quarter" idx="5"/>
          </p:nvPr>
        </p:nvSpPr>
        <p:spPr/>
        <p:txBody>
          <a:bodyPr/>
          <a:lstStyle/>
          <a:p>
            <a:fld id="{E821836F-937A-4711-805F-7618927E711E}" type="slidenum">
              <a:rPr lang="en-US" smtClean="0"/>
              <a:t>6</a:t>
            </a:fld>
            <a:endParaRPr lang="en-US"/>
          </a:p>
        </p:txBody>
      </p:sp>
    </p:spTree>
    <p:extLst>
      <p:ext uri="{BB962C8B-B14F-4D97-AF65-F5344CB8AC3E}">
        <p14:creationId xmlns:p14="http://schemas.microsoft.com/office/powerpoint/2010/main" val="3902800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данном слайде показана практическая реализация авторизации в разработанной платформе.</a:t>
            </a:r>
          </a:p>
          <a:p>
            <a:r>
              <a:rPr lang="ru-RU" dirty="0"/>
              <a:t>Для реализации системы авторизации был выбран </a:t>
            </a:r>
            <a:r>
              <a:rPr lang="ru-RU" dirty="0" err="1"/>
              <a:t>опенсурсный</a:t>
            </a:r>
            <a:r>
              <a:rPr lang="ru-RU" dirty="0"/>
              <a:t> </a:t>
            </a:r>
            <a:r>
              <a:rPr lang="ru-RU" b="1" dirty="0"/>
              <a:t>ORY </a:t>
            </a:r>
            <a:r>
              <a:rPr lang="ru-RU" b="1" dirty="0" err="1"/>
              <a:t>Hydra</a:t>
            </a:r>
            <a:r>
              <a:rPr lang="ru-RU" dirty="0"/>
              <a:t>, который выступает в роли </a:t>
            </a:r>
            <a:r>
              <a:rPr lang="ru-RU" dirty="0" err="1"/>
              <a:t>authorization</a:t>
            </a:r>
            <a:r>
              <a:rPr lang="ru-RU" dirty="0"/>
              <a:t> </a:t>
            </a:r>
            <a:r>
              <a:rPr lang="ru-RU" dirty="0" err="1"/>
              <a:t>server</a:t>
            </a:r>
            <a:r>
              <a:rPr lang="ru-RU" dirty="0"/>
              <a:t> и отвечает за выдачу токенов, поддержку </a:t>
            </a:r>
            <a:r>
              <a:rPr lang="ru-RU" dirty="0" err="1"/>
              <a:t>OAuth</a:t>
            </a:r>
            <a:r>
              <a:rPr lang="ru-RU" dirty="0"/>
              <a:t> 2.0, OIDC и PKCE.</a:t>
            </a:r>
          </a:p>
          <a:p>
            <a:r>
              <a:rPr lang="ru-RU" dirty="0"/>
              <a:t>Такой подход позволяет не реализовывать критически важную </a:t>
            </a:r>
            <a:r>
              <a:rPr lang="ru-RU" dirty="0" err="1"/>
              <a:t>auth</a:t>
            </a:r>
            <a:r>
              <a:rPr lang="ru-RU" dirty="0"/>
              <a:t>-логику полностью вручную, а использовать специализированное решение, соответствующее современным стандартам безопасности.</a:t>
            </a:r>
          </a:p>
          <a:p>
            <a:r>
              <a:rPr lang="ru-RU" dirty="0"/>
              <a:t>В результате система поддерживает безопасный процесс входа пользователя, выдачу JWT-токенов и дальнейшее использование этих токенов при обращении к защищённым ресурсам платформы.</a:t>
            </a:r>
          </a:p>
          <a:p>
            <a:endParaRPr lang="en-US" dirty="0"/>
          </a:p>
        </p:txBody>
      </p:sp>
      <p:sp>
        <p:nvSpPr>
          <p:cNvPr id="4" name="Slide Number Placeholder 3"/>
          <p:cNvSpPr>
            <a:spLocks noGrp="1"/>
          </p:cNvSpPr>
          <p:nvPr>
            <p:ph type="sldNum" sz="quarter" idx="5"/>
          </p:nvPr>
        </p:nvSpPr>
        <p:spPr/>
        <p:txBody>
          <a:bodyPr/>
          <a:lstStyle/>
          <a:p>
            <a:fld id="{E821836F-937A-4711-805F-7618927E711E}" type="slidenum">
              <a:rPr lang="en-US" smtClean="0"/>
              <a:t>7</a:t>
            </a:fld>
            <a:endParaRPr lang="en-US"/>
          </a:p>
        </p:txBody>
      </p:sp>
    </p:spTree>
    <p:extLst>
      <p:ext uri="{BB962C8B-B14F-4D97-AF65-F5344CB8AC3E}">
        <p14:creationId xmlns:p14="http://schemas.microsoft.com/office/powerpoint/2010/main" val="1637316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4000" dirty="0"/>
              <a:t>На этом слайде представлена ролевая модель доступа, используемая в системе.</a:t>
            </a:r>
          </a:p>
          <a:p>
            <a:r>
              <a:rPr lang="ru-RU" sz="4000" dirty="0"/>
              <a:t>Для управления доступом был выбран подход </a:t>
            </a:r>
            <a:r>
              <a:rPr lang="ru-RU" sz="4000" b="1" dirty="0" err="1"/>
              <a:t>ReBAC</a:t>
            </a:r>
            <a:r>
              <a:rPr lang="ru-RU" sz="4000" dirty="0"/>
              <a:t>, реализованный с помощью </a:t>
            </a:r>
            <a:r>
              <a:rPr lang="ru-RU" sz="4000" b="1" dirty="0"/>
              <a:t>ORY </a:t>
            </a:r>
            <a:r>
              <a:rPr lang="ru-RU" sz="4000" b="1" dirty="0" err="1"/>
              <a:t>Keto</a:t>
            </a:r>
            <a:r>
              <a:rPr lang="ru-RU" sz="4000" dirty="0"/>
              <a:t>.</a:t>
            </a:r>
            <a:br>
              <a:rPr lang="ru-RU" sz="4000" dirty="0"/>
            </a:br>
            <a:r>
              <a:rPr lang="ru-RU" sz="4000" dirty="0"/>
              <a:t>В отличие от классической RBAC-модели, где доступ строится только на основе ролей, </a:t>
            </a:r>
            <a:r>
              <a:rPr lang="ru-RU" sz="4000" dirty="0" err="1"/>
              <a:t>ReBAC</a:t>
            </a:r>
            <a:r>
              <a:rPr lang="ru-RU" sz="4000" dirty="0"/>
              <a:t> позволяет задавать права через отношения между субъектами и объектами.</a:t>
            </a:r>
          </a:p>
          <a:p>
            <a:r>
              <a:rPr lang="ru-RU" sz="4000" dirty="0"/>
              <a:t>Базовая запись в такой модели имеет вид:</a:t>
            </a:r>
            <a:br>
              <a:rPr lang="ru-RU" sz="4000" dirty="0"/>
            </a:br>
            <a:r>
              <a:rPr lang="ru-RU" sz="4000" b="1" dirty="0" err="1"/>
              <a:t>namespace:object#relation@namespace:subject</a:t>
            </a:r>
            <a:r>
              <a:rPr lang="ru-RU" sz="4000" dirty="0"/>
              <a:t>.</a:t>
            </a:r>
          </a:p>
          <a:p>
            <a:r>
              <a:rPr lang="ru-RU" sz="4000" dirty="0"/>
              <a:t>Например, это позволяет описывать такие отношения, как:</a:t>
            </a:r>
          </a:p>
          <a:p>
            <a:r>
              <a:rPr lang="ru-RU" sz="4000" dirty="0"/>
              <a:t>пользователь является владельцем курса, </a:t>
            </a:r>
          </a:p>
          <a:p>
            <a:r>
              <a:rPr lang="ru-RU" sz="4000" dirty="0"/>
              <a:t>пользователь является участником курса, </a:t>
            </a:r>
          </a:p>
          <a:p>
            <a:r>
              <a:rPr lang="ru-RU" sz="4000" dirty="0"/>
              <a:t>автор может редактировать урок, </a:t>
            </a:r>
          </a:p>
          <a:p>
            <a:r>
              <a:rPr lang="ru-RU" sz="4000" dirty="0"/>
              <a:t>ученик может просматривать только те материалы, к которым у него есть доступ. </a:t>
            </a:r>
          </a:p>
          <a:p>
            <a:r>
              <a:rPr lang="ru-RU" sz="4000" dirty="0"/>
              <a:t>Преимущество такого подхода состоит в том, что он лучше подходит для сложных прикладных систем, где доступ зависит не только от роли, но и от связи пользователя с конкретным объектом.</a:t>
            </a:r>
          </a:p>
        </p:txBody>
      </p:sp>
      <p:sp>
        <p:nvSpPr>
          <p:cNvPr id="4" name="Slide Number Placeholder 3"/>
          <p:cNvSpPr>
            <a:spLocks noGrp="1"/>
          </p:cNvSpPr>
          <p:nvPr>
            <p:ph type="sldNum" sz="quarter" idx="5"/>
          </p:nvPr>
        </p:nvSpPr>
        <p:spPr/>
        <p:txBody>
          <a:bodyPr/>
          <a:lstStyle/>
          <a:p>
            <a:fld id="{E821836F-937A-4711-805F-7618927E711E}" type="slidenum">
              <a:rPr lang="en-US" smtClean="0"/>
              <a:t>8</a:t>
            </a:fld>
            <a:endParaRPr lang="en-US"/>
          </a:p>
        </p:txBody>
      </p:sp>
    </p:spTree>
    <p:extLst>
      <p:ext uri="{BB962C8B-B14F-4D97-AF65-F5344CB8AC3E}">
        <p14:creationId xmlns:p14="http://schemas.microsoft.com/office/powerpoint/2010/main" val="3071692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данном слайде представлена структура курса.</a:t>
            </a:r>
          </a:p>
          <a:p>
            <a:r>
              <a:rPr lang="ru-RU" dirty="0"/>
              <a:t>Курс является основной сущностью образовательной платформы и включает в себя иерархию учебного контента.</a:t>
            </a:r>
            <a:br>
              <a:rPr lang="ru-RU" dirty="0"/>
            </a:br>
            <a:r>
              <a:rPr lang="ru-RU" dirty="0"/>
              <a:t>В его состав входят модули, уроки, видео, дополнительные материалы и связанные элементы взаимодействия.</a:t>
            </a:r>
          </a:p>
          <a:p>
            <a:r>
              <a:rPr lang="ru-RU" dirty="0"/>
              <a:t>Такая структура позволяет логически группировать учебный контент, управлять доступом на разных уровнях и формировать удобную навигацию для пользователя.</a:t>
            </a:r>
          </a:p>
          <a:p>
            <a:r>
              <a:rPr lang="ru-RU" dirty="0"/>
              <a:t>Кроме того, разделение курса на модули и уроки упрощает масштабирование платформы и расширение функциональности, например добавление тестов, домашних заданий или аналитики прохождения.</a:t>
            </a:r>
          </a:p>
          <a:p>
            <a:endParaRPr lang="en-US" dirty="0"/>
          </a:p>
        </p:txBody>
      </p:sp>
      <p:sp>
        <p:nvSpPr>
          <p:cNvPr id="4" name="Slide Number Placeholder 3"/>
          <p:cNvSpPr>
            <a:spLocks noGrp="1"/>
          </p:cNvSpPr>
          <p:nvPr>
            <p:ph type="sldNum" sz="quarter" idx="5"/>
          </p:nvPr>
        </p:nvSpPr>
        <p:spPr/>
        <p:txBody>
          <a:bodyPr/>
          <a:lstStyle/>
          <a:p>
            <a:fld id="{E821836F-937A-4711-805F-7618927E711E}" type="slidenum">
              <a:rPr lang="en-US" smtClean="0"/>
              <a:t>9</a:t>
            </a:fld>
            <a:endParaRPr lang="en-US"/>
          </a:p>
        </p:txBody>
      </p:sp>
    </p:spTree>
    <p:extLst>
      <p:ext uri="{BB962C8B-B14F-4D97-AF65-F5344CB8AC3E}">
        <p14:creationId xmlns:p14="http://schemas.microsoft.com/office/powerpoint/2010/main" val="39627924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800" dirty="0"/>
              <a:t>На этом слайде представлена структура онлайн-эфира.</a:t>
            </a:r>
          </a:p>
          <a:p>
            <a:r>
              <a:rPr lang="ru-RU" sz="1800" dirty="0"/>
              <a:t>Эфир является важной сущностью платформы.</a:t>
            </a:r>
          </a:p>
          <a:p>
            <a:r>
              <a:rPr lang="ru-RU" sz="1800" dirty="0"/>
              <a:t>При проектировании этой подсистемы было важно обеспечить:</a:t>
            </a:r>
          </a:p>
          <a:p>
            <a:pPr marL="285750" indent="-285750">
              <a:buFont typeface="Arial" panose="020B0604020202020204" pitchFamily="34" charset="0"/>
              <a:buChar char="•"/>
            </a:pPr>
            <a:r>
              <a:rPr lang="ru-RU" sz="1800" dirty="0"/>
              <a:t>возможность запуска и завершения эфира; </a:t>
            </a:r>
          </a:p>
          <a:p>
            <a:pPr marL="285750" indent="-285750">
              <a:buFont typeface="Arial" panose="020B0604020202020204" pitchFamily="34" charset="0"/>
              <a:buChar char="•"/>
            </a:pPr>
            <a:r>
              <a:rPr lang="ru-RU" sz="1800" dirty="0"/>
              <a:t>привязку эфира к конкретному курсу или модулю; </a:t>
            </a:r>
          </a:p>
          <a:p>
            <a:pPr marL="285750" indent="-285750">
              <a:buFont typeface="Arial" panose="020B0604020202020204" pitchFamily="34" charset="0"/>
              <a:buChar char="•"/>
            </a:pPr>
            <a:r>
              <a:rPr lang="ru-RU" sz="1800" dirty="0"/>
              <a:t>уведомление пользователей о начале трансляции; </a:t>
            </a:r>
          </a:p>
          <a:p>
            <a:pPr marL="285750" indent="-285750">
              <a:buFont typeface="Arial" panose="020B0604020202020204" pitchFamily="34" charset="0"/>
              <a:buChar char="•"/>
            </a:pPr>
            <a:r>
              <a:rPr lang="ru-RU" sz="1800" dirty="0"/>
              <a:t>поддержку взаимодействия участников через чат; </a:t>
            </a:r>
          </a:p>
          <a:p>
            <a:pPr marL="285750" indent="-285750">
              <a:buFont typeface="Arial" panose="020B0604020202020204" pitchFamily="34" charset="0"/>
              <a:buChar char="•"/>
            </a:pPr>
            <a:r>
              <a:rPr lang="ru-RU" sz="1800" dirty="0"/>
              <a:t>дальнейшее хранение или публикацию записи эфира. </a:t>
            </a:r>
          </a:p>
          <a:p>
            <a:r>
              <a:rPr lang="ru-RU" sz="1800" dirty="0"/>
              <a:t>Таким образом, эфир в системе рассматривается не как отдельный видеопоток, а как комплексный объект, связанный с контентом, расписанием и пользовательским взаимодействием.</a:t>
            </a:r>
          </a:p>
        </p:txBody>
      </p:sp>
      <p:sp>
        <p:nvSpPr>
          <p:cNvPr id="4" name="Slide Number Placeholder 3"/>
          <p:cNvSpPr>
            <a:spLocks noGrp="1"/>
          </p:cNvSpPr>
          <p:nvPr>
            <p:ph type="sldNum" sz="quarter" idx="5"/>
          </p:nvPr>
        </p:nvSpPr>
        <p:spPr/>
        <p:txBody>
          <a:bodyPr/>
          <a:lstStyle/>
          <a:p>
            <a:fld id="{E821836F-937A-4711-805F-7618927E711E}" type="slidenum">
              <a:rPr lang="en-US" smtClean="0"/>
              <a:t>10</a:t>
            </a:fld>
            <a:endParaRPr lang="en-US"/>
          </a:p>
        </p:txBody>
      </p:sp>
    </p:spTree>
    <p:extLst>
      <p:ext uri="{BB962C8B-B14F-4D97-AF65-F5344CB8AC3E}">
        <p14:creationId xmlns:p14="http://schemas.microsoft.com/office/powerpoint/2010/main" val="25875287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данном слайде показан видеоплеер, используемый в платформе.</a:t>
            </a:r>
          </a:p>
          <a:p>
            <a:r>
              <a:rPr lang="ru-RU" dirty="0"/>
              <a:t>Видеоплеер является важной частью пользовательского интерфейса, так как именно через него осуществляется основное потребление учебного видеоконтента.</a:t>
            </a:r>
          </a:p>
        </p:txBody>
      </p:sp>
      <p:sp>
        <p:nvSpPr>
          <p:cNvPr id="4" name="Slide Number Placeholder 3"/>
          <p:cNvSpPr>
            <a:spLocks noGrp="1"/>
          </p:cNvSpPr>
          <p:nvPr>
            <p:ph type="sldNum" sz="quarter" idx="5"/>
          </p:nvPr>
        </p:nvSpPr>
        <p:spPr/>
        <p:txBody>
          <a:bodyPr/>
          <a:lstStyle/>
          <a:p>
            <a:fld id="{E821836F-937A-4711-805F-7618927E711E}" type="slidenum">
              <a:rPr lang="en-US" smtClean="0"/>
              <a:t>11</a:t>
            </a:fld>
            <a:endParaRPr lang="en-US"/>
          </a:p>
        </p:txBody>
      </p:sp>
    </p:spTree>
    <p:extLst>
      <p:ext uri="{BB962C8B-B14F-4D97-AF65-F5344CB8AC3E}">
        <p14:creationId xmlns:p14="http://schemas.microsoft.com/office/powerpoint/2010/main" val="3921575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800" dirty="0"/>
              <a:t>На этом слайде я кратко поясняю, как устроены современные видеокодеки. Все четыре исследованных кодека — H.264, H.265, VP8 и VP9 — построены по единой гибридной блочной схеме. Кадр разбивается на блоки, и для каждого блока выполняется предсказание: либо внутрикадровое, по соседним пикселям того же кадра, либо межкадровое — с компенсацией движения относительно соседних кадров. Кодируется при этом только разница между блоком и предсказанием.</a:t>
            </a:r>
          </a:p>
          <a:p>
            <a:r>
              <a:rPr lang="ru-RU" sz="1800" dirty="0"/>
              <a:t>Далее эта разница проходит дискретное косинусное преобразование, которое переводит её в частотную область, затем квантование — именно этот этап вносит потери и регулирует степень сжатия — и, наконец, энтропийное кодирование без потерь. Управлять сжатием можно двумя способами: режимом постоянного качества CRF и режимом заданного среднего битрейта. Эта схема и легла в основу дальнейшего сравнения.</a:t>
            </a:r>
          </a:p>
          <a:p>
            <a:r>
              <a:rPr lang="ru-RU" sz="1800" dirty="0"/>
              <a:t>Поясню обозначения в формулах. x, y — координаты пикселя внутри блока, то есть пространственная область. u, v — координаты коэффициента в частотной области: это горизонтальная и вертикальная пространственные частоты. F(u, v) — коэффициент ДКП на частоте (u, v); при этом F(0, 0) — так называемая DC-компонента, средняя яркость всего блока. Q(u, v) — элемент таблицы квантования, то есть шаг квантования для этой частоты: чем он больше, тем грубее округление и сильнее сжатие. pᵢ — вероятность появления i-го символа при энтропийном кодировании; по этим вероятностям энтропия задаёт минимально возможное среднее число бит на символ. Кроме того, f(x, y) — значение пикселя или остатка в точке (x, y), а N — размер блока.</a:t>
            </a:r>
          </a:p>
        </p:txBody>
      </p:sp>
      <p:sp>
        <p:nvSpPr>
          <p:cNvPr id="4" name="Slide Number Placeholder 3"/>
          <p:cNvSpPr>
            <a:spLocks noGrp="1"/>
          </p:cNvSpPr>
          <p:nvPr>
            <p:ph type="sldNum" sz="quarter" idx="5"/>
          </p:nvPr>
        </p:nvSpPr>
        <p:spPr/>
        <p:txBody>
          <a:bodyPr/>
          <a:lstStyle/>
          <a:p>
            <a:fld id="{E821836F-937A-4711-805F-7618927E711E}" type="slidenum">
              <a:rPr lang="en-US" smtClean="0"/>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800" dirty="0"/>
              <a:t>Чтобы глубже разобраться в работе кодеков, я реализовал собственный учебный кодек на языке Python. Он повторяет ключевые этапы внутрикадрового кодирования: разбиение на блоки восемь на восемь, дискретное косинусное преобразование, квантование с управляющим параметром качества и энтропийное кодирование.</a:t>
            </a:r>
          </a:p>
          <a:p>
            <a:r>
              <a:rPr lang="ru-RU" sz="1800" dirty="0"/>
              <a:t>Справа показан результат восстановления кадра при сильном сжатии — хорошо видны характерные блочные артефакты. Рейт-дисторсионная кривая моего кодека по форме повторяет кривые стандартных кодеков, но битрейт при том же качестве оказывается примерно на порядок выше. Причина в том, что кодек интракадровый и не использует ни межкадровое предсказание, ни контекстное арифметическое кодирование. Именно эти два механизма и обеспечивают эффективность промышленных кодеков, что подтвердил эксперимент.</a:t>
            </a:r>
          </a:p>
        </p:txBody>
      </p:sp>
      <p:sp>
        <p:nvSpPr>
          <p:cNvPr id="4" name="Slide Number Placeholder 3"/>
          <p:cNvSpPr>
            <a:spLocks noGrp="1"/>
          </p:cNvSpPr>
          <p:nvPr>
            <p:ph type="sldNum" sz="quarter" idx="5"/>
          </p:nvPr>
        </p:nvSpPr>
        <p:spPr/>
        <p:txBody>
          <a:bodyPr/>
          <a:lstStyle/>
          <a:p>
            <a:fld id="{E821836F-937A-4711-805F-7618927E711E}" type="slidenum">
              <a:rPr lang="en-US" smtClean="0"/>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800" dirty="0"/>
              <a:t>На этом слайде представлены результаты проведённого исследования. Я кодировал один и тот же видеоматериал четырьмя кодеками в двух режимах: при постоянном качестве, изменяя параметр CRF от 18 до 33, и при заданном среднем битрейте — от 4000 до 1000 килобит в секунду (При постоянном качестве мы не знаем точный размер итогового файла, но при этом качество всегда одинаковое, при фиксированном битрейте мы знаем итоговый размер, но не знаем какое будет качество). Для каждого варианта измерялись размер файла, фактический битрейт, метрики качества PSNR и SSIM, коэффициент сжатия и время кодирования.</a:t>
            </a:r>
          </a:p>
          <a:p>
            <a:r>
              <a:rPr lang="ru-RU" sz="1800" dirty="0"/>
              <a:t>Видно, что VP9 и H.265 дают лучшее качество при меньшем битрейте, H.264 — самый быстрый по времени кодирования, а VP8 в режиме постоянного качества оказался наименее эффективным. Практический вывод: для экономии трафика и хранилища предпочтительны H.265 или VP9, а когда важны скорость и совместимость — H.264.</a:t>
            </a:r>
          </a:p>
          <a:p>
            <a:r>
              <a:rPr lang="ru-RU" sz="1800" dirty="0"/>
              <a:t>Под таблицами приведены формулы двух метрик качества, по которым велось сравнение. PSNR — пиковое отношение сигнал/шум — вычисляется через среднеквадратичную ошибку между исходным и сжатым кадрами и измеряется в децибелах: чем выше значение, тем меньше </a:t>
            </a:r>
            <a:r>
              <a:rPr lang="ru-RU" sz="1800" dirty="0" err="1"/>
              <a:t>попиксельные</a:t>
            </a:r>
            <a:r>
              <a:rPr lang="ru-RU" sz="1800" dirty="0"/>
              <a:t> отличия (порядка 40 децибел и выше искажения практически незаметны). Но PSNR не всегда совпадает с человеческим восприятием, поэтому используется и SSIM — индекс структурного сходства. Он сравнивает яркость, контраст и структуру по локальным окнам и принимает значения от нуля до единицы, где единица означает полное совпадение. SSIM лучше отражает воспринимаемое качество — особенно сохранение деталей: текста, схем, интерфейсов. Поэтому в таблицах приводятся обе метрики: они дополняют друг друга.</a:t>
            </a:r>
          </a:p>
          <a:p>
            <a:endParaRPr lang="ru-RU" sz="1800" dirty="0"/>
          </a:p>
        </p:txBody>
      </p:sp>
      <p:sp>
        <p:nvSpPr>
          <p:cNvPr id="4" name="Slide Number Placeholder 3"/>
          <p:cNvSpPr>
            <a:spLocks noGrp="1"/>
          </p:cNvSpPr>
          <p:nvPr>
            <p:ph type="sldNum" sz="quarter" idx="5"/>
          </p:nvPr>
        </p:nvSpPr>
        <p:spPr/>
        <p:txBody>
          <a:bodyPr/>
          <a:lstStyle/>
          <a:p>
            <a:fld id="{E821836F-937A-4711-805F-7618927E711E}" type="slidenum">
              <a:rPr lang="en-US" smtClean="0"/>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endParaRPr lang="ru-RU" dirty="0"/>
          </a:p>
          <a:p>
            <a:r>
              <a:rPr lang="ru-RU" dirty="0"/>
              <a:t>На данном слайде представлена демонстрация работы разработанной платформы.</a:t>
            </a:r>
          </a:p>
        </p:txBody>
      </p:sp>
      <p:sp>
        <p:nvSpPr>
          <p:cNvPr id="4" name="Slide Number Placeholder 3"/>
          <p:cNvSpPr>
            <a:spLocks noGrp="1"/>
          </p:cNvSpPr>
          <p:nvPr>
            <p:ph type="sldNum" sz="quarter" idx="5"/>
          </p:nvPr>
        </p:nvSpPr>
        <p:spPr/>
        <p:txBody>
          <a:bodyPr/>
          <a:lstStyle/>
          <a:p>
            <a:fld id="{E821836F-937A-4711-805F-7618927E711E}" type="slidenum">
              <a:rPr lang="en-US" smtClean="0"/>
              <a:t>15</a:t>
            </a:fld>
            <a:endParaRPr lang="en-US"/>
          </a:p>
        </p:txBody>
      </p:sp>
    </p:spTree>
    <p:extLst>
      <p:ext uri="{BB962C8B-B14F-4D97-AF65-F5344CB8AC3E}">
        <p14:creationId xmlns:p14="http://schemas.microsoft.com/office/powerpoint/2010/main" val="26505450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Таким образом, было разработано веб-приложение, </a:t>
            </a:r>
            <a:r>
              <a:rPr lang="ru-RU" sz="1200" dirty="0">
                <a:solidFill>
                  <a:schemeClr val="tx1">
                    <a:alpha val="70000"/>
                  </a:schemeClr>
                </a:solidFill>
              </a:rPr>
              <a:t>реализующее безопасную цифровую образовательную платформу для онлайн-курсов с гибким функционалом.</a:t>
            </a:r>
            <a:endParaRPr lang="ru-RU" dirty="0"/>
          </a:p>
          <a:p>
            <a:endParaRPr lang="ru-RU" dirty="0"/>
          </a:p>
          <a:p>
            <a:r>
              <a:rPr lang="ru-RU" dirty="0"/>
              <a:t>В ходе разработки были решены следующие задачи:</a:t>
            </a:r>
          </a:p>
          <a:p>
            <a:pPr algn="just"/>
            <a:r>
              <a:rPr lang="ru-RU" sz="1200" dirty="0">
                <a:solidFill>
                  <a:schemeClr val="tx1">
                    <a:alpha val="70000"/>
                  </a:schemeClr>
                </a:solidFill>
              </a:rPr>
              <a:t>1.         Проведён анализ современных </a:t>
            </a:r>
            <a:r>
              <a:rPr lang="ru-RU" dirty="0"/>
              <a:t>образовательных платформ и их требований</a:t>
            </a:r>
            <a:r>
              <a:rPr lang="ru-RU" sz="1200" dirty="0">
                <a:solidFill>
                  <a:schemeClr val="tx1">
                    <a:alpha val="70000"/>
                  </a:schemeClr>
                </a:solidFill>
              </a:rPr>
              <a:t>;</a:t>
            </a:r>
          </a:p>
          <a:p>
            <a:pPr marL="457200" indent="-457200" algn="just">
              <a:buAutoNum type="arabicPeriod" startAt="2"/>
            </a:pPr>
            <a:r>
              <a:rPr lang="ru-RU" dirty="0"/>
              <a:t>Исследованы подходы к аутентификации, авторизации и управлению доступом</a:t>
            </a:r>
            <a:r>
              <a:rPr lang="ru-RU" sz="1200" dirty="0">
                <a:solidFill>
                  <a:schemeClr val="tx1">
                    <a:alpha val="70000"/>
                  </a:schemeClr>
                </a:solidFill>
              </a:rPr>
              <a:t>;</a:t>
            </a:r>
          </a:p>
          <a:p>
            <a:pPr marL="457200" indent="-457200" algn="just">
              <a:buFontTx/>
              <a:buAutoNum type="arabicPeriod" startAt="2"/>
            </a:pPr>
            <a:r>
              <a:rPr lang="ru-RU" sz="1200" dirty="0">
                <a:solidFill>
                  <a:schemeClr val="tx1">
                    <a:alpha val="70000"/>
                  </a:schemeClr>
                </a:solidFill>
              </a:rPr>
              <a:t>Реализована собственная система авторизации и разграничения прав доступа.</a:t>
            </a:r>
          </a:p>
          <a:p>
            <a:pPr marL="457200" indent="-457200" algn="just">
              <a:buAutoNum type="arabicPeriod" startAt="4"/>
            </a:pPr>
            <a:r>
              <a:rPr lang="ru-RU" sz="1200" dirty="0">
                <a:solidFill>
                  <a:schemeClr val="tx1">
                    <a:alpha val="70000"/>
                  </a:schemeClr>
                </a:solidFill>
              </a:rPr>
              <a:t>Спроектирован и разработан основной функционал цифровой платформы;</a:t>
            </a:r>
          </a:p>
          <a:p>
            <a:pPr marL="457200" indent="-457200" algn="just">
              <a:buFontTx/>
              <a:buAutoNum type="arabicPeriod" startAt="4"/>
            </a:pPr>
            <a:r>
              <a:rPr lang="ru-RU" sz="1200" dirty="0">
                <a:solidFill>
                  <a:schemeClr val="tx1">
                    <a:alpha val="70000"/>
                  </a:schemeClr>
                </a:solidFill>
              </a:rPr>
              <a:t>Реализована интеграция библиотек и модулей для реализации обработки видео;</a:t>
            </a:r>
          </a:p>
          <a:p>
            <a:pPr marL="457200" indent="-457200" algn="just">
              <a:buFontTx/>
              <a:buAutoNum type="arabicPeriod" startAt="4"/>
            </a:pPr>
            <a:r>
              <a:rPr lang="ru-RU" sz="1200" dirty="0">
                <a:solidFill>
                  <a:schemeClr val="tx1">
                    <a:alpha val="70000"/>
                  </a:schemeClr>
                </a:solidFill>
              </a:rPr>
              <a:t>Спроектирован и реализован пользовательский интерфейс</a:t>
            </a:r>
          </a:p>
          <a:p>
            <a:endParaRPr lang="en-US" dirty="0"/>
          </a:p>
        </p:txBody>
      </p:sp>
      <p:sp>
        <p:nvSpPr>
          <p:cNvPr id="4" name="Slide Number Placeholder 3"/>
          <p:cNvSpPr>
            <a:spLocks noGrp="1"/>
          </p:cNvSpPr>
          <p:nvPr>
            <p:ph type="sldNum" sz="quarter" idx="5"/>
          </p:nvPr>
        </p:nvSpPr>
        <p:spPr/>
        <p:txBody>
          <a:bodyPr/>
          <a:lstStyle/>
          <a:p>
            <a:fld id="{E821836F-937A-4711-805F-7618927E711E}" type="slidenum">
              <a:rPr lang="en-US" smtClean="0"/>
              <a:t>16</a:t>
            </a:fld>
            <a:endParaRPr lang="en-US"/>
          </a:p>
        </p:txBody>
      </p:sp>
    </p:spTree>
    <p:extLst>
      <p:ext uri="{BB962C8B-B14F-4D97-AF65-F5344CB8AC3E}">
        <p14:creationId xmlns:p14="http://schemas.microsoft.com/office/powerpoint/2010/main" val="1174043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7C31999D-E1F4-413D-B33E-2AE961C7E377}" type="datetimeFigureOut">
              <a:rPr lang="ru-RU" smtClean="0"/>
              <a:t>07.06.2026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75AC258-CBF9-4C57-9D96-3F9CC9C7A743}" type="slidenum">
              <a:rPr lang="ru-RU" smtClean="0"/>
              <a:t>‹#›</a:t>
            </a:fld>
            <a:endParaRPr lang="ru-RU"/>
          </a:p>
        </p:txBody>
      </p:sp>
    </p:spTree>
    <p:extLst>
      <p:ext uri="{BB962C8B-B14F-4D97-AF65-F5344CB8AC3E}">
        <p14:creationId xmlns:p14="http://schemas.microsoft.com/office/powerpoint/2010/main" val="3889104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7C31999D-E1F4-413D-B33E-2AE961C7E377}" type="datetimeFigureOut">
              <a:rPr lang="ru-RU" smtClean="0"/>
              <a:t>07.06.2026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75AC258-CBF9-4C57-9D96-3F9CC9C7A743}" type="slidenum">
              <a:rPr lang="ru-RU" smtClean="0"/>
              <a:t>‹#›</a:t>
            </a:fld>
            <a:endParaRPr lang="ru-RU"/>
          </a:p>
        </p:txBody>
      </p:sp>
    </p:spTree>
    <p:extLst>
      <p:ext uri="{BB962C8B-B14F-4D97-AF65-F5344CB8AC3E}">
        <p14:creationId xmlns:p14="http://schemas.microsoft.com/office/powerpoint/2010/main" val="377880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7C31999D-E1F4-413D-B33E-2AE961C7E377}" type="datetimeFigureOut">
              <a:rPr lang="ru-RU" smtClean="0"/>
              <a:t>07.06.2026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75AC258-CBF9-4C57-9D96-3F9CC9C7A743}" type="slidenum">
              <a:rPr lang="ru-RU" smtClean="0"/>
              <a:t>‹#›</a:t>
            </a:fld>
            <a:endParaRPr lang="ru-RU"/>
          </a:p>
        </p:txBody>
      </p:sp>
    </p:spTree>
    <p:extLst>
      <p:ext uri="{BB962C8B-B14F-4D97-AF65-F5344CB8AC3E}">
        <p14:creationId xmlns:p14="http://schemas.microsoft.com/office/powerpoint/2010/main" val="63815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7C31999D-E1F4-413D-B33E-2AE961C7E377}" type="datetimeFigureOut">
              <a:rPr lang="ru-RU" smtClean="0"/>
              <a:t>07.06.2026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75AC258-CBF9-4C57-9D96-3F9CC9C7A743}" type="slidenum">
              <a:rPr lang="ru-RU" smtClean="0"/>
              <a:t>‹#›</a:t>
            </a:fld>
            <a:endParaRPr lang="ru-RU"/>
          </a:p>
        </p:txBody>
      </p:sp>
    </p:spTree>
    <p:extLst>
      <p:ext uri="{BB962C8B-B14F-4D97-AF65-F5344CB8AC3E}">
        <p14:creationId xmlns:p14="http://schemas.microsoft.com/office/powerpoint/2010/main" val="2231302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7C31999D-E1F4-413D-B33E-2AE961C7E377}" type="datetimeFigureOut">
              <a:rPr lang="ru-RU" smtClean="0"/>
              <a:t>07.06.2026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C75AC258-CBF9-4C57-9D96-3F9CC9C7A743}" type="slidenum">
              <a:rPr lang="ru-RU" smtClean="0"/>
              <a:t>‹#›</a:t>
            </a:fld>
            <a:endParaRPr lang="ru-RU"/>
          </a:p>
        </p:txBody>
      </p:sp>
    </p:spTree>
    <p:extLst>
      <p:ext uri="{BB962C8B-B14F-4D97-AF65-F5344CB8AC3E}">
        <p14:creationId xmlns:p14="http://schemas.microsoft.com/office/powerpoint/2010/main" val="3389425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7C31999D-E1F4-413D-B33E-2AE961C7E377}" type="datetimeFigureOut">
              <a:rPr lang="ru-RU" smtClean="0"/>
              <a:t>07.06.2026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C75AC258-CBF9-4C57-9D96-3F9CC9C7A743}" type="slidenum">
              <a:rPr lang="ru-RU" smtClean="0"/>
              <a:t>‹#›</a:t>
            </a:fld>
            <a:endParaRPr lang="ru-RU"/>
          </a:p>
        </p:txBody>
      </p:sp>
    </p:spTree>
    <p:extLst>
      <p:ext uri="{BB962C8B-B14F-4D97-AF65-F5344CB8AC3E}">
        <p14:creationId xmlns:p14="http://schemas.microsoft.com/office/powerpoint/2010/main" val="508712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7C31999D-E1F4-413D-B33E-2AE961C7E377}" type="datetimeFigureOut">
              <a:rPr lang="ru-RU" smtClean="0"/>
              <a:t>07.06.2026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C75AC258-CBF9-4C57-9D96-3F9CC9C7A743}" type="slidenum">
              <a:rPr lang="ru-RU" smtClean="0"/>
              <a:t>‹#›</a:t>
            </a:fld>
            <a:endParaRPr lang="ru-RU"/>
          </a:p>
        </p:txBody>
      </p:sp>
    </p:spTree>
    <p:extLst>
      <p:ext uri="{BB962C8B-B14F-4D97-AF65-F5344CB8AC3E}">
        <p14:creationId xmlns:p14="http://schemas.microsoft.com/office/powerpoint/2010/main" val="4265621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7C31999D-E1F4-413D-B33E-2AE961C7E377}" type="datetimeFigureOut">
              <a:rPr lang="ru-RU" smtClean="0"/>
              <a:t>07.06.2026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75AC258-CBF9-4C57-9D96-3F9CC9C7A743}" type="slidenum">
              <a:rPr lang="ru-RU" smtClean="0"/>
              <a:t>‹#›</a:t>
            </a:fld>
            <a:endParaRPr lang="ru-RU"/>
          </a:p>
        </p:txBody>
      </p:sp>
    </p:spTree>
    <p:extLst>
      <p:ext uri="{BB962C8B-B14F-4D97-AF65-F5344CB8AC3E}">
        <p14:creationId xmlns:p14="http://schemas.microsoft.com/office/powerpoint/2010/main" val="514495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7C31999D-E1F4-413D-B33E-2AE961C7E377}" type="datetimeFigureOut">
              <a:rPr lang="ru-RU" smtClean="0"/>
              <a:t>07.06.2026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75AC258-CBF9-4C57-9D96-3F9CC9C7A743}" type="slidenum">
              <a:rPr lang="ru-RU" smtClean="0"/>
              <a:t>‹#›</a:t>
            </a:fld>
            <a:endParaRPr lang="ru-RU"/>
          </a:p>
        </p:txBody>
      </p:sp>
    </p:spTree>
    <p:extLst>
      <p:ext uri="{BB962C8B-B14F-4D97-AF65-F5344CB8AC3E}">
        <p14:creationId xmlns:p14="http://schemas.microsoft.com/office/powerpoint/2010/main" val="1627366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7C31999D-E1F4-413D-B33E-2AE961C7E377}" type="datetimeFigureOut">
              <a:rPr lang="ru-RU" smtClean="0"/>
              <a:t>07.06.2026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75AC258-CBF9-4C57-9D96-3F9CC9C7A743}" type="slidenum">
              <a:rPr lang="ru-RU" smtClean="0"/>
              <a:t>‹#›</a:t>
            </a:fld>
            <a:endParaRPr lang="ru-RU"/>
          </a:p>
        </p:txBody>
      </p:sp>
    </p:spTree>
    <p:extLst>
      <p:ext uri="{BB962C8B-B14F-4D97-AF65-F5344CB8AC3E}">
        <p14:creationId xmlns:p14="http://schemas.microsoft.com/office/powerpoint/2010/main" val="3559391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7C31999D-E1F4-413D-B33E-2AE961C7E377}" type="datetimeFigureOut">
              <a:rPr lang="ru-RU" smtClean="0"/>
              <a:t>07.06.2026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75AC258-CBF9-4C57-9D96-3F9CC9C7A743}" type="slidenum">
              <a:rPr lang="ru-RU" smtClean="0"/>
              <a:t>‹#›</a:t>
            </a:fld>
            <a:endParaRPr lang="ru-RU"/>
          </a:p>
        </p:txBody>
      </p:sp>
    </p:spTree>
    <p:extLst>
      <p:ext uri="{BB962C8B-B14F-4D97-AF65-F5344CB8AC3E}">
        <p14:creationId xmlns:p14="http://schemas.microsoft.com/office/powerpoint/2010/main" val="1528545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31999D-E1F4-413D-B33E-2AE961C7E377}" type="datetimeFigureOut">
              <a:rPr lang="ru-RU" smtClean="0"/>
              <a:t>07.06.2026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5AC258-CBF9-4C57-9D96-3F9CC9C7A743}" type="slidenum">
              <a:rPr lang="ru-RU" smtClean="0"/>
              <a:t>‹#›</a:t>
            </a:fld>
            <a:endParaRPr lang="ru-RU"/>
          </a:p>
        </p:txBody>
      </p:sp>
    </p:spTree>
    <p:extLst>
      <p:ext uri="{BB962C8B-B14F-4D97-AF65-F5344CB8AC3E}">
        <p14:creationId xmlns:p14="http://schemas.microsoft.com/office/powerpoint/2010/main" val="36532559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8F2FE"/>
        </a:solid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108037" y="1513114"/>
            <a:ext cx="9975925" cy="2703575"/>
          </a:xfrm>
        </p:spPr>
        <p:txBody>
          <a:bodyPr>
            <a:noAutofit/>
          </a:bodyPr>
          <a:lstStyle/>
          <a:p>
            <a:r>
              <a:rPr lang="ru-RU" b="1" i="1" dirty="0"/>
              <a:t>Разработка образовательной платформы с курсами</a:t>
            </a:r>
            <a:endParaRPr lang="ru-RU" sz="4800" b="1" dirty="0"/>
          </a:p>
        </p:txBody>
      </p:sp>
      <p:sp>
        <p:nvSpPr>
          <p:cNvPr id="3" name="Подзаголовок 2"/>
          <p:cNvSpPr>
            <a:spLocks noGrp="1"/>
          </p:cNvSpPr>
          <p:nvPr>
            <p:ph type="subTitle" idx="1"/>
          </p:nvPr>
        </p:nvSpPr>
        <p:spPr>
          <a:xfrm>
            <a:off x="6658983" y="5202238"/>
            <a:ext cx="5081196" cy="1019548"/>
          </a:xfrm>
        </p:spPr>
        <p:txBody>
          <a:bodyPr/>
          <a:lstStyle/>
          <a:p>
            <a:pPr algn="r"/>
            <a:r>
              <a:rPr lang="ru-RU" dirty="0"/>
              <a:t>Студент: Онюшев А.А.</a:t>
            </a:r>
            <a:r>
              <a:rPr lang="en-US" dirty="0"/>
              <a:t> </a:t>
            </a:r>
            <a:r>
              <a:rPr lang="ru-RU" dirty="0"/>
              <a:t>РК6-</a:t>
            </a:r>
            <a:r>
              <a:rPr lang="en-US" dirty="0"/>
              <a:t>41</a:t>
            </a:r>
            <a:r>
              <a:rPr lang="ru-RU" dirty="0"/>
              <a:t>М</a:t>
            </a:r>
          </a:p>
          <a:p>
            <a:pPr algn="r"/>
            <a:r>
              <a:rPr lang="ru-RU" dirty="0"/>
              <a:t>Научный руководитель: </a:t>
            </a:r>
            <a:r>
              <a:rPr lang="ru-RU" dirty="0" err="1"/>
              <a:t>Витюков</a:t>
            </a:r>
            <a:r>
              <a:rPr lang="ru-RU" dirty="0"/>
              <a:t> Ф.А.</a:t>
            </a:r>
          </a:p>
        </p:txBody>
      </p:sp>
      <p:pic>
        <p:nvPicPr>
          <p:cNvPr id="6" name="Рисунок 9">
            <a:extLst>
              <a:ext uri="{FF2B5EF4-FFF2-40B4-BE49-F238E27FC236}">
                <a16:creationId xmlns:a16="http://schemas.microsoft.com/office/drawing/2014/main" id="{0F67D4B0-A75F-4B2E-8DCE-6B75BCD2923D}"/>
              </a:ext>
            </a:extLst>
          </p:cNvPr>
          <p:cNvPicPr>
            <a:picLocks noChangeAspect="1"/>
          </p:cNvPicPr>
          <p:nvPr/>
        </p:nvPicPr>
        <p:blipFill>
          <a:blip r:embed="rId3"/>
          <a:stretch>
            <a:fillRect/>
          </a:stretch>
        </p:blipFill>
        <p:spPr>
          <a:xfrm>
            <a:off x="419860" y="4597689"/>
            <a:ext cx="1376353" cy="1624097"/>
          </a:xfrm>
          <a:prstGeom prst="rect">
            <a:avLst/>
          </a:prstGeom>
        </p:spPr>
      </p:pic>
    </p:spTree>
    <p:extLst>
      <p:ext uri="{BB962C8B-B14F-4D97-AF65-F5344CB8AC3E}">
        <p14:creationId xmlns:p14="http://schemas.microsoft.com/office/powerpoint/2010/main" val="1126344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F2FE"/>
        </a:solidFill>
        <a:effectLst/>
      </p:bgPr>
    </p:bg>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0105" y="83500"/>
            <a:ext cx="3394934" cy="688489"/>
          </a:xfrm>
          <a:solidFill>
            <a:srgbClr val="F99F89"/>
          </a:solidFill>
          <a:effectLst>
            <a:outerShdw blurRad="50800" dist="38100" dir="2700000" algn="tl" rotWithShape="0">
              <a:prstClr val="black">
                <a:alpha val="40000"/>
              </a:prstClr>
            </a:outerShdw>
            <a:softEdge rad="38100"/>
          </a:effectLst>
        </p:spPr>
        <p:txBody>
          <a:bodyPr lIns="274320">
            <a:normAutofit/>
          </a:bodyPr>
          <a:lstStyle/>
          <a:p>
            <a:pPr algn="l"/>
            <a:r>
              <a:rPr lang="ru-RU" sz="4000" b="1" dirty="0">
                <a:solidFill>
                  <a:schemeClr val="tx1">
                    <a:alpha val="80000"/>
                  </a:schemeClr>
                </a:solidFill>
              </a:rPr>
              <a:t>Определения</a:t>
            </a:r>
          </a:p>
        </p:txBody>
      </p:sp>
      <p:sp>
        <p:nvSpPr>
          <p:cNvPr id="4" name="TextBox 3"/>
          <p:cNvSpPr txBox="1"/>
          <p:nvPr/>
        </p:nvSpPr>
        <p:spPr>
          <a:xfrm>
            <a:off x="435039" y="771989"/>
            <a:ext cx="11321922" cy="5909310"/>
          </a:xfrm>
          <a:prstGeom prst="rect">
            <a:avLst/>
          </a:prstGeom>
          <a:noFill/>
        </p:spPr>
        <p:txBody>
          <a:bodyPr wrap="square" rtlCol="0">
            <a:spAutoFit/>
          </a:bodyPr>
          <a:lstStyle/>
          <a:p>
            <a:r>
              <a:rPr lang="en-US" b="1" dirty="0"/>
              <a:t>ReBAC (Relationship‑Based Access Control) </a:t>
            </a:r>
            <a:r>
              <a:rPr lang="ru-RU" dirty="0"/>
              <a:t>–</a:t>
            </a:r>
            <a:r>
              <a:rPr lang="en-US" dirty="0"/>
              <a:t> </a:t>
            </a:r>
            <a:r>
              <a:rPr lang="ru-RU" dirty="0"/>
              <a:t>способ для гибкого управления правами доступа.</a:t>
            </a:r>
          </a:p>
          <a:p>
            <a:r>
              <a:rPr lang="en-US" b="1" dirty="0"/>
              <a:t>JWT (JSON Web Token)</a:t>
            </a:r>
            <a:r>
              <a:rPr lang="en-US" dirty="0"/>
              <a:t> — </a:t>
            </a:r>
            <a:r>
              <a:rPr lang="en-US" dirty="0" err="1"/>
              <a:t>компактный</a:t>
            </a:r>
            <a:r>
              <a:rPr lang="en-US" dirty="0"/>
              <a:t> </a:t>
            </a:r>
            <a:r>
              <a:rPr lang="en-US" dirty="0" err="1"/>
              <a:t>формат</a:t>
            </a:r>
            <a:r>
              <a:rPr lang="en-US" dirty="0"/>
              <a:t> </a:t>
            </a:r>
            <a:r>
              <a:rPr lang="en-US" dirty="0" err="1"/>
              <a:t>токена</a:t>
            </a:r>
            <a:r>
              <a:rPr lang="en-US" dirty="0"/>
              <a:t>, </a:t>
            </a:r>
            <a:r>
              <a:rPr lang="en-US" dirty="0" err="1"/>
              <a:t>используемый</a:t>
            </a:r>
            <a:r>
              <a:rPr lang="en-US" dirty="0"/>
              <a:t> </a:t>
            </a:r>
            <a:r>
              <a:rPr lang="en-US" dirty="0" err="1"/>
              <a:t>для</a:t>
            </a:r>
            <a:r>
              <a:rPr lang="en-US" dirty="0"/>
              <a:t> </a:t>
            </a:r>
            <a:r>
              <a:rPr lang="en-US" dirty="0" err="1"/>
              <a:t>безопасной</a:t>
            </a:r>
            <a:r>
              <a:rPr lang="en-US" dirty="0"/>
              <a:t> </a:t>
            </a:r>
            <a:r>
              <a:rPr lang="en-US" dirty="0" err="1"/>
              <a:t>передачи</a:t>
            </a:r>
            <a:r>
              <a:rPr lang="en-US" dirty="0"/>
              <a:t> </a:t>
            </a:r>
            <a:r>
              <a:rPr lang="en-US" dirty="0" err="1"/>
              <a:t>данных</a:t>
            </a:r>
            <a:r>
              <a:rPr lang="en-US" dirty="0"/>
              <a:t> о </a:t>
            </a:r>
            <a:r>
              <a:rPr lang="en-US" dirty="0" err="1"/>
              <a:t>пользователе</a:t>
            </a:r>
            <a:r>
              <a:rPr lang="en-US" dirty="0"/>
              <a:t> и </a:t>
            </a:r>
            <a:r>
              <a:rPr lang="en-US" dirty="0" err="1"/>
              <a:t>его</a:t>
            </a:r>
            <a:r>
              <a:rPr lang="en-US" dirty="0"/>
              <a:t> </a:t>
            </a:r>
            <a:r>
              <a:rPr lang="en-US" dirty="0" err="1"/>
              <a:t>правах</a:t>
            </a:r>
            <a:r>
              <a:rPr lang="en-US" dirty="0"/>
              <a:t>.</a:t>
            </a:r>
            <a:endParaRPr lang="ru-RU" dirty="0"/>
          </a:p>
          <a:p>
            <a:r>
              <a:rPr lang="en-US" b="1" dirty="0"/>
              <a:t>API</a:t>
            </a:r>
            <a:r>
              <a:rPr lang="ru-RU" b="1" dirty="0"/>
              <a:t> (</a:t>
            </a:r>
            <a:r>
              <a:rPr lang="en-US" b="1" dirty="0"/>
              <a:t>Application Programming Interface</a:t>
            </a:r>
            <a:r>
              <a:rPr lang="ru-RU" b="1" dirty="0"/>
              <a:t>)</a:t>
            </a:r>
            <a:r>
              <a:rPr lang="ru-RU" dirty="0"/>
              <a:t> – программный интерфейс взаимодействия между различными компонентами системы.</a:t>
            </a:r>
          </a:p>
          <a:p>
            <a:r>
              <a:rPr lang="en-US" b="1" dirty="0"/>
              <a:t>PostgreSQL</a:t>
            </a:r>
            <a:r>
              <a:rPr lang="en-US" dirty="0"/>
              <a:t> </a:t>
            </a:r>
            <a:r>
              <a:rPr lang="ru-RU" dirty="0"/>
              <a:t>– реляционная система управления базами данных, используемая для хранения структурированной информации платформы.</a:t>
            </a:r>
          </a:p>
          <a:p>
            <a:r>
              <a:rPr lang="en-US" b="1" dirty="0"/>
              <a:t>Redis</a:t>
            </a:r>
            <a:r>
              <a:rPr lang="en-US" dirty="0"/>
              <a:t> </a:t>
            </a:r>
            <a:r>
              <a:rPr lang="ru-RU" dirty="0"/>
              <a:t>– </a:t>
            </a:r>
            <a:r>
              <a:rPr lang="en-US" dirty="0"/>
              <a:t>in</a:t>
            </a:r>
            <a:r>
              <a:rPr lang="ru-RU" dirty="0"/>
              <a:t>-</a:t>
            </a:r>
            <a:r>
              <a:rPr lang="en-US" dirty="0"/>
              <a:t>memory</a:t>
            </a:r>
            <a:r>
              <a:rPr lang="ru-RU" dirty="0"/>
              <a:t> хранилище данных, применяемое для кэширования, временного хранения информации и ускорения работы системы.</a:t>
            </a:r>
          </a:p>
          <a:p>
            <a:r>
              <a:rPr lang="en-US" b="1" dirty="0"/>
              <a:t>Kafka</a:t>
            </a:r>
            <a:r>
              <a:rPr lang="en-US" dirty="0"/>
              <a:t> </a:t>
            </a:r>
            <a:r>
              <a:rPr lang="ru-RU" dirty="0"/>
              <a:t>– распределенный брокер сообщений, используемый для организации событийного взаимодействия между компонентами системы.</a:t>
            </a:r>
          </a:p>
          <a:p>
            <a:r>
              <a:rPr lang="en-US" b="1" dirty="0" err="1"/>
              <a:t>Centrifugo</a:t>
            </a:r>
            <a:r>
              <a:rPr lang="en-US" dirty="0"/>
              <a:t> </a:t>
            </a:r>
            <a:r>
              <a:rPr lang="ru-RU" dirty="0"/>
              <a:t>– платформа для обмена сообщениями и доставки событий в режиме реального времени.</a:t>
            </a:r>
          </a:p>
          <a:p>
            <a:r>
              <a:rPr lang="ru-RU" b="1" dirty="0"/>
              <a:t>Объектное хранилище</a:t>
            </a:r>
            <a:r>
              <a:rPr lang="ru-RU" dirty="0"/>
              <a:t> – способ хранения файлов и связанных с ними метаданных в виде объектов.</a:t>
            </a:r>
          </a:p>
          <a:p>
            <a:r>
              <a:rPr lang="en-US" b="1" dirty="0"/>
              <a:t>S</a:t>
            </a:r>
            <a:r>
              <a:rPr lang="ru-RU" b="1" dirty="0"/>
              <a:t>3-совместимое хранилище</a:t>
            </a:r>
            <a:r>
              <a:rPr lang="ru-RU" dirty="0"/>
              <a:t> – объектное хранилище, поддерживающее интерфейсы взаимодействия, совместимые с </a:t>
            </a:r>
            <a:r>
              <a:rPr lang="en-US" dirty="0"/>
              <a:t>Amazon S</a:t>
            </a:r>
            <a:r>
              <a:rPr lang="ru-RU" dirty="0"/>
              <a:t>3.</a:t>
            </a:r>
            <a:endParaRPr lang="en-US" dirty="0"/>
          </a:p>
          <a:p>
            <a:r>
              <a:rPr lang="en-US" b="1" dirty="0"/>
              <a:t>OAuth</a:t>
            </a:r>
            <a:r>
              <a:rPr lang="ru-RU" b="1" dirty="0"/>
              <a:t> 2.0</a:t>
            </a:r>
            <a:r>
              <a:rPr lang="ru-RU" dirty="0"/>
              <a:t> – протокол авторизации, обеспечивающий делегированный доступ к защищенным ресурсам.</a:t>
            </a:r>
            <a:endParaRPr lang="en-US" dirty="0"/>
          </a:p>
          <a:p>
            <a:r>
              <a:rPr lang="en-US" b="1" dirty="0"/>
              <a:t>PKCE</a:t>
            </a:r>
            <a:r>
              <a:rPr lang="ru-RU" b="1" dirty="0"/>
              <a:t> (</a:t>
            </a:r>
            <a:r>
              <a:rPr lang="en-US" b="1" dirty="0"/>
              <a:t>Proof Key for Code Exchange</a:t>
            </a:r>
            <a:r>
              <a:rPr lang="ru-RU" b="1" dirty="0"/>
              <a:t>) - </a:t>
            </a:r>
            <a:r>
              <a:rPr lang="ru-RU" dirty="0"/>
              <a:t>расширение протокола </a:t>
            </a:r>
            <a:r>
              <a:rPr lang="en-US" dirty="0"/>
              <a:t>OAuth </a:t>
            </a:r>
            <a:r>
              <a:rPr lang="ru-RU" dirty="0"/>
              <a:t>2.0, которое повышает безопасность процесса авторизации и защищает от утечки </a:t>
            </a:r>
            <a:r>
              <a:rPr lang="en-US" dirty="0"/>
              <a:t>authorization code</a:t>
            </a:r>
            <a:r>
              <a:rPr lang="ru-RU" dirty="0"/>
              <a:t>. </a:t>
            </a:r>
          </a:p>
          <a:p>
            <a:r>
              <a:rPr lang="en-US" b="1" dirty="0"/>
              <a:t>OIDC (OpenID Connect)</a:t>
            </a:r>
            <a:r>
              <a:rPr lang="ru-RU" dirty="0"/>
              <a:t> – протокол аутентификации, построенный поверх </a:t>
            </a:r>
            <a:r>
              <a:rPr lang="en-US" dirty="0"/>
              <a:t>OAuth</a:t>
            </a:r>
            <a:r>
              <a:rPr lang="ru-RU" dirty="0"/>
              <a:t> 2.0 и позволяющий подтверждать личность пользователя.</a:t>
            </a:r>
            <a:endParaRPr lang="en-US" dirty="0"/>
          </a:p>
          <a:p>
            <a:endParaRPr lang="ru-RU" dirty="0"/>
          </a:p>
        </p:txBody>
      </p:sp>
      <p:sp>
        <p:nvSpPr>
          <p:cNvPr id="13" name="Подзаголовок 2"/>
          <p:cNvSpPr txBox="1">
            <a:spLocks/>
          </p:cNvSpPr>
          <p:nvPr/>
        </p:nvSpPr>
        <p:spPr>
          <a:xfrm>
            <a:off x="11274013" y="6164132"/>
            <a:ext cx="1014803" cy="516366"/>
          </a:xfrm>
          <a:prstGeom prst="rect">
            <a:avLst/>
          </a:prstGeom>
          <a:solidFill>
            <a:srgbClr val="A0DBED"/>
          </a:solidFill>
          <a:effectLst>
            <a:outerShdw blurRad="50800" dist="38100" dir="8100000" algn="tr" rotWithShape="0">
              <a:prstClr val="black">
                <a:alpha val="40000"/>
              </a:prstClr>
            </a:outerShdw>
            <a:softEdge rad="38100"/>
          </a:effectLst>
        </p:spPr>
        <p:txBody>
          <a:bodyPr vert="horz" lIns="27432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ru-RU" sz="1600" dirty="0">
                <a:solidFill>
                  <a:schemeClr val="tx1">
                    <a:alpha val="80000"/>
                  </a:schemeClr>
                </a:solidFill>
              </a:rPr>
              <a:t>2/16</a:t>
            </a:r>
          </a:p>
        </p:txBody>
      </p:sp>
    </p:spTree>
    <p:extLst>
      <p:ext uri="{BB962C8B-B14F-4D97-AF65-F5344CB8AC3E}">
        <p14:creationId xmlns:p14="http://schemas.microsoft.com/office/powerpoint/2010/main" val="4045857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F2FE"/>
        </a:solidFill>
        <a:effectLst/>
      </p:bgPr>
    </p:bg>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18333" y="301214"/>
            <a:ext cx="4755648" cy="688489"/>
          </a:xfrm>
          <a:solidFill>
            <a:srgbClr val="F99F89"/>
          </a:solidFill>
          <a:effectLst>
            <a:outerShdw blurRad="50800" dist="38100" dir="2700000" algn="tl" rotWithShape="0">
              <a:prstClr val="black">
                <a:alpha val="40000"/>
              </a:prstClr>
            </a:outerShdw>
            <a:softEdge rad="38100"/>
          </a:effectLst>
        </p:spPr>
        <p:txBody>
          <a:bodyPr lIns="274320">
            <a:normAutofit fontScale="92500"/>
          </a:bodyPr>
          <a:lstStyle/>
          <a:p>
            <a:pPr algn="l"/>
            <a:r>
              <a:rPr lang="ru-RU" sz="4000" b="1" dirty="0">
                <a:solidFill>
                  <a:schemeClr val="tx1">
                    <a:alpha val="80000"/>
                  </a:schemeClr>
                </a:solidFill>
              </a:rPr>
              <a:t>Актуальность работы</a:t>
            </a:r>
          </a:p>
        </p:txBody>
      </p:sp>
      <p:sp>
        <p:nvSpPr>
          <p:cNvPr id="5" name="TextBox 4"/>
          <p:cNvSpPr txBox="1"/>
          <p:nvPr/>
        </p:nvSpPr>
        <p:spPr>
          <a:xfrm>
            <a:off x="6136329" y="1510046"/>
            <a:ext cx="5326328" cy="1292662"/>
          </a:xfrm>
          <a:prstGeom prst="rect">
            <a:avLst/>
          </a:prstGeom>
          <a:solidFill>
            <a:srgbClr val="BCD9FC"/>
          </a:solidFill>
          <a:effectLst>
            <a:outerShdw blurRad="50800" dist="38100" dir="2700000" algn="tl" rotWithShape="0">
              <a:prstClr val="black">
                <a:alpha val="40000"/>
              </a:prstClr>
            </a:outerShdw>
            <a:softEdge rad="31750"/>
          </a:effectLst>
        </p:spPr>
        <p:txBody>
          <a:bodyPr wrap="square" lIns="274320" tIns="91440" rIns="274320" bIns="91440" rtlCol="0">
            <a:spAutoFit/>
          </a:bodyPr>
          <a:lstStyle/>
          <a:p>
            <a:pPr algn="ctr"/>
            <a:r>
              <a:rPr lang="ru-RU" sz="2400" dirty="0"/>
              <a:t>Рост спроса на цифровые образовательные платформы и онлайн-курсы</a:t>
            </a:r>
            <a:endParaRPr lang="ru-RU" sz="500" dirty="0">
              <a:solidFill>
                <a:schemeClr val="tx1">
                  <a:alpha val="70000"/>
                </a:schemeClr>
              </a:solidFill>
            </a:endParaRPr>
          </a:p>
        </p:txBody>
      </p:sp>
      <p:sp>
        <p:nvSpPr>
          <p:cNvPr id="9" name="TextBox 8"/>
          <p:cNvSpPr txBox="1"/>
          <p:nvPr/>
        </p:nvSpPr>
        <p:spPr>
          <a:xfrm>
            <a:off x="7789333" y="2884095"/>
            <a:ext cx="3992081" cy="923330"/>
          </a:xfrm>
          <a:prstGeom prst="rect">
            <a:avLst/>
          </a:prstGeom>
          <a:solidFill>
            <a:srgbClr val="BCD9FC"/>
          </a:solidFill>
          <a:effectLst>
            <a:outerShdw blurRad="50800" dist="38100" dir="2700000" algn="tl" rotWithShape="0">
              <a:prstClr val="black">
                <a:alpha val="40000"/>
              </a:prstClr>
            </a:outerShdw>
            <a:softEdge rad="31750"/>
          </a:effectLst>
        </p:spPr>
        <p:txBody>
          <a:bodyPr wrap="square" lIns="274320" tIns="91440" rIns="274320" bIns="91440" rtlCol="0">
            <a:spAutoFit/>
          </a:bodyPr>
          <a:lstStyle/>
          <a:p>
            <a:pPr algn="ctr"/>
            <a:r>
              <a:rPr lang="ru-RU" sz="2400" dirty="0">
                <a:solidFill>
                  <a:schemeClr val="tx1">
                    <a:alpha val="70000"/>
                  </a:schemeClr>
                </a:solidFill>
              </a:rPr>
              <a:t>Потребность в гибком функционале</a:t>
            </a:r>
            <a:endParaRPr lang="ru-RU" sz="500" dirty="0">
              <a:solidFill>
                <a:schemeClr val="tx1">
                  <a:alpha val="70000"/>
                </a:schemeClr>
              </a:solidFill>
            </a:endParaRPr>
          </a:p>
        </p:txBody>
      </p:sp>
      <p:sp>
        <p:nvSpPr>
          <p:cNvPr id="10" name="TextBox 9"/>
          <p:cNvSpPr txBox="1"/>
          <p:nvPr/>
        </p:nvSpPr>
        <p:spPr>
          <a:xfrm>
            <a:off x="6096000" y="3976656"/>
            <a:ext cx="3992081" cy="923330"/>
          </a:xfrm>
          <a:prstGeom prst="rect">
            <a:avLst/>
          </a:prstGeom>
          <a:solidFill>
            <a:srgbClr val="BCD9FC"/>
          </a:solidFill>
          <a:effectLst>
            <a:outerShdw blurRad="50800" dist="38100" dir="2700000" algn="tl" rotWithShape="0">
              <a:prstClr val="black">
                <a:alpha val="40000"/>
              </a:prstClr>
            </a:outerShdw>
            <a:softEdge rad="31750"/>
          </a:effectLst>
        </p:spPr>
        <p:txBody>
          <a:bodyPr wrap="square" lIns="274320" tIns="91440" rIns="274320" bIns="91440" rtlCol="0">
            <a:spAutoFit/>
          </a:bodyPr>
          <a:lstStyle/>
          <a:p>
            <a:pPr algn="ctr"/>
            <a:r>
              <a:rPr lang="ru-RU" sz="2400" dirty="0">
                <a:solidFill>
                  <a:schemeClr val="tx1">
                    <a:alpha val="70000"/>
                  </a:schemeClr>
                </a:solidFill>
              </a:rPr>
              <a:t>Необходимость импортозамещения</a:t>
            </a:r>
          </a:p>
        </p:txBody>
      </p:sp>
      <p:sp>
        <p:nvSpPr>
          <p:cNvPr id="4" name="TextBox 3"/>
          <p:cNvSpPr txBox="1"/>
          <p:nvPr/>
        </p:nvSpPr>
        <p:spPr>
          <a:xfrm>
            <a:off x="6136329" y="865453"/>
            <a:ext cx="5645085" cy="523220"/>
          </a:xfrm>
          <a:prstGeom prst="rect">
            <a:avLst/>
          </a:prstGeom>
          <a:noFill/>
        </p:spPr>
        <p:txBody>
          <a:bodyPr wrap="square" rtlCol="0">
            <a:spAutoFit/>
          </a:bodyPr>
          <a:lstStyle/>
          <a:p>
            <a:r>
              <a:rPr lang="ru-RU" sz="2800" b="1" dirty="0"/>
              <a:t>Актуальность работы основана на:</a:t>
            </a:r>
          </a:p>
        </p:txBody>
      </p:sp>
      <p:sp>
        <p:nvSpPr>
          <p:cNvPr id="13" name="Подзаголовок 2"/>
          <p:cNvSpPr txBox="1">
            <a:spLocks/>
          </p:cNvSpPr>
          <p:nvPr/>
        </p:nvSpPr>
        <p:spPr>
          <a:xfrm>
            <a:off x="11274013" y="6164132"/>
            <a:ext cx="1014803" cy="516366"/>
          </a:xfrm>
          <a:prstGeom prst="rect">
            <a:avLst/>
          </a:prstGeom>
          <a:solidFill>
            <a:srgbClr val="A0DBED"/>
          </a:solidFill>
          <a:effectLst>
            <a:outerShdw blurRad="50800" dist="38100" dir="8100000" algn="tr" rotWithShape="0">
              <a:prstClr val="black">
                <a:alpha val="40000"/>
              </a:prstClr>
            </a:outerShdw>
            <a:softEdge rad="38100"/>
          </a:effectLst>
        </p:spPr>
        <p:txBody>
          <a:bodyPr vert="horz" lIns="27432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ru-RU" sz="1600" dirty="0">
                <a:solidFill>
                  <a:schemeClr val="tx1">
                    <a:alpha val="80000"/>
                  </a:schemeClr>
                </a:solidFill>
              </a:rPr>
              <a:t>3/16</a:t>
            </a:r>
          </a:p>
        </p:txBody>
      </p:sp>
      <p:sp>
        <p:nvSpPr>
          <p:cNvPr id="14" name="TextBox 13">
            <a:extLst>
              <a:ext uri="{FF2B5EF4-FFF2-40B4-BE49-F238E27FC236}">
                <a16:creationId xmlns:a16="http://schemas.microsoft.com/office/drawing/2014/main" id="{779E77DF-37EB-47DB-AF60-9F6BC9506D36}"/>
              </a:ext>
            </a:extLst>
          </p:cNvPr>
          <p:cNvSpPr txBox="1"/>
          <p:nvPr/>
        </p:nvSpPr>
        <p:spPr>
          <a:xfrm>
            <a:off x="7773000" y="5069217"/>
            <a:ext cx="3992081" cy="923330"/>
          </a:xfrm>
          <a:prstGeom prst="rect">
            <a:avLst/>
          </a:prstGeom>
          <a:solidFill>
            <a:srgbClr val="BCD9FC"/>
          </a:solidFill>
          <a:effectLst>
            <a:outerShdw blurRad="50800" dist="38100" dir="2700000" algn="tl" rotWithShape="0">
              <a:prstClr val="black">
                <a:alpha val="40000"/>
              </a:prstClr>
            </a:outerShdw>
            <a:softEdge rad="31750"/>
          </a:effectLst>
        </p:spPr>
        <p:txBody>
          <a:bodyPr wrap="square" lIns="274320" tIns="91440" rIns="274320" bIns="91440" rtlCol="0">
            <a:spAutoFit/>
          </a:bodyPr>
          <a:lstStyle/>
          <a:p>
            <a:pPr algn="ctr"/>
            <a:r>
              <a:rPr lang="ru-RU" sz="2400" dirty="0">
                <a:solidFill>
                  <a:schemeClr val="tx1">
                    <a:alpha val="70000"/>
                  </a:schemeClr>
                </a:solidFill>
              </a:rPr>
              <a:t>Повышенные требования к безопасности</a:t>
            </a:r>
            <a:endParaRPr lang="ru-RU" sz="500" dirty="0">
              <a:solidFill>
                <a:schemeClr val="tx1">
                  <a:alpha val="70000"/>
                </a:schemeClr>
              </a:solidFill>
            </a:endParaRPr>
          </a:p>
        </p:txBody>
      </p:sp>
      <p:sp>
        <p:nvSpPr>
          <p:cNvPr id="15" name="Надпись 2">
            <a:extLst>
              <a:ext uri="{FF2B5EF4-FFF2-40B4-BE49-F238E27FC236}">
                <a16:creationId xmlns:a16="http://schemas.microsoft.com/office/drawing/2014/main" id="{7D5325EF-4173-497B-90E2-9ECF4120E3DE}"/>
              </a:ext>
            </a:extLst>
          </p:cNvPr>
          <p:cNvSpPr txBox="1">
            <a:spLocks noChangeArrowheads="1"/>
          </p:cNvSpPr>
          <p:nvPr/>
        </p:nvSpPr>
        <p:spPr bwMode="auto">
          <a:xfrm>
            <a:off x="1139802" y="5530882"/>
            <a:ext cx="3279199" cy="338041"/>
          </a:xfrm>
          <a:prstGeom prst="rect">
            <a:avLst/>
          </a:prstGeom>
          <a:noFill/>
          <a:ln w="9525">
            <a:noFill/>
            <a:miter lim="800000"/>
            <a:headEnd/>
            <a:tailEnd/>
          </a:ln>
        </p:spPr>
        <p:txBody>
          <a:bodyPr rot="0" vert="horz" wrap="square" lIns="0" tIns="45720" rIns="91440" bIns="45720" anchor="t" anchorCtr="0">
            <a:spAutoFit/>
          </a:bodyPr>
          <a:lstStyle/>
          <a:p>
            <a:pPr indent="450215" algn="ctr">
              <a:lnSpc>
                <a:spcPct val="107000"/>
              </a:lnSpc>
              <a:spcAft>
                <a:spcPts val="800"/>
              </a:spcAft>
            </a:pP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Рис.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1</a:t>
            </a: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 – </a:t>
            </a:r>
            <a:r>
              <a:rPr lang="ru-RU" sz="1600" dirty="0">
                <a:latin typeface="Times New Roman" panose="02020603050405020304" pitchFamily="18" charset="0"/>
                <a:ea typeface="Calibri" panose="020F0502020204030204" pitchFamily="34" charset="0"/>
                <a:cs typeface="Times New Roman" panose="02020603050405020304" pitchFamily="18" charset="0"/>
              </a:rPr>
              <a:t>Интерфейс</a:t>
            </a: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 сайта</a:t>
            </a:r>
          </a:p>
        </p:txBody>
      </p:sp>
      <p:pic>
        <p:nvPicPr>
          <p:cNvPr id="12" name="Рисунок 11">
            <a:extLst>
              <a:ext uri="{FF2B5EF4-FFF2-40B4-BE49-F238E27FC236}">
                <a16:creationId xmlns:a16="http://schemas.microsoft.com/office/drawing/2014/main" id="{7CB1552A-9E9B-B8D9-76BE-2F2F1EFBFE1C}"/>
              </a:ext>
            </a:extLst>
          </p:cNvPr>
          <p:cNvPicPr>
            <a:picLocks noChangeAspect="1"/>
          </p:cNvPicPr>
          <p:nvPr/>
        </p:nvPicPr>
        <p:blipFill>
          <a:blip r:embed="rId3"/>
          <a:stretch>
            <a:fillRect/>
          </a:stretch>
        </p:blipFill>
        <p:spPr>
          <a:xfrm>
            <a:off x="242106" y="2072726"/>
            <a:ext cx="5482566" cy="3458156"/>
          </a:xfrm>
          <a:prstGeom prst="rect">
            <a:avLst/>
          </a:prstGeom>
        </p:spPr>
      </p:pic>
    </p:spTree>
    <p:extLst>
      <p:ext uri="{BB962C8B-B14F-4D97-AF65-F5344CB8AC3E}">
        <p14:creationId xmlns:p14="http://schemas.microsoft.com/office/powerpoint/2010/main" val="2937066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F2FE"/>
        </a:solidFill>
        <a:effectLst/>
      </p:bgPr>
    </p:bg>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18333" y="267347"/>
            <a:ext cx="4603247" cy="688489"/>
          </a:xfrm>
          <a:solidFill>
            <a:srgbClr val="F99F89"/>
          </a:solidFill>
          <a:effectLst>
            <a:outerShdw blurRad="50800" dist="38100" dir="2700000" algn="tl" rotWithShape="0">
              <a:prstClr val="black">
                <a:alpha val="40000"/>
              </a:prstClr>
            </a:outerShdw>
            <a:softEdge rad="38100"/>
          </a:effectLst>
        </p:spPr>
        <p:txBody>
          <a:bodyPr lIns="274320">
            <a:normAutofit/>
          </a:bodyPr>
          <a:lstStyle/>
          <a:p>
            <a:pPr algn="l"/>
            <a:r>
              <a:rPr lang="ru-RU" sz="4000" b="1" dirty="0">
                <a:solidFill>
                  <a:schemeClr val="tx1">
                    <a:alpha val="80000"/>
                  </a:schemeClr>
                </a:solidFill>
              </a:rPr>
              <a:t>Постановка задачи</a:t>
            </a:r>
          </a:p>
        </p:txBody>
      </p:sp>
      <p:sp>
        <p:nvSpPr>
          <p:cNvPr id="5" name="TextBox 4"/>
          <p:cNvSpPr txBox="1"/>
          <p:nvPr/>
        </p:nvSpPr>
        <p:spPr>
          <a:xfrm>
            <a:off x="462576" y="1340749"/>
            <a:ext cx="10994318" cy="1277273"/>
          </a:xfrm>
          <a:prstGeom prst="rect">
            <a:avLst/>
          </a:prstGeom>
          <a:solidFill>
            <a:srgbClr val="BCD9FC"/>
          </a:solidFill>
          <a:effectLst>
            <a:outerShdw blurRad="50800" dist="38100" dir="2700000" algn="tl" rotWithShape="0">
              <a:prstClr val="black">
                <a:alpha val="40000"/>
              </a:prstClr>
            </a:outerShdw>
            <a:softEdge rad="31750"/>
          </a:effectLst>
        </p:spPr>
        <p:txBody>
          <a:bodyPr wrap="square" rtlCol="0">
            <a:spAutoFit/>
          </a:bodyPr>
          <a:lstStyle/>
          <a:p>
            <a:pPr algn="just"/>
            <a:r>
              <a:rPr lang="ru-RU" sz="2400" b="1" dirty="0"/>
              <a:t>Цель работы:</a:t>
            </a:r>
            <a:r>
              <a:rPr lang="ru-RU" sz="2400" dirty="0">
                <a:solidFill>
                  <a:schemeClr val="tx1">
                    <a:alpha val="70000"/>
                  </a:schemeClr>
                </a:solidFill>
              </a:rPr>
              <a:t> </a:t>
            </a:r>
            <a:r>
              <a:rPr lang="ru-RU" sz="2400" dirty="0"/>
              <a:t>исследование и разработка надежной образовательной платформы с курсами, обеспечивающей управление учебным контентом, пользователями и доступом к ресурсам системы.</a:t>
            </a:r>
            <a:endParaRPr lang="en-US" sz="2400" dirty="0">
              <a:solidFill>
                <a:schemeClr val="tx1">
                  <a:alpha val="70000"/>
                </a:schemeClr>
              </a:solidFill>
            </a:endParaRPr>
          </a:p>
          <a:p>
            <a:pPr algn="just"/>
            <a:endParaRPr lang="ru-RU" sz="500" dirty="0">
              <a:solidFill>
                <a:schemeClr val="tx1">
                  <a:alpha val="70000"/>
                </a:schemeClr>
              </a:solidFill>
            </a:endParaRPr>
          </a:p>
        </p:txBody>
      </p:sp>
      <p:sp>
        <p:nvSpPr>
          <p:cNvPr id="7" name="TextBox 6"/>
          <p:cNvSpPr txBox="1"/>
          <p:nvPr/>
        </p:nvSpPr>
        <p:spPr>
          <a:xfrm>
            <a:off x="462576" y="3015234"/>
            <a:ext cx="10994318" cy="3631763"/>
          </a:xfrm>
          <a:prstGeom prst="rect">
            <a:avLst/>
          </a:prstGeom>
          <a:solidFill>
            <a:srgbClr val="BCD9FC"/>
          </a:solidFill>
          <a:effectLst>
            <a:outerShdw blurRad="50800" dist="38100" dir="2700000" algn="tl" rotWithShape="0">
              <a:prstClr val="black">
                <a:alpha val="40000"/>
              </a:prstClr>
            </a:outerShdw>
            <a:softEdge rad="31750"/>
          </a:effectLst>
        </p:spPr>
        <p:txBody>
          <a:bodyPr wrap="square" rtlCol="0">
            <a:spAutoFit/>
          </a:bodyPr>
          <a:lstStyle/>
          <a:p>
            <a:pPr algn="just"/>
            <a:r>
              <a:rPr lang="ru-RU" sz="2400" b="1" dirty="0"/>
              <a:t>Задачи :</a:t>
            </a:r>
            <a:endParaRPr lang="ru-RU" sz="2400" b="1" dirty="0">
              <a:solidFill>
                <a:schemeClr val="tx1">
                  <a:alpha val="70000"/>
                </a:schemeClr>
              </a:solidFill>
            </a:endParaRPr>
          </a:p>
          <a:p>
            <a:pPr algn="just"/>
            <a:endParaRPr lang="ru-RU" sz="2400" b="1" dirty="0">
              <a:solidFill>
                <a:schemeClr val="tx1">
                  <a:alpha val="70000"/>
                </a:schemeClr>
              </a:solidFill>
            </a:endParaRPr>
          </a:p>
          <a:p>
            <a:pPr algn="just"/>
            <a:endParaRPr lang="ru-RU" sz="2400" b="1" dirty="0">
              <a:solidFill>
                <a:schemeClr val="tx1">
                  <a:alpha val="70000"/>
                </a:schemeClr>
              </a:solidFill>
            </a:endParaRPr>
          </a:p>
          <a:p>
            <a:pPr algn="just"/>
            <a:endParaRPr lang="ru-RU" sz="2400" b="1" dirty="0">
              <a:solidFill>
                <a:schemeClr val="tx1">
                  <a:alpha val="70000"/>
                </a:schemeClr>
              </a:solidFill>
            </a:endParaRPr>
          </a:p>
          <a:p>
            <a:pPr algn="just"/>
            <a:endParaRPr lang="ru-RU" sz="2400" b="1" dirty="0">
              <a:solidFill>
                <a:schemeClr val="tx1">
                  <a:alpha val="70000"/>
                </a:schemeClr>
              </a:solidFill>
            </a:endParaRPr>
          </a:p>
          <a:p>
            <a:pPr algn="just"/>
            <a:endParaRPr lang="ru-RU" sz="2400" b="1" dirty="0">
              <a:solidFill>
                <a:schemeClr val="tx1">
                  <a:alpha val="70000"/>
                </a:schemeClr>
              </a:solidFill>
            </a:endParaRPr>
          </a:p>
          <a:p>
            <a:pPr algn="just"/>
            <a:endParaRPr lang="ru-RU" sz="2400" b="1" dirty="0">
              <a:solidFill>
                <a:schemeClr val="tx1">
                  <a:alpha val="70000"/>
                </a:schemeClr>
              </a:solidFill>
            </a:endParaRPr>
          </a:p>
          <a:p>
            <a:pPr algn="just"/>
            <a:r>
              <a:rPr lang="ru-RU" sz="2400" b="1" dirty="0">
                <a:solidFill>
                  <a:schemeClr val="tx1">
                    <a:alpha val="70000"/>
                  </a:schemeClr>
                </a:solidFill>
              </a:rPr>
              <a:t> </a:t>
            </a:r>
            <a:endParaRPr lang="en-US" sz="2400" b="1" dirty="0">
              <a:solidFill>
                <a:schemeClr val="tx1">
                  <a:alpha val="70000"/>
                </a:schemeClr>
              </a:solidFill>
            </a:endParaRPr>
          </a:p>
          <a:p>
            <a:pPr algn="just"/>
            <a:endParaRPr lang="ru-RU" sz="2400" dirty="0"/>
          </a:p>
          <a:p>
            <a:pPr algn="just"/>
            <a:endParaRPr lang="ru-RU" sz="1200" dirty="0"/>
          </a:p>
        </p:txBody>
      </p:sp>
      <p:graphicFrame>
        <p:nvGraphicFramePr>
          <p:cNvPr id="8" name="Таблица 7"/>
          <p:cNvGraphicFramePr>
            <a:graphicFrameLocks noGrp="1"/>
          </p:cNvGraphicFramePr>
          <p:nvPr>
            <p:extLst>
              <p:ext uri="{D42A27DB-BD31-4B8C-83A1-F6EECF244321}">
                <p14:modId xmlns:p14="http://schemas.microsoft.com/office/powerpoint/2010/main" val="3807325539"/>
              </p:ext>
            </p:extLst>
          </p:nvPr>
        </p:nvGraphicFramePr>
        <p:xfrm>
          <a:off x="1247885" y="3414034"/>
          <a:ext cx="9778701" cy="2712720"/>
        </p:xfrm>
        <a:graphic>
          <a:graphicData uri="http://schemas.openxmlformats.org/drawingml/2006/table">
            <a:tbl>
              <a:tblPr firstRow="1" bandRow="1">
                <a:effectLst/>
                <a:tableStyleId>{5C22544A-7EE6-4342-B048-85BDC9FD1C3A}</a:tableStyleId>
              </a:tblPr>
              <a:tblGrid>
                <a:gridCol w="4763455">
                  <a:extLst>
                    <a:ext uri="{9D8B030D-6E8A-4147-A177-3AD203B41FA5}">
                      <a16:colId xmlns:a16="http://schemas.microsoft.com/office/drawing/2014/main" val="20000"/>
                    </a:ext>
                  </a:extLst>
                </a:gridCol>
                <a:gridCol w="5015246">
                  <a:extLst>
                    <a:ext uri="{9D8B030D-6E8A-4147-A177-3AD203B41FA5}">
                      <a16:colId xmlns:a16="http://schemas.microsoft.com/office/drawing/2014/main" val="20001"/>
                    </a:ext>
                  </a:extLst>
                </a:gridCol>
              </a:tblGrid>
              <a:tr h="370840">
                <a:tc>
                  <a:txBody>
                    <a:bodyPr/>
                    <a:lstStyle/>
                    <a:p>
                      <a:pPr marL="285750" lvl="0" indent="-285750">
                        <a:buFont typeface="Arial" panose="020B0604020202020204" pitchFamily="34" charset="0"/>
                        <a:buChar char="•"/>
                      </a:pPr>
                      <a:r>
                        <a:rPr lang="ru-RU" sz="2000" b="0" dirty="0">
                          <a:solidFill>
                            <a:schemeClr val="tx1"/>
                          </a:solidFill>
                        </a:rPr>
                        <a:t>Провести анализ современных образовательных платформ и их требований</a:t>
                      </a:r>
                      <a:r>
                        <a:rPr lang="en-US" sz="2000" b="0" dirty="0">
                          <a:solidFill>
                            <a:schemeClr val="tx1"/>
                          </a:solidFill>
                        </a:rPr>
                        <a:t>;</a:t>
                      </a:r>
                      <a:endParaRPr lang="ru-RU" sz="2000" b="0" dirty="0">
                        <a:solidFill>
                          <a:schemeClr val="tx1"/>
                        </a:solidFill>
                      </a:endParaRPr>
                    </a:p>
                  </a:txBody>
                  <a:tcPr marR="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lvl="0" indent="-285750">
                        <a:buFont typeface="Arial" panose="020B0604020202020204" pitchFamily="34" charset="0"/>
                        <a:buChar char="•"/>
                      </a:pPr>
                      <a:r>
                        <a:rPr lang="ru-RU" sz="2000" b="0" dirty="0">
                          <a:solidFill>
                            <a:schemeClr val="tx1"/>
                          </a:solidFill>
                        </a:rPr>
                        <a:t>Спроектировать модель системы видео, онлайн-эфиров, уведомлений и чатов</a:t>
                      </a:r>
                      <a:r>
                        <a:rPr lang="ru-RU" sz="2000" b="0" dirty="0">
                          <a:solidFill>
                            <a:schemeClr val="tx1">
                              <a:alpha val="70000"/>
                            </a:schemeClr>
                          </a:solidFill>
                        </a:rPr>
                        <a:t>;</a:t>
                      </a:r>
                      <a:r>
                        <a:rPr lang="ru-RU" sz="2000" b="0" dirty="0">
                          <a:solidFill>
                            <a:schemeClr val="tx1"/>
                          </a:solidFill>
                        </a:rPr>
                        <a:t> </a:t>
                      </a:r>
                    </a:p>
                  </a:txBody>
                  <a:tcPr marR="36576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94812">
                <a:tc>
                  <a:txBody>
                    <a:bodyPr/>
                    <a:lstStyle/>
                    <a:p>
                      <a:pPr marL="285750" lvl="0" indent="-285750">
                        <a:buFont typeface="Arial" panose="020B0604020202020204" pitchFamily="34" charset="0"/>
                        <a:buChar char="•"/>
                      </a:pPr>
                      <a:r>
                        <a:rPr lang="ru-RU" sz="2000" dirty="0">
                          <a:solidFill>
                            <a:schemeClr val="tx1"/>
                          </a:solidFill>
                        </a:rPr>
                        <a:t>Исследовать подходы к аутентификации, авторизации и управлению доступом</a:t>
                      </a:r>
                      <a:r>
                        <a:rPr lang="ru-RU" sz="2000" b="0" dirty="0">
                          <a:solidFill>
                            <a:schemeClr val="tx1">
                              <a:alpha val="70000"/>
                            </a:schemeClr>
                          </a:solidFill>
                        </a:rPr>
                        <a:t>;</a:t>
                      </a:r>
                    </a:p>
                  </a:txBody>
                  <a:tcPr marR="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2000" b="0" dirty="0">
                          <a:solidFill>
                            <a:schemeClr val="tx1"/>
                          </a:solidFill>
                        </a:rPr>
                        <a:t>Реализовать систему видео, онлайн-эфиров, уведомлений и чатов.</a:t>
                      </a:r>
                    </a:p>
                  </a:txBody>
                  <a:tcPr marR="36576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marL="285750" lvl="0" indent="-285750">
                        <a:buFont typeface="Arial" panose="020B0604020202020204" pitchFamily="34" charset="0"/>
                        <a:buChar char="•"/>
                      </a:pPr>
                      <a:r>
                        <a:rPr lang="ru-RU" sz="2000" dirty="0"/>
                        <a:t>Разработать систему авторизации и разграничения доступа</a:t>
                      </a:r>
                      <a:r>
                        <a:rPr lang="ru-RU" sz="2000" b="0" dirty="0">
                          <a:solidFill>
                            <a:schemeClr val="tx1">
                              <a:alpha val="70000"/>
                            </a:schemeClr>
                          </a:solidFill>
                        </a:rPr>
                        <a:t>;</a:t>
                      </a:r>
                    </a:p>
                  </a:txBody>
                  <a:tcPr marR="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lvl="0" indent="-285750">
                        <a:buFont typeface="Arial" panose="020B0604020202020204" pitchFamily="34" charset="0"/>
                        <a:buChar char="•"/>
                      </a:pPr>
                      <a:endParaRPr lang="ru-RU" sz="2000" b="0" dirty="0">
                        <a:solidFill>
                          <a:schemeClr val="tx1">
                            <a:alpha val="70000"/>
                          </a:schemeClr>
                        </a:solidFill>
                      </a:endParaRPr>
                    </a:p>
                  </a:txBody>
                  <a:tcPr marR="36576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10" name="Подзаголовок 2"/>
          <p:cNvSpPr txBox="1">
            <a:spLocks/>
          </p:cNvSpPr>
          <p:nvPr/>
        </p:nvSpPr>
        <p:spPr>
          <a:xfrm>
            <a:off x="11274013" y="6164132"/>
            <a:ext cx="1014803" cy="516366"/>
          </a:xfrm>
          <a:prstGeom prst="rect">
            <a:avLst/>
          </a:prstGeom>
          <a:solidFill>
            <a:srgbClr val="A0DBED"/>
          </a:solidFill>
          <a:effectLst>
            <a:outerShdw blurRad="50800" dist="38100" dir="8100000" algn="tr" rotWithShape="0">
              <a:prstClr val="black">
                <a:alpha val="40000"/>
              </a:prstClr>
            </a:outerShdw>
            <a:softEdge rad="38100"/>
          </a:effectLst>
        </p:spPr>
        <p:txBody>
          <a:bodyPr vert="horz" lIns="27432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ru-RU" sz="1600" dirty="0">
                <a:solidFill>
                  <a:schemeClr val="tx1">
                    <a:alpha val="80000"/>
                  </a:schemeClr>
                </a:solidFill>
              </a:rPr>
              <a:t>4/16</a:t>
            </a:r>
          </a:p>
        </p:txBody>
      </p:sp>
    </p:spTree>
    <p:extLst>
      <p:ext uri="{BB962C8B-B14F-4D97-AF65-F5344CB8AC3E}">
        <p14:creationId xmlns:p14="http://schemas.microsoft.com/office/powerpoint/2010/main" val="1753922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F2FE"/>
        </a:solidFill>
        <a:effectLst/>
      </p:bgPr>
    </p:bg>
    <p:spTree>
      <p:nvGrpSpPr>
        <p:cNvPr id="1" name=""/>
        <p:cNvGrpSpPr/>
        <p:nvPr/>
      </p:nvGrpSpPr>
      <p:grpSpPr>
        <a:xfrm>
          <a:off x="0" y="0"/>
          <a:ext cx="0" cy="0"/>
          <a:chOff x="0" y="0"/>
          <a:chExt cx="0" cy="0"/>
        </a:xfrm>
      </p:grpSpPr>
      <p:sp>
        <p:nvSpPr>
          <p:cNvPr id="10" name="Подзаголовок 2"/>
          <p:cNvSpPr txBox="1">
            <a:spLocks/>
          </p:cNvSpPr>
          <p:nvPr/>
        </p:nvSpPr>
        <p:spPr>
          <a:xfrm>
            <a:off x="11274013" y="6164132"/>
            <a:ext cx="1014803" cy="516366"/>
          </a:xfrm>
          <a:prstGeom prst="rect">
            <a:avLst/>
          </a:prstGeom>
          <a:solidFill>
            <a:srgbClr val="A0DBED"/>
          </a:solidFill>
          <a:effectLst>
            <a:outerShdw blurRad="50800" dist="38100" dir="8100000" algn="tr" rotWithShape="0">
              <a:prstClr val="black">
                <a:alpha val="40000"/>
              </a:prstClr>
            </a:outerShdw>
            <a:softEdge rad="38100"/>
          </a:effectLst>
        </p:spPr>
        <p:txBody>
          <a:bodyPr vert="horz" lIns="27432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ru-RU" sz="1600" dirty="0">
                <a:solidFill>
                  <a:schemeClr val="tx1">
                    <a:alpha val="80000"/>
                  </a:schemeClr>
                </a:solidFill>
              </a:rPr>
              <a:t>5/16</a:t>
            </a:r>
          </a:p>
        </p:txBody>
      </p:sp>
      <p:sp>
        <p:nvSpPr>
          <p:cNvPr id="9" name="Надпись 2"/>
          <p:cNvSpPr txBox="1">
            <a:spLocks noChangeArrowheads="1"/>
          </p:cNvSpPr>
          <p:nvPr/>
        </p:nvSpPr>
        <p:spPr bwMode="auto">
          <a:xfrm>
            <a:off x="3584597" y="6286479"/>
            <a:ext cx="5463534" cy="338041"/>
          </a:xfrm>
          <a:prstGeom prst="rect">
            <a:avLst/>
          </a:prstGeom>
          <a:noFill/>
          <a:ln w="9525">
            <a:noFill/>
            <a:miter lim="800000"/>
            <a:headEnd/>
            <a:tailEnd/>
          </a:ln>
        </p:spPr>
        <p:txBody>
          <a:bodyPr rot="0" vert="horz" wrap="square" lIns="0" tIns="45720" rIns="91440" bIns="45720" anchor="t" anchorCtr="0">
            <a:spAutoFit/>
          </a:bodyPr>
          <a:lstStyle/>
          <a:p>
            <a:pPr marL="0" marR="0" indent="450215" algn="ctr">
              <a:lnSpc>
                <a:spcPct val="107000"/>
              </a:lnSpc>
              <a:spcBef>
                <a:spcPts val="0"/>
              </a:spcBef>
              <a:spcAft>
                <a:spcPts val="800"/>
              </a:spcAft>
            </a:pP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Рис. 2 – </a:t>
            </a:r>
            <a:r>
              <a:rPr lang="ru-RU" sz="1600" dirty="0">
                <a:latin typeface="Times New Roman" panose="02020603050405020304" pitchFamily="18" charset="0"/>
                <a:ea typeface="Calibri" panose="020F0502020204030204" pitchFamily="34" charset="0"/>
                <a:cs typeface="Times New Roman" panose="02020603050405020304" pitchFamily="18" charset="0"/>
              </a:rPr>
              <a:t>Архитектура</a:t>
            </a: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 проекта</a:t>
            </a:r>
          </a:p>
        </p:txBody>
      </p:sp>
      <p:sp>
        <p:nvSpPr>
          <p:cNvPr id="12" name="Подзаголовок 2">
            <a:extLst>
              <a:ext uri="{FF2B5EF4-FFF2-40B4-BE49-F238E27FC236}">
                <a16:creationId xmlns:a16="http://schemas.microsoft.com/office/drawing/2014/main" id="{BD48EB56-1032-4F5C-A85C-DF6EB005B013}"/>
              </a:ext>
            </a:extLst>
          </p:cNvPr>
          <p:cNvSpPr txBox="1">
            <a:spLocks/>
          </p:cNvSpPr>
          <p:nvPr/>
        </p:nvSpPr>
        <p:spPr>
          <a:xfrm>
            <a:off x="-118333" y="233480"/>
            <a:ext cx="4472620" cy="688489"/>
          </a:xfrm>
          <a:prstGeom prst="rect">
            <a:avLst/>
          </a:prstGeom>
          <a:solidFill>
            <a:srgbClr val="F99F89"/>
          </a:solidFill>
          <a:effectLst>
            <a:outerShdw blurRad="50800" dist="38100" dir="2700000" algn="tl" rotWithShape="0">
              <a:prstClr val="black">
                <a:alpha val="40000"/>
              </a:prstClr>
            </a:outerShdw>
            <a:softEdge rad="38100"/>
          </a:effectLst>
        </p:spPr>
        <p:txBody>
          <a:bodyPr vert="horz" lIns="27432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ru-RU" sz="4000" b="1" dirty="0">
                <a:solidFill>
                  <a:schemeClr val="tx1">
                    <a:alpha val="80000"/>
                  </a:schemeClr>
                </a:solidFill>
              </a:rPr>
              <a:t>Архитектура проекта</a:t>
            </a:r>
          </a:p>
        </p:txBody>
      </p:sp>
      <p:pic>
        <p:nvPicPr>
          <p:cNvPr id="8" name="Рисунок 7">
            <a:extLst>
              <a:ext uri="{FF2B5EF4-FFF2-40B4-BE49-F238E27FC236}">
                <a16:creationId xmlns:a16="http://schemas.microsoft.com/office/drawing/2014/main" id="{0A3295CC-8D1F-5E1A-FC85-339E3B2BF29F}"/>
              </a:ext>
            </a:extLst>
          </p:cNvPr>
          <p:cNvPicPr>
            <a:picLocks noChangeAspect="1"/>
          </p:cNvPicPr>
          <p:nvPr/>
        </p:nvPicPr>
        <p:blipFill>
          <a:blip r:embed="rId3">
            <a:extLst>
              <a:ext uri="{28A0092B-C50C-407E-A947-70E740481C1C}">
                <a14:useLocalDpi xmlns:a14="http://schemas.microsoft.com/office/drawing/2010/main" val="0"/>
              </a:ext>
            </a:extLst>
          </a:blip>
          <a:srcRect r="7529"/>
          <a:stretch>
            <a:fillRect/>
          </a:stretch>
        </p:blipFill>
        <p:spPr>
          <a:xfrm>
            <a:off x="458993" y="921970"/>
            <a:ext cx="11385053" cy="5364510"/>
          </a:xfrm>
          <a:prstGeom prst="rect">
            <a:avLst/>
          </a:prstGeom>
        </p:spPr>
      </p:pic>
    </p:spTree>
    <p:extLst>
      <p:ext uri="{BB962C8B-B14F-4D97-AF65-F5344CB8AC3E}">
        <p14:creationId xmlns:p14="http://schemas.microsoft.com/office/powerpoint/2010/main" val="3722920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F2FE"/>
        </a:solidFill>
        <a:effectLst/>
      </p:bgPr>
    </p:bg>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18334" y="301214"/>
            <a:ext cx="5659163" cy="688489"/>
          </a:xfrm>
          <a:solidFill>
            <a:srgbClr val="F99F89"/>
          </a:solidFill>
          <a:effectLst>
            <a:outerShdw blurRad="50800" dist="38100" dir="2700000" algn="tl" rotWithShape="0">
              <a:prstClr val="black">
                <a:alpha val="40000"/>
              </a:prstClr>
            </a:outerShdw>
            <a:softEdge rad="38100"/>
          </a:effectLst>
        </p:spPr>
        <p:txBody>
          <a:bodyPr lIns="274320">
            <a:normAutofit/>
          </a:bodyPr>
          <a:lstStyle/>
          <a:p>
            <a:pPr algn="l"/>
            <a:r>
              <a:rPr lang="ru-RU" sz="4000" b="1" dirty="0">
                <a:solidFill>
                  <a:schemeClr val="tx1">
                    <a:alpha val="80000"/>
                  </a:schemeClr>
                </a:solidFill>
              </a:rPr>
              <a:t>Механизм авторизации</a:t>
            </a:r>
          </a:p>
        </p:txBody>
      </p:sp>
      <p:sp>
        <p:nvSpPr>
          <p:cNvPr id="5" name="TextBox 4"/>
          <p:cNvSpPr txBox="1"/>
          <p:nvPr/>
        </p:nvSpPr>
        <p:spPr>
          <a:xfrm>
            <a:off x="469648" y="1385713"/>
            <a:ext cx="5331935" cy="1938992"/>
          </a:xfrm>
          <a:prstGeom prst="rect">
            <a:avLst/>
          </a:prstGeom>
          <a:solidFill>
            <a:srgbClr val="BCD9FC"/>
          </a:solidFill>
          <a:effectLst>
            <a:outerShdw blurRad="50800" dist="38100" dir="2700000" algn="tl" rotWithShape="0">
              <a:prstClr val="black">
                <a:alpha val="40000"/>
              </a:prstClr>
            </a:outerShdw>
            <a:softEdge rad="31750"/>
          </a:effectLst>
        </p:spPr>
        <p:txBody>
          <a:bodyPr wrap="square" rtlCol="0">
            <a:spAutoFit/>
          </a:bodyPr>
          <a:lstStyle/>
          <a:p>
            <a:pPr algn="just"/>
            <a:r>
              <a:rPr lang="ru-RU" sz="2400" b="1">
                <a:solidFill>
                  <a:schemeClr val="tx1">
                    <a:alpha val="70000"/>
                  </a:schemeClr>
                </a:solidFill>
              </a:rPr>
              <a:t>Протокол авторизации </a:t>
            </a:r>
            <a:r>
              <a:rPr lang="en-US" sz="2400" b="1">
                <a:solidFill>
                  <a:schemeClr val="tx1">
                    <a:alpha val="70000"/>
                  </a:schemeClr>
                </a:solidFill>
              </a:rPr>
              <a:t>OAuth 2.0 </a:t>
            </a:r>
            <a:r>
              <a:rPr lang="ru-RU" sz="2400">
                <a:solidFill>
                  <a:schemeClr val="tx1">
                    <a:alpha val="70000"/>
                  </a:schemeClr>
                </a:solidFill>
              </a:rPr>
              <a:t>предоставляет стандартизированный механизм авторизации, подходящий для интеграции с внешними сервисами</a:t>
            </a:r>
            <a:r>
              <a:rPr lang="en-US" sz="2400">
                <a:solidFill>
                  <a:schemeClr val="tx1">
                    <a:alpha val="70000"/>
                  </a:schemeClr>
                </a:solidFill>
              </a:rPr>
              <a:t>.</a:t>
            </a:r>
            <a:endParaRPr lang="ru-RU" sz="500" dirty="0">
              <a:solidFill>
                <a:schemeClr val="tx1">
                  <a:alpha val="70000"/>
                </a:schemeClr>
              </a:solidFill>
            </a:endParaRPr>
          </a:p>
        </p:txBody>
      </p:sp>
      <p:sp>
        <p:nvSpPr>
          <p:cNvPr id="14" name="TextBox 13"/>
          <p:cNvSpPr txBox="1"/>
          <p:nvPr/>
        </p:nvSpPr>
        <p:spPr>
          <a:xfrm>
            <a:off x="469648" y="3818735"/>
            <a:ext cx="5331935" cy="1569660"/>
          </a:xfrm>
          <a:prstGeom prst="rect">
            <a:avLst/>
          </a:prstGeom>
          <a:solidFill>
            <a:srgbClr val="BCD9FC"/>
          </a:solidFill>
          <a:effectLst>
            <a:outerShdw blurRad="50800" dist="38100" dir="2700000" algn="tl" rotWithShape="0">
              <a:prstClr val="black">
                <a:alpha val="40000"/>
              </a:prstClr>
            </a:outerShdw>
            <a:softEdge rad="31750"/>
          </a:effectLst>
        </p:spPr>
        <p:txBody>
          <a:bodyPr wrap="square" rtlCol="0">
            <a:spAutoFit/>
          </a:bodyPr>
          <a:lstStyle/>
          <a:p>
            <a:pPr algn="just"/>
            <a:r>
              <a:rPr lang="en-US" sz="2400" b="1" dirty="0">
                <a:solidFill>
                  <a:schemeClr val="tx1">
                    <a:alpha val="70000"/>
                  </a:schemeClr>
                </a:solidFill>
              </a:rPr>
              <a:t>OIDC </a:t>
            </a:r>
            <a:r>
              <a:rPr lang="ru-RU" sz="2400" b="1" dirty="0">
                <a:solidFill>
                  <a:schemeClr val="tx1">
                    <a:alpha val="70000"/>
                  </a:schemeClr>
                </a:solidFill>
              </a:rPr>
              <a:t> </a:t>
            </a:r>
            <a:r>
              <a:rPr lang="ru-RU" sz="2400" dirty="0">
                <a:solidFill>
                  <a:schemeClr val="tx1">
                    <a:alpha val="70000"/>
                  </a:schemeClr>
                </a:solidFill>
              </a:rPr>
              <a:t>работает поверх </a:t>
            </a:r>
            <a:r>
              <a:rPr lang="en-US" sz="2400" dirty="0">
                <a:solidFill>
                  <a:schemeClr val="tx1">
                    <a:alpha val="70000"/>
                  </a:schemeClr>
                </a:solidFill>
              </a:rPr>
              <a:t>OAuth 2.0 </a:t>
            </a:r>
            <a:r>
              <a:rPr lang="ru-RU" sz="2400" dirty="0">
                <a:solidFill>
                  <a:schemeClr val="tx1">
                    <a:alpha val="70000"/>
                  </a:schemeClr>
                </a:solidFill>
              </a:rPr>
              <a:t>и позволяет безопасно подтвердить личность пользователя через интегрированные внешние сервисы</a:t>
            </a:r>
            <a:endParaRPr lang="ru-RU" sz="500" dirty="0">
              <a:solidFill>
                <a:schemeClr val="tx1">
                  <a:alpha val="70000"/>
                </a:schemeClr>
              </a:solidFill>
            </a:endParaRPr>
          </a:p>
        </p:txBody>
      </p:sp>
      <p:sp>
        <p:nvSpPr>
          <p:cNvPr id="16" name="Подзаголовок 2"/>
          <p:cNvSpPr txBox="1">
            <a:spLocks/>
          </p:cNvSpPr>
          <p:nvPr/>
        </p:nvSpPr>
        <p:spPr>
          <a:xfrm>
            <a:off x="11274013" y="6164132"/>
            <a:ext cx="1014803" cy="516366"/>
          </a:xfrm>
          <a:prstGeom prst="rect">
            <a:avLst/>
          </a:prstGeom>
          <a:solidFill>
            <a:srgbClr val="A0DBED"/>
          </a:solidFill>
          <a:effectLst>
            <a:outerShdw blurRad="50800" dist="38100" dir="8100000" algn="tr" rotWithShape="0">
              <a:prstClr val="black">
                <a:alpha val="40000"/>
              </a:prstClr>
            </a:outerShdw>
            <a:softEdge rad="38100"/>
          </a:effectLst>
        </p:spPr>
        <p:txBody>
          <a:bodyPr vert="horz" lIns="27432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ru-RU" sz="1600" dirty="0">
                <a:solidFill>
                  <a:schemeClr val="tx1">
                    <a:alpha val="80000"/>
                  </a:schemeClr>
                </a:solidFill>
              </a:rPr>
              <a:t>6/16</a:t>
            </a:r>
          </a:p>
        </p:txBody>
      </p:sp>
      <p:sp>
        <p:nvSpPr>
          <p:cNvPr id="12" name="Надпись 2"/>
          <p:cNvSpPr txBox="1">
            <a:spLocks noChangeArrowheads="1"/>
          </p:cNvSpPr>
          <p:nvPr/>
        </p:nvSpPr>
        <p:spPr bwMode="auto">
          <a:xfrm>
            <a:off x="5801582" y="6079529"/>
            <a:ext cx="5538653" cy="342786"/>
          </a:xfrm>
          <a:prstGeom prst="rect">
            <a:avLst/>
          </a:prstGeom>
          <a:noFill/>
          <a:ln w="9525">
            <a:noFill/>
            <a:miter lim="800000"/>
            <a:headEnd/>
            <a:tailEnd/>
          </a:ln>
        </p:spPr>
        <p:txBody>
          <a:bodyPr rot="0" vert="horz" wrap="square" lIns="0" tIns="45720" rIns="91440" bIns="45720" anchor="t" anchorCtr="0">
            <a:spAutoFit/>
          </a:bodyPr>
          <a:lstStyle/>
          <a:p>
            <a:pPr indent="450215" algn="ctr">
              <a:lnSpc>
                <a:spcPct val="107000"/>
              </a:lnSpc>
              <a:spcAft>
                <a:spcPts val="800"/>
              </a:spcAft>
            </a:pP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Рис. </a:t>
            </a:r>
            <a:r>
              <a:rPr lang="en-US" sz="1600" dirty="0">
                <a:latin typeface="Times New Roman" panose="02020603050405020304" pitchFamily="18" charset="0"/>
                <a:ea typeface="Calibri" panose="020F0502020204030204" pitchFamily="34" charset="0"/>
                <a:cs typeface="Times New Roman" panose="02020603050405020304" pitchFamily="18" charset="0"/>
              </a:rPr>
              <a:t>3</a:t>
            </a: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 – Блок-схема процесса </a:t>
            </a:r>
            <a:r>
              <a:rPr lang="ru-RU" sz="1600" dirty="0"/>
              <a:t>авторизации</a:t>
            </a: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 пользователя</a:t>
            </a:r>
          </a:p>
        </p:txBody>
      </p:sp>
      <p:pic>
        <p:nvPicPr>
          <p:cNvPr id="6" name="Рисунок 5">
            <a:extLst>
              <a:ext uri="{FF2B5EF4-FFF2-40B4-BE49-F238E27FC236}">
                <a16:creationId xmlns:a16="http://schemas.microsoft.com/office/drawing/2014/main" id="{EAFD2AFC-77BD-9A9A-3AF5-99147BB1F9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9111" y="101329"/>
            <a:ext cx="4883594" cy="5842729"/>
          </a:xfrm>
          <a:prstGeom prst="rect">
            <a:avLst/>
          </a:prstGeom>
        </p:spPr>
      </p:pic>
    </p:spTree>
    <p:extLst>
      <p:ext uri="{BB962C8B-B14F-4D97-AF65-F5344CB8AC3E}">
        <p14:creationId xmlns:p14="http://schemas.microsoft.com/office/powerpoint/2010/main" val="3160413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F2FE"/>
        </a:solidFill>
        <a:effectLst/>
      </p:bgPr>
    </p:bg>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18334" y="301215"/>
            <a:ext cx="5114878" cy="536986"/>
          </a:xfrm>
          <a:solidFill>
            <a:srgbClr val="F99F89"/>
          </a:solidFill>
          <a:effectLst>
            <a:outerShdw blurRad="50800" dist="38100" dir="2700000" algn="tl" rotWithShape="0">
              <a:prstClr val="black">
                <a:alpha val="40000"/>
              </a:prstClr>
            </a:outerShdw>
            <a:softEdge rad="38100"/>
          </a:effectLst>
        </p:spPr>
        <p:txBody>
          <a:bodyPr lIns="274320">
            <a:normAutofit fontScale="85000" lnSpcReduction="10000"/>
          </a:bodyPr>
          <a:lstStyle/>
          <a:p>
            <a:pPr algn="l"/>
            <a:r>
              <a:rPr lang="ru-RU" sz="4000" b="1" dirty="0">
                <a:solidFill>
                  <a:schemeClr val="tx1">
                    <a:alpha val="80000"/>
                  </a:schemeClr>
                </a:solidFill>
              </a:rPr>
              <a:t>Реализация авторизации</a:t>
            </a:r>
          </a:p>
        </p:txBody>
      </p:sp>
      <p:sp>
        <p:nvSpPr>
          <p:cNvPr id="16" name="Подзаголовок 2"/>
          <p:cNvSpPr txBox="1">
            <a:spLocks/>
          </p:cNvSpPr>
          <p:nvPr/>
        </p:nvSpPr>
        <p:spPr>
          <a:xfrm>
            <a:off x="11274013" y="6164132"/>
            <a:ext cx="1014803" cy="516366"/>
          </a:xfrm>
          <a:prstGeom prst="rect">
            <a:avLst/>
          </a:prstGeom>
          <a:solidFill>
            <a:srgbClr val="A0DBED"/>
          </a:solidFill>
          <a:effectLst>
            <a:outerShdw blurRad="50800" dist="38100" dir="8100000" algn="tr" rotWithShape="0">
              <a:prstClr val="black">
                <a:alpha val="40000"/>
              </a:prstClr>
            </a:outerShdw>
            <a:softEdge rad="38100"/>
          </a:effectLst>
        </p:spPr>
        <p:txBody>
          <a:bodyPr vert="horz" lIns="27432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ru-RU" sz="1600" dirty="0">
                <a:solidFill>
                  <a:schemeClr val="tx1">
                    <a:alpha val="80000"/>
                  </a:schemeClr>
                </a:solidFill>
              </a:rPr>
              <a:t>7/16</a:t>
            </a:r>
          </a:p>
        </p:txBody>
      </p:sp>
      <p:sp>
        <p:nvSpPr>
          <p:cNvPr id="20" name="Надпись 2"/>
          <p:cNvSpPr txBox="1">
            <a:spLocks noChangeArrowheads="1"/>
          </p:cNvSpPr>
          <p:nvPr/>
        </p:nvSpPr>
        <p:spPr bwMode="auto">
          <a:xfrm>
            <a:off x="2840683" y="5739928"/>
            <a:ext cx="5605670" cy="338041"/>
          </a:xfrm>
          <a:prstGeom prst="rect">
            <a:avLst/>
          </a:prstGeom>
          <a:noFill/>
          <a:ln w="9525">
            <a:noFill/>
            <a:miter lim="800000"/>
            <a:headEnd/>
            <a:tailEnd/>
          </a:ln>
        </p:spPr>
        <p:txBody>
          <a:bodyPr rot="0" vert="horz" wrap="square" lIns="91440" tIns="45720" rIns="91440" bIns="45720" anchor="t" anchorCtr="0">
            <a:spAutoFit/>
          </a:bodyPr>
          <a:lstStyle/>
          <a:p>
            <a:pPr marL="0" marR="0" indent="450215" algn="ctr">
              <a:lnSpc>
                <a:spcPct val="107000"/>
              </a:lnSpc>
              <a:spcBef>
                <a:spcPts val="0"/>
              </a:spcBef>
              <a:spcAft>
                <a:spcPts val="800"/>
              </a:spcAft>
            </a:pP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Рис.</a:t>
            </a:r>
            <a:r>
              <a:rPr lang="en-US" sz="1600" dirty="0">
                <a:latin typeface="Times New Roman" panose="02020603050405020304" pitchFamily="18" charset="0"/>
                <a:ea typeface="Calibri" panose="020F0502020204030204" pitchFamily="34" charset="0"/>
                <a:cs typeface="Times New Roman" panose="02020603050405020304" pitchFamily="18" charset="0"/>
              </a:rPr>
              <a:t>4</a:t>
            </a: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 – Реализация авторизации</a:t>
            </a:r>
          </a:p>
        </p:txBody>
      </p:sp>
      <p:pic>
        <p:nvPicPr>
          <p:cNvPr id="2" name="Рисунок 1">
            <a:extLst>
              <a:ext uri="{FF2B5EF4-FFF2-40B4-BE49-F238E27FC236}">
                <a16:creationId xmlns:a16="http://schemas.microsoft.com/office/drawing/2014/main" id="{AF53C321-FE33-FB83-F352-0053DB792C31}"/>
              </a:ext>
            </a:extLst>
          </p:cNvPr>
          <p:cNvPicPr>
            <a:picLocks noChangeAspect="1"/>
          </p:cNvPicPr>
          <p:nvPr/>
        </p:nvPicPr>
        <p:blipFill>
          <a:blip r:embed="rId3"/>
          <a:stretch>
            <a:fillRect/>
          </a:stretch>
        </p:blipFill>
        <p:spPr>
          <a:xfrm>
            <a:off x="206192" y="1025754"/>
            <a:ext cx="5605670" cy="1985342"/>
          </a:xfrm>
          <a:prstGeom prst="rect">
            <a:avLst/>
          </a:prstGeom>
        </p:spPr>
      </p:pic>
      <p:pic>
        <p:nvPicPr>
          <p:cNvPr id="4" name="Рисунок 3">
            <a:extLst>
              <a:ext uri="{FF2B5EF4-FFF2-40B4-BE49-F238E27FC236}">
                <a16:creationId xmlns:a16="http://schemas.microsoft.com/office/drawing/2014/main" id="{62339EA3-D4BF-ACFE-9EA4-E075298C56A2}"/>
              </a:ext>
            </a:extLst>
          </p:cNvPr>
          <p:cNvPicPr>
            <a:picLocks noChangeAspect="1"/>
          </p:cNvPicPr>
          <p:nvPr/>
        </p:nvPicPr>
        <p:blipFill>
          <a:blip r:embed="rId4"/>
          <a:stretch>
            <a:fillRect/>
          </a:stretch>
        </p:blipFill>
        <p:spPr>
          <a:xfrm>
            <a:off x="6234113" y="1025754"/>
            <a:ext cx="3033160" cy="1985341"/>
          </a:xfrm>
          <a:prstGeom prst="rect">
            <a:avLst/>
          </a:prstGeom>
        </p:spPr>
      </p:pic>
      <p:pic>
        <p:nvPicPr>
          <p:cNvPr id="6" name="Рисунок 5">
            <a:extLst>
              <a:ext uri="{FF2B5EF4-FFF2-40B4-BE49-F238E27FC236}">
                <a16:creationId xmlns:a16="http://schemas.microsoft.com/office/drawing/2014/main" id="{5B35E78A-98F3-A7AC-110A-00C12E63BF1A}"/>
              </a:ext>
            </a:extLst>
          </p:cNvPr>
          <p:cNvPicPr>
            <a:picLocks noChangeAspect="1"/>
          </p:cNvPicPr>
          <p:nvPr/>
        </p:nvPicPr>
        <p:blipFill>
          <a:blip r:embed="rId5"/>
          <a:stretch>
            <a:fillRect/>
          </a:stretch>
        </p:blipFill>
        <p:spPr>
          <a:xfrm>
            <a:off x="206192" y="3198649"/>
            <a:ext cx="5437326" cy="2263719"/>
          </a:xfrm>
          <a:prstGeom prst="rect">
            <a:avLst/>
          </a:prstGeom>
        </p:spPr>
      </p:pic>
      <p:pic>
        <p:nvPicPr>
          <p:cNvPr id="7" name="Рисунок 6">
            <a:extLst>
              <a:ext uri="{FF2B5EF4-FFF2-40B4-BE49-F238E27FC236}">
                <a16:creationId xmlns:a16="http://schemas.microsoft.com/office/drawing/2014/main" id="{F65E0F2F-8A33-1F9D-18DB-5A4EA5C231C2}"/>
              </a:ext>
            </a:extLst>
          </p:cNvPr>
          <p:cNvPicPr>
            <a:picLocks noChangeAspect="1"/>
          </p:cNvPicPr>
          <p:nvPr/>
        </p:nvPicPr>
        <p:blipFill>
          <a:blip r:embed="rId6"/>
          <a:srcRect b="10055"/>
          <a:stretch>
            <a:fillRect/>
          </a:stretch>
        </p:blipFill>
        <p:spPr>
          <a:xfrm>
            <a:off x="5811862" y="3288656"/>
            <a:ext cx="6170233" cy="2083704"/>
          </a:xfrm>
          <a:prstGeom prst="rect">
            <a:avLst/>
          </a:prstGeom>
        </p:spPr>
      </p:pic>
    </p:spTree>
    <p:extLst>
      <p:ext uri="{BB962C8B-B14F-4D97-AF65-F5344CB8AC3E}">
        <p14:creationId xmlns:p14="http://schemas.microsoft.com/office/powerpoint/2010/main" val="6440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F2FE"/>
        </a:solidFill>
        <a:effectLst/>
      </p:bgPr>
    </p:bg>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18333" y="301214"/>
            <a:ext cx="3993648" cy="688489"/>
          </a:xfrm>
          <a:solidFill>
            <a:srgbClr val="F99F89"/>
          </a:solidFill>
          <a:effectLst>
            <a:outerShdw blurRad="50800" dist="38100" dir="2700000" algn="tl" rotWithShape="0">
              <a:prstClr val="black">
                <a:alpha val="40000"/>
              </a:prstClr>
            </a:outerShdw>
            <a:softEdge rad="38100"/>
          </a:effectLst>
        </p:spPr>
        <p:txBody>
          <a:bodyPr lIns="274320">
            <a:normAutofit/>
          </a:bodyPr>
          <a:lstStyle/>
          <a:p>
            <a:pPr algn="l"/>
            <a:r>
              <a:rPr lang="ru-RU" sz="4000" b="1" dirty="0">
                <a:solidFill>
                  <a:schemeClr val="tx1">
                    <a:alpha val="80000"/>
                  </a:schemeClr>
                </a:solidFill>
              </a:rPr>
              <a:t>Ролевая модель</a:t>
            </a:r>
          </a:p>
        </p:txBody>
      </p:sp>
      <p:sp>
        <p:nvSpPr>
          <p:cNvPr id="16" name="Подзаголовок 2"/>
          <p:cNvSpPr txBox="1">
            <a:spLocks/>
          </p:cNvSpPr>
          <p:nvPr/>
        </p:nvSpPr>
        <p:spPr>
          <a:xfrm>
            <a:off x="11274013" y="6164132"/>
            <a:ext cx="1014803" cy="516366"/>
          </a:xfrm>
          <a:prstGeom prst="rect">
            <a:avLst/>
          </a:prstGeom>
          <a:solidFill>
            <a:srgbClr val="A0DBED"/>
          </a:solidFill>
          <a:effectLst>
            <a:outerShdw blurRad="50800" dist="38100" dir="8100000" algn="tr" rotWithShape="0">
              <a:prstClr val="black">
                <a:alpha val="40000"/>
              </a:prstClr>
            </a:outerShdw>
            <a:softEdge rad="38100"/>
          </a:effectLst>
        </p:spPr>
        <p:txBody>
          <a:bodyPr vert="horz" lIns="27432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ru-RU" sz="1600" dirty="0">
                <a:solidFill>
                  <a:schemeClr val="tx1">
                    <a:alpha val="80000"/>
                  </a:schemeClr>
                </a:solidFill>
              </a:rPr>
              <a:t>8/16</a:t>
            </a:r>
          </a:p>
        </p:txBody>
      </p:sp>
      <p:sp>
        <p:nvSpPr>
          <p:cNvPr id="17" name="Надпись 2"/>
          <p:cNvSpPr txBox="1">
            <a:spLocks noChangeArrowheads="1"/>
          </p:cNvSpPr>
          <p:nvPr/>
        </p:nvSpPr>
        <p:spPr bwMode="auto">
          <a:xfrm>
            <a:off x="3303923" y="5530255"/>
            <a:ext cx="5584154" cy="338041"/>
          </a:xfrm>
          <a:prstGeom prst="rect">
            <a:avLst/>
          </a:prstGeom>
          <a:noFill/>
          <a:ln w="9525">
            <a:noFill/>
            <a:miter lim="800000"/>
            <a:headEnd/>
            <a:tailEnd/>
          </a:ln>
        </p:spPr>
        <p:txBody>
          <a:bodyPr rot="0" vert="horz" wrap="square" lIns="91440" tIns="45720" rIns="91440" bIns="45720" anchor="t" anchorCtr="0">
            <a:spAutoFit/>
          </a:bodyPr>
          <a:lstStyle/>
          <a:p>
            <a:pPr marL="0" marR="0" indent="450215" algn="ctr">
              <a:lnSpc>
                <a:spcPct val="107000"/>
              </a:lnSpc>
              <a:spcBef>
                <a:spcPts val="0"/>
              </a:spcBef>
              <a:spcAft>
                <a:spcPts val="800"/>
              </a:spcAft>
            </a:pP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Рис.</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5</a:t>
            </a: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 – Ролевая модель</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ReBAC</a:t>
            </a:r>
            <a:endParaRPr lang="ru-RU"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026" name="Picture 2" descr="Google Zanzibar: What is it ? [2025]">
            <a:extLst>
              <a:ext uri="{FF2B5EF4-FFF2-40B4-BE49-F238E27FC236}">
                <a16:creationId xmlns:a16="http://schemas.microsoft.com/office/drawing/2014/main" id="{45D4EA96-80DD-EEC5-968B-F1F5874F28B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62943" y="1469571"/>
            <a:ext cx="6466114" cy="3918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2021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F2FE"/>
        </a:solidFill>
        <a:effectLst/>
      </p:bgPr>
    </p:bg>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18334" y="301214"/>
            <a:ext cx="3971877" cy="688489"/>
          </a:xfrm>
          <a:solidFill>
            <a:srgbClr val="F99F89"/>
          </a:solidFill>
          <a:effectLst>
            <a:outerShdw blurRad="50800" dist="38100" dir="2700000" algn="tl" rotWithShape="0">
              <a:prstClr val="black">
                <a:alpha val="40000"/>
              </a:prstClr>
            </a:outerShdw>
            <a:softEdge rad="38100"/>
          </a:effectLst>
        </p:spPr>
        <p:txBody>
          <a:bodyPr lIns="274320">
            <a:normAutofit fontScale="92500"/>
          </a:bodyPr>
          <a:lstStyle/>
          <a:p>
            <a:pPr algn="l"/>
            <a:r>
              <a:rPr lang="ru-RU" sz="4000" b="1" dirty="0">
                <a:solidFill>
                  <a:schemeClr val="tx1">
                    <a:alpha val="80000"/>
                  </a:schemeClr>
                </a:solidFill>
              </a:rPr>
              <a:t>Интерфейс курса</a:t>
            </a:r>
          </a:p>
        </p:txBody>
      </p:sp>
      <p:sp>
        <p:nvSpPr>
          <p:cNvPr id="32" name="Надпись 2"/>
          <p:cNvSpPr txBox="1">
            <a:spLocks noChangeArrowheads="1"/>
          </p:cNvSpPr>
          <p:nvPr/>
        </p:nvSpPr>
        <p:spPr bwMode="auto">
          <a:xfrm>
            <a:off x="3200342" y="6376919"/>
            <a:ext cx="5603728" cy="338041"/>
          </a:xfrm>
          <a:prstGeom prst="rect">
            <a:avLst/>
          </a:prstGeom>
          <a:noFill/>
          <a:ln w="9525">
            <a:noFill/>
            <a:miter lim="800000"/>
            <a:headEnd/>
            <a:tailEnd/>
          </a:ln>
        </p:spPr>
        <p:txBody>
          <a:bodyPr rot="0" vert="horz" wrap="square" lIns="91440" tIns="45720" rIns="91440" bIns="45720" anchor="t" anchorCtr="0">
            <a:spAutoFit/>
          </a:bodyPr>
          <a:lstStyle/>
          <a:p>
            <a:pPr marL="0" marR="0" indent="450215" algn="ctr">
              <a:lnSpc>
                <a:spcPct val="107000"/>
              </a:lnSpc>
              <a:spcBef>
                <a:spcPts val="0"/>
              </a:spcBef>
              <a:spcAft>
                <a:spcPts val="800"/>
              </a:spcAft>
            </a:pP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Рис</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a:t>
            </a:r>
            <a:r>
              <a:rPr lang="ru-RU" sz="1600" dirty="0">
                <a:latin typeface="Times New Roman" panose="02020603050405020304" pitchFamily="18" charset="0"/>
                <a:ea typeface="Calibri" panose="020F0502020204030204" pitchFamily="34" charset="0"/>
                <a:cs typeface="Times New Roman" panose="02020603050405020304" pitchFamily="18" charset="0"/>
              </a:rPr>
              <a:t>6</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 </a:t>
            </a: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Интерфейс </a:t>
            </a:r>
            <a:r>
              <a:rPr lang="ru-RU" sz="1600" dirty="0">
                <a:latin typeface="Times New Roman" panose="02020603050405020304" pitchFamily="18" charset="0"/>
                <a:ea typeface="Calibri" panose="020F0502020204030204" pitchFamily="34" charset="0"/>
                <a:cs typeface="Times New Roman" panose="02020603050405020304" pitchFamily="18" charset="0"/>
              </a:rPr>
              <a:t>курса</a:t>
            </a:r>
            <a:endParaRPr lang="ru-RU"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2" name="Рисунок 1">
            <a:extLst>
              <a:ext uri="{FF2B5EF4-FFF2-40B4-BE49-F238E27FC236}">
                <a16:creationId xmlns:a16="http://schemas.microsoft.com/office/drawing/2014/main" id="{15BE2716-E8BF-7776-BE98-8CA6398D76F2}"/>
              </a:ext>
            </a:extLst>
          </p:cNvPr>
          <p:cNvPicPr>
            <a:picLocks noChangeAspect="1"/>
          </p:cNvPicPr>
          <p:nvPr/>
        </p:nvPicPr>
        <p:blipFill>
          <a:blip r:embed="rId3"/>
          <a:stretch>
            <a:fillRect/>
          </a:stretch>
        </p:blipFill>
        <p:spPr>
          <a:xfrm>
            <a:off x="441112" y="1035098"/>
            <a:ext cx="5561094" cy="3338733"/>
          </a:xfrm>
          <a:prstGeom prst="rect">
            <a:avLst/>
          </a:prstGeom>
        </p:spPr>
      </p:pic>
      <p:pic>
        <p:nvPicPr>
          <p:cNvPr id="4" name="Рисунок 3">
            <a:extLst>
              <a:ext uri="{FF2B5EF4-FFF2-40B4-BE49-F238E27FC236}">
                <a16:creationId xmlns:a16="http://schemas.microsoft.com/office/drawing/2014/main" id="{1E3F34D7-AAE9-11C6-ABEB-F5E7B6A819E4}"/>
              </a:ext>
            </a:extLst>
          </p:cNvPr>
          <p:cNvPicPr>
            <a:picLocks noChangeAspect="1"/>
          </p:cNvPicPr>
          <p:nvPr/>
        </p:nvPicPr>
        <p:blipFill>
          <a:blip r:embed="rId4"/>
          <a:stretch>
            <a:fillRect/>
          </a:stretch>
        </p:blipFill>
        <p:spPr>
          <a:xfrm>
            <a:off x="6070949" y="989703"/>
            <a:ext cx="5854821" cy="3293337"/>
          </a:xfrm>
          <a:prstGeom prst="rect">
            <a:avLst/>
          </a:prstGeom>
        </p:spPr>
      </p:pic>
      <p:pic>
        <p:nvPicPr>
          <p:cNvPr id="6" name="Рисунок 5">
            <a:extLst>
              <a:ext uri="{FF2B5EF4-FFF2-40B4-BE49-F238E27FC236}">
                <a16:creationId xmlns:a16="http://schemas.microsoft.com/office/drawing/2014/main" id="{7D97118C-83FA-C357-CADF-0BE3670B2906}"/>
              </a:ext>
            </a:extLst>
          </p:cNvPr>
          <p:cNvPicPr>
            <a:picLocks noChangeAspect="1"/>
          </p:cNvPicPr>
          <p:nvPr/>
        </p:nvPicPr>
        <p:blipFill>
          <a:blip r:embed="rId5"/>
          <a:stretch>
            <a:fillRect/>
          </a:stretch>
        </p:blipFill>
        <p:spPr>
          <a:xfrm>
            <a:off x="353973" y="3003637"/>
            <a:ext cx="6368733" cy="3293337"/>
          </a:xfrm>
          <a:prstGeom prst="rect">
            <a:avLst/>
          </a:prstGeom>
        </p:spPr>
      </p:pic>
      <p:pic>
        <p:nvPicPr>
          <p:cNvPr id="7" name="Рисунок 6">
            <a:extLst>
              <a:ext uri="{FF2B5EF4-FFF2-40B4-BE49-F238E27FC236}">
                <a16:creationId xmlns:a16="http://schemas.microsoft.com/office/drawing/2014/main" id="{6BAEE3F4-ECD2-F9B2-BEEB-2D6452C1384A}"/>
              </a:ext>
            </a:extLst>
          </p:cNvPr>
          <p:cNvPicPr>
            <a:picLocks noChangeAspect="1"/>
          </p:cNvPicPr>
          <p:nvPr/>
        </p:nvPicPr>
        <p:blipFill>
          <a:blip r:embed="rId6"/>
          <a:stretch>
            <a:fillRect/>
          </a:stretch>
        </p:blipFill>
        <p:spPr>
          <a:xfrm>
            <a:off x="4801681" y="2923692"/>
            <a:ext cx="7238354" cy="3418678"/>
          </a:xfrm>
          <a:prstGeom prst="rect">
            <a:avLst/>
          </a:prstGeom>
        </p:spPr>
      </p:pic>
      <p:sp>
        <p:nvSpPr>
          <p:cNvPr id="16" name="Подзаголовок 2"/>
          <p:cNvSpPr txBox="1">
            <a:spLocks/>
          </p:cNvSpPr>
          <p:nvPr/>
        </p:nvSpPr>
        <p:spPr>
          <a:xfrm>
            <a:off x="11274013" y="6164132"/>
            <a:ext cx="1014803" cy="516366"/>
          </a:xfrm>
          <a:prstGeom prst="rect">
            <a:avLst/>
          </a:prstGeom>
          <a:solidFill>
            <a:srgbClr val="A0DBED"/>
          </a:solidFill>
          <a:effectLst>
            <a:outerShdw blurRad="50800" dist="38100" dir="8100000" algn="tr" rotWithShape="0">
              <a:prstClr val="black">
                <a:alpha val="40000"/>
              </a:prstClr>
            </a:outerShdw>
            <a:softEdge rad="38100"/>
          </a:effectLst>
        </p:spPr>
        <p:txBody>
          <a:bodyPr vert="horz" lIns="27432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ru-RU" sz="1600" dirty="0">
                <a:solidFill>
                  <a:schemeClr val="tx1">
                    <a:alpha val="80000"/>
                  </a:schemeClr>
                </a:solidFill>
              </a:rPr>
              <a:t>9/16</a:t>
            </a:r>
          </a:p>
        </p:txBody>
      </p:sp>
    </p:spTree>
    <p:extLst>
      <p:ext uri="{BB962C8B-B14F-4D97-AF65-F5344CB8AC3E}">
        <p14:creationId xmlns:p14="http://schemas.microsoft.com/office/powerpoint/2010/main" val="3733798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F2FE"/>
        </a:solidFill>
        <a:effectLst/>
      </p:bgPr>
    </p:bg>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18333" y="301214"/>
            <a:ext cx="4069847" cy="688489"/>
          </a:xfrm>
          <a:solidFill>
            <a:srgbClr val="F99F89"/>
          </a:solidFill>
          <a:effectLst>
            <a:outerShdw blurRad="50800" dist="38100" dir="2700000" algn="tl" rotWithShape="0">
              <a:prstClr val="black">
                <a:alpha val="40000"/>
              </a:prstClr>
            </a:outerShdw>
            <a:softEdge rad="38100"/>
          </a:effectLst>
        </p:spPr>
        <p:txBody>
          <a:bodyPr lIns="274320" anchor="ctr">
            <a:normAutofit fontScale="92500"/>
          </a:bodyPr>
          <a:lstStyle/>
          <a:p>
            <a:pPr algn="l"/>
            <a:r>
              <a:rPr lang="ru-RU" sz="4000" b="1" dirty="0">
                <a:solidFill>
                  <a:schemeClr val="tx1">
                    <a:alpha val="80000"/>
                  </a:schemeClr>
                </a:solidFill>
              </a:rPr>
              <a:t>Интерфейс эфира</a:t>
            </a:r>
          </a:p>
        </p:txBody>
      </p:sp>
      <p:sp>
        <p:nvSpPr>
          <p:cNvPr id="16" name="Подзаголовок 2"/>
          <p:cNvSpPr txBox="1">
            <a:spLocks/>
          </p:cNvSpPr>
          <p:nvPr/>
        </p:nvSpPr>
        <p:spPr>
          <a:xfrm>
            <a:off x="11274013" y="6164132"/>
            <a:ext cx="1014803" cy="516366"/>
          </a:xfrm>
          <a:prstGeom prst="rect">
            <a:avLst/>
          </a:prstGeom>
          <a:solidFill>
            <a:srgbClr val="A0DBED"/>
          </a:solidFill>
          <a:effectLst>
            <a:outerShdw blurRad="50800" dist="38100" dir="8100000" algn="tr" rotWithShape="0">
              <a:prstClr val="black">
                <a:alpha val="40000"/>
              </a:prstClr>
            </a:outerShdw>
            <a:softEdge rad="38100"/>
          </a:effectLst>
        </p:spPr>
        <p:txBody>
          <a:bodyPr vert="horz" lIns="27432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ru-RU" sz="1600" dirty="0">
                <a:solidFill>
                  <a:schemeClr val="tx1">
                    <a:alpha val="80000"/>
                  </a:schemeClr>
                </a:solidFill>
              </a:rPr>
              <a:t>10/16</a:t>
            </a:r>
          </a:p>
        </p:txBody>
      </p:sp>
      <p:sp>
        <p:nvSpPr>
          <p:cNvPr id="2" name="Надпись 2">
            <a:extLst>
              <a:ext uri="{FF2B5EF4-FFF2-40B4-BE49-F238E27FC236}">
                <a16:creationId xmlns:a16="http://schemas.microsoft.com/office/drawing/2014/main" id="{6E3A7FD4-3E4D-5C2F-8D78-48333C726249}"/>
              </a:ext>
            </a:extLst>
          </p:cNvPr>
          <p:cNvSpPr txBox="1">
            <a:spLocks noChangeArrowheads="1"/>
          </p:cNvSpPr>
          <p:nvPr/>
        </p:nvSpPr>
        <p:spPr bwMode="auto">
          <a:xfrm>
            <a:off x="3294136" y="5469864"/>
            <a:ext cx="5603728" cy="338041"/>
          </a:xfrm>
          <a:prstGeom prst="rect">
            <a:avLst/>
          </a:prstGeom>
          <a:noFill/>
          <a:ln w="9525">
            <a:noFill/>
            <a:miter lim="800000"/>
            <a:headEnd/>
            <a:tailEnd/>
          </a:ln>
        </p:spPr>
        <p:txBody>
          <a:bodyPr rot="0" vert="horz" wrap="square" lIns="91440" tIns="45720" rIns="91440" bIns="45720" anchor="t" anchorCtr="0">
            <a:spAutoFit/>
          </a:bodyPr>
          <a:lstStyle/>
          <a:p>
            <a:pPr marL="0" marR="0" indent="450215" algn="ctr">
              <a:lnSpc>
                <a:spcPct val="107000"/>
              </a:lnSpc>
              <a:spcBef>
                <a:spcPts val="0"/>
              </a:spcBef>
              <a:spcAft>
                <a:spcPts val="800"/>
              </a:spcAft>
            </a:pP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Рис</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a:t>
            </a: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7</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 </a:t>
            </a: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Интерфейс </a:t>
            </a:r>
            <a:r>
              <a:rPr lang="ru-RU" sz="1600" dirty="0">
                <a:latin typeface="Times New Roman" panose="02020603050405020304" pitchFamily="18" charset="0"/>
                <a:ea typeface="Calibri" panose="020F0502020204030204" pitchFamily="34" charset="0"/>
                <a:cs typeface="Times New Roman" panose="02020603050405020304" pitchFamily="18" charset="0"/>
              </a:rPr>
              <a:t>эфира</a:t>
            </a:r>
            <a:endParaRPr lang="ru-RU"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Рисунок 3">
            <a:extLst>
              <a:ext uri="{FF2B5EF4-FFF2-40B4-BE49-F238E27FC236}">
                <a16:creationId xmlns:a16="http://schemas.microsoft.com/office/drawing/2014/main" id="{A723B82B-DD35-358C-70D1-427354C44595}"/>
              </a:ext>
            </a:extLst>
          </p:cNvPr>
          <p:cNvPicPr>
            <a:picLocks noChangeAspect="1"/>
          </p:cNvPicPr>
          <p:nvPr/>
        </p:nvPicPr>
        <p:blipFill>
          <a:blip r:embed="rId3"/>
          <a:stretch>
            <a:fillRect/>
          </a:stretch>
        </p:blipFill>
        <p:spPr>
          <a:xfrm>
            <a:off x="108858" y="1686351"/>
            <a:ext cx="5301342" cy="3765328"/>
          </a:xfrm>
          <a:prstGeom prst="rect">
            <a:avLst/>
          </a:prstGeom>
        </p:spPr>
      </p:pic>
      <p:pic>
        <p:nvPicPr>
          <p:cNvPr id="6" name="Рисунок 5">
            <a:extLst>
              <a:ext uri="{FF2B5EF4-FFF2-40B4-BE49-F238E27FC236}">
                <a16:creationId xmlns:a16="http://schemas.microsoft.com/office/drawing/2014/main" id="{33DB3978-823C-3975-B9CC-1060BAF0AD05}"/>
              </a:ext>
            </a:extLst>
          </p:cNvPr>
          <p:cNvPicPr>
            <a:picLocks noChangeAspect="1"/>
          </p:cNvPicPr>
          <p:nvPr/>
        </p:nvPicPr>
        <p:blipFill>
          <a:blip r:embed="rId4"/>
          <a:stretch>
            <a:fillRect/>
          </a:stretch>
        </p:blipFill>
        <p:spPr>
          <a:xfrm>
            <a:off x="5626783" y="1685470"/>
            <a:ext cx="6456359" cy="3766209"/>
          </a:xfrm>
          <a:prstGeom prst="rect">
            <a:avLst/>
          </a:prstGeom>
        </p:spPr>
      </p:pic>
    </p:spTree>
    <p:extLst>
      <p:ext uri="{BB962C8B-B14F-4D97-AF65-F5344CB8AC3E}">
        <p14:creationId xmlns:p14="http://schemas.microsoft.com/office/powerpoint/2010/main" val="3310266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F2FE"/>
        </a:solidFill>
        <a:effectLst/>
      </p:bgPr>
    </p:bg>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18334" y="301214"/>
            <a:ext cx="3111905" cy="688489"/>
          </a:xfrm>
          <a:solidFill>
            <a:srgbClr val="F99F89"/>
          </a:solidFill>
          <a:effectLst>
            <a:outerShdw blurRad="50800" dist="38100" dir="2700000" algn="tl" rotWithShape="0">
              <a:prstClr val="black">
                <a:alpha val="40000"/>
              </a:prstClr>
            </a:outerShdw>
            <a:softEdge rad="38100"/>
          </a:effectLst>
        </p:spPr>
        <p:txBody>
          <a:bodyPr lIns="274320">
            <a:normAutofit/>
          </a:bodyPr>
          <a:lstStyle/>
          <a:p>
            <a:pPr algn="l"/>
            <a:r>
              <a:rPr lang="ru-RU" sz="4000" b="1" dirty="0">
                <a:solidFill>
                  <a:schemeClr val="tx1">
                    <a:alpha val="80000"/>
                  </a:schemeClr>
                </a:solidFill>
              </a:rPr>
              <a:t>Видеоплеер</a:t>
            </a:r>
          </a:p>
        </p:txBody>
      </p:sp>
      <p:sp>
        <p:nvSpPr>
          <p:cNvPr id="16" name="Подзаголовок 2"/>
          <p:cNvSpPr txBox="1">
            <a:spLocks/>
          </p:cNvSpPr>
          <p:nvPr/>
        </p:nvSpPr>
        <p:spPr>
          <a:xfrm>
            <a:off x="11274013" y="6164132"/>
            <a:ext cx="1014803" cy="516366"/>
          </a:xfrm>
          <a:prstGeom prst="rect">
            <a:avLst/>
          </a:prstGeom>
          <a:solidFill>
            <a:srgbClr val="A0DBED"/>
          </a:solidFill>
          <a:effectLst>
            <a:outerShdw blurRad="50800" dist="38100" dir="8100000" algn="tr" rotWithShape="0">
              <a:prstClr val="black">
                <a:alpha val="40000"/>
              </a:prstClr>
            </a:outerShdw>
            <a:softEdge rad="38100"/>
          </a:effectLst>
        </p:spPr>
        <p:txBody>
          <a:bodyPr vert="horz" lIns="27432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ru-RU" sz="1600" dirty="0">
                <a:solidFill>
                  <a:schemeClr val="tx1">
                    <a:alpha val="80000"/>
                  </a:schemeClr>
                </a:solidFill>
              </a:rPr>
              <a:t>11/16</a:t>
            </a:r>
          </a:p>
        </p:txBody>
      </p:sp>
      <p:sp>
        <p:nvSpPr>
          <p:cNvPr id="19" name="Надпись 2"/>
          <p:cNvSpPr txBox="1">
            <a:spLocks noChangeArrowheads="1"/>
          </p:cNvSpPr>
          <p:nvPr/>
        </p:nvSpPr>
        <p:spPr bwMode="auto">
          <a:xfrm>
            <a:off x="2345915" y="5995111"/>
            <a:ext cx="7050910" cy="338041"/>
          </a:xfrm>
          <a:prstGeom prst="rect">
            <a:avLst/>
          </a:prstGeom>
          <a:noFill/>
          <a:ln w="9525">
            <a:noFill/>
            <a:miter lim="800000"/>
            <a:headEnd/>
            <a:tailEnd/>
          </a:ln>
        </p:spPr>
        <p:txBody>
          <a:bodyPr rot="0" vert="horz" wrap="square" lIns="91440" tIns="45720" rIns="91440" bIns="45720" anchor="t" anchorCtr="0">
            <a:spAutoFit/>
          </a:bodyPr>
          <a:lstStyle/>
          <a:p>
            <a:pPr marL="0" marR="0" indent="0" algn="ctr">
              <a:lnSpc>
                <a:spcPct val="107000"/>
              </a:lnSpc>
              <a:spcBef>
                <a:spcPts val="0"/>
              </a:spcBef>
              <a:spcAft>
                <a:spcPts val="800"/>
              </a:spcAft>
            </a:pP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Рис.8</a:t>
            </a:r>
            <a:r>
              <a:rPr lang="ru-RU" sz="1600" dirty="0">
                <a:latin typeface="Times New Roman" panose="02020603050405020304" pitchFamily="18" charset="0"/>
                <a:ea typeface="Calibri" panose="020F0502020204030204" pitchFamily="34" charset="0"/>
                <a:cs typeface="Times New Roman" panose="02020603050405020304" pitchFamily="18" charset="0"/>
              </a:rPr>
              <a:t> </a:t>
            </a: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 Видеоплеер</a:t>
            </a:r>
          </a:p>
        </p:txBody>
      </p:sp>
      <p:pic>
        <p:nvPicPr>
          <p:cNvPr id="2" name="Рисунок 1">
            <a:extLst>
              <a:ext uri="{FF2B5EF4-FFF2-40B4-BE49-F238E27FC236}">
                <a16:creationId xmlns:a16="http://schemas.microsoft.com/office/drawing/2014/main" id="{812F1F21-5153-6DDD-7B53-805BDF7EA371}"/>
              </a:ext>
            </a:extLst>
          </p:cNvPr>
          <p:cNvPicPr>
            <a:picLocks noChangeAspect="1"/>
          </p:cNvPicPr>
          <p:nvPr/>
        </p:nvPicPr>
        <p:blipFill>
          <a:blip r:embed="rId3"/>
          <a:stretch>
            <a:fillRect/>
          </a:stretch>
        </p:blipFill>
        <p:spPr>
          <a:xfrm>
            <a:off x="1752094" y="1140001"/>
            <a:ext cx="8687811" cy="4873832"/>
          </a:xfrm>
          <a:prstGeom prst="rect">
            <a:avLst/>
          </a:prstGeom>
        </p:spPr>
      </p:pic>
    </p:spTree>
    <p:extLst>
      <p:ext uri="{BB962C8B-B14F-4D97-AF65-F5344CB8AC3E}">
        <p14:creationId xmlns:p14="http://schemas.microsoft.com/office/powerpoint/2010/main" val="3131042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8F2FE"/>
        </a:solidFill>
        <a:effectLst/>
      </p:bgPr>
    </p:bg>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18334" y="280000"/>
            <a:ext cx="6100000" cy="820000"/>
          </a:xfrm>
          <a:solidFill>
            <a:srgbClr val="F99F89"/>
          </a:solidFill>
          <a:effectLst>
            <a:outerShdw blurRad="50800" dist="38100" dir="2700000" algn="tl" rotWithShape="0">
              <a:prstClr val="black">
                <a:alpha val="40000"/>
              </a:prstClr>
            </a:outerShdw>
            <a:softEdge rad="38100"/>
          </a:effectLst>
        </p:spPr>
        <p:txBody>
          <a:bodyPr lIns="274320">
            <a:normAutofit/>
          </a:bodyPr>
          <a:lstStyle/>
          <a:p>
            <a:pPr algn="l"/>
            <a:r>
              <a:rPr lang="ru-RU" sz="3000" b="1" dirty="0">
                <a:solidFill>
                  <a:schemeClr val="tx1">
                    <a:alpha val="80000"/>
                  </a:schemeClr>
                </a:solidFill>
              </a:rPr>
              <a:t>Принципы работы видеокодеков</a:t>
            </a:r>
          </a:p>
        </p:txBody>
      </p:sp>
      <p:sp>
        <p:nvSpPr>
          <p:cNvPr id="16" name="Номер"/>
          <p:cNvSpPr txBox="1"/>
          <p:nvPr/>
        </p:nvSpPr>
        <p:spPr>
          <a:xfrm>
            <a:off x="11274013" y="6164132"/>
            <a:ext cx="1014803" cy="516366"/>
          </a:xfrm>
          <a:prstGeom prst="rect">
            <a:avLst/>
          </a:prstGeom>
          <a:solidFill>
            <a:srgbClr val="A0DBED"/>
          </a:solidFill>
          <a:effectLst>
            <a:outerShdw blurRad="50800" dist="38100" dir="8100000" algn="tr" rotWithShape="0">
              <a:prstClr val="black">
                <a:alpha val="40000"/>
              </a:prstClr>
            </a:outerShdw>
            <a:softEdge rad="38100"/>
          </a:effectLst>
        </p:spPr>
        <p:txBody>
          <a:bodyPr vert="horz" lIns="274320" tIns="45720" rIns="91440" bIns="45720" rtlCol="0" anchor="ctr">
            <a:normAutofit/>
          </a:bodyPr>
          <a:lstStyle/>
          <a:p>
            <a:pPr algn="ctr"/>
            <a:r>
              <a:rPr lang="ru-RU" sz="1600" dirty="0">
                <a:solidFill>
                  <a:schemeClr val="tx1">
                    <a:alpha val="80000"/>
                  </a:schemeClr>
                </a:solidFill>
              </a:rPr>
              <a:t>12/16</a:t>
            </a:r>
          </a:p>
        </p:txBody>
      </p:sp>
      <p:sp>
        <p:nvSpPr>
          <p:cNvPr id="60" name="Карточка"/>
          <p:cNvSpPr/>
          <p:nvPr/>
        </p:nvSpPr>
        <p:spPr>
          <a:xfrm>
            <a:off x="250000" y="4330000"/>
            <a:ext cx="3700000" cy="1560000"/>
          </a:xfrm>
          <a:prstGeom prst="roundRect">
            <a:avLst>
              <a:gd name="adj" fmla="val 6000"/>
            </a:avLst>
          </a:prstGeom>
          <a:solidFill>
            <a:srgbClr val="FFFFFF"/>
          </a:solidFill>
          <a:ln w="9525">
            <a:solidFill>
              <a:srgbClr val="A0DBED"/>
            </a:solidFill>
          </a:ln>
          <a:effectLst>
            <a:outerShdw blurRad="40000" dist="20000" dir="5400000" rotWithShape="0">
              <a:prstClr val="black">
                <a:alpha val="15000"/>
              </a:prstClr>
            </a:outerShdw>
          </a:effectLst>
        </p:spPr>
        <p:txBody>
          <a:bodyPr/>
          <a:lstStyle/>
          <a:p>
            <a:endParaRPr lang="ru-RU"/>
          </a:p>
        </p:txBody>
      </p:sp>
      <p:sp>
        <p:nvSpPr>
          <p:cNvPr id="61" name="Подпись"/>
          <p:cNvSpPr txBox="1"/>
          <p:nvPr/>
        </p:nvSpPr>
        <p:spPr>
          <a:xfrm>
            <a:off x="250000" y="4370000"/>
            <a:ext cx="3700000" cy="470000"/>
          </a:xfrm>
          <a:prstGeom prst="rect">
            <a:avLst/>
          </a:prstGeom>
          <a:noFill/>
        </p:spPr>
        <p:txBody>
          <a:bodyPr wrap="square" lIns="20000" tIns="10000" rIns="20000" bIns="10000" anchor="ctr">
            <a:normAutofit/>
          </a:bodyPr>
          <a:lstStyle/>
          <a:p>
            <a:pPr algn="ctr"/>
            <a:r>
              <a:rPr lang="ru-RU" sz="1300" b="1" dirty="0">
                <a:solidFill>
                  <a:schemeClr val="tx1"/>
                </a:solidFill>
              </a:rPr>
              <a:t>ДКП-преобразование</a:t>
            </a:r>
          </a:p>
        </p:txBody>
      </p:sp>
      <p:pic>
        <p:nvPicPr>
          <p:cNvPr id="62" name="ДКП-преобразование"/>
          <p:cNvPicPr>
            <a:picLocks noChangeAspect="1"/>
          </p:cNvPicPr>
          <p:nvPr/>
        </p:nvPicPr>
        <p:blipFill>
          <a:blip r:embed="rId3"/>
          <a:stretch>
            <a:fillRect/>
          </a:stretch>
        </p:blipFill>
        <p:spPr>
          <a:xfrm>
            <a:off x="450000" y="4990000"/>
            <a:ext cx="3300000" cy="376841"/>
          </a:xfrm>
          <a:prstGeom prst="rect">
            <a:avLst/>
          </a:prstGeom>
        </p:spPr>
      </p:pic>
      <p:sp>
        <p:nvSpPr>
          <p:cNvPr id="80" name="Пояснение"/>
          <p:cNvSpPr txBox="1"/>
          <p:nvPr/>
        </p:nvSpPr>
        <p:spPr>
          <a:xfrm>
            <a:off x="300000" y="5470000"/>
            <a:ext cx="3600000" cy="360000"/>
          </a:xfrm>
          <a:prstGeom prst="rect">
            <a:avLst/>
          </a:prstGeom>
          <a:noFill/>
        </p:spPr>
        <p:txBody>
          <a:bodyPr wrap="square" lIns="20000" tIns="6000" rIns="20000" bIns="6000" anchor="ctr">
            <a:normAutofit/>
          </a:bodyPr>
          <a:lstStyle/>
          <a:p>
            <a:pPr algn="ctr"/>
            <a:r>
              <a:rPr lang="ru-RU" sz="1000" dirty="0">
                <a:solidFill>
                  <a:schemeClr val="tx1">
                    <a:alpha val="75000"/>
                  </a:schemeClr>
                </a:solidFill>
              </a:rPr>
              <a:t>C(0)=1/√2, иначе 1; N — размер блока (8×8)</a:t>
            </a:r>
          </a:p>
        </p:txBody>
      </p:sp>
      <p:sp>
        <p:nvSpPr>
          <p:cNvPr id="2" name="Карточка"/>
          <p:cNvSpPr/>
          <p:nvPr/>
        </p:nvSpPr>
        <p:spPr>
          <a:xfrm>
            <a:off x="4283000" y="4330000"/>
            <a:ext cx="3700000" cy="1560000"/>
          </a:xfrm>
          <a:prstGeom prst="roundRect">
            <a:avLst>
              <a:gd name="adj" fmla="val 6000"/>
            </a:avLst>
          </a:prstGeom>
          <a:solidFill>
            <a:srgbClr val="FFFFFF"/>
          </a:solidFill>
          <a:ln w="9525">
            <a:solidFill>
              <a:srgbClr val="A0DBED"/>
            </a:solidFill>
          </a:ln>
          <a:effectLst>
            <a:outerShdw blurRad="40000" dist="20000" dir="5400000" rotWithShape="0">
              <a:prstClr val="black">
                <a:alpha val="15000"/>
              </a:prstClr>
            </a:outerShdw>
          </a:effectLst>
        </p:spPr>
        <p:txBody>
          <a:bodyPr/>
          <a:lstStyle/>
          <a:p>
            <a:endParaRPr lang="ru-RU"/>
          </a:p>
        </p:txBody>
      </p:sp>
      <p:sp>
        <p:nvSpPr>
          <p:cNvPr id="63" name="Подпись"/>
          <p:cNvSpPr txBox="1"/>
          <p:nvPr/>
        </p:nvSpPr>
        <p:spPr>
          <a:xfrm>
            <a:off x="4283000" y="4370000"/>
            <a:ext cx="3700000" cy="470000"/>
          </a:xfrm>
          <a:prstGeom prst="rect">
            <a:avLst/>
          </a:prstGeom>
          <a:noFill/>
        </p:spPr>
        <p:txBody>
          <a:bodyPr wrap="square" lIns="20000" tIns="10000" rIns="20000" bIns="10000" anchor="ctr">
            <a:normAutofit/>
          </a:bodyPr>
          <a:lstStyle/>
          <a:p>
            <a:pPr algn="ctr"/>
            <a:r>
              <a:rPr lang="ru-RU" sz="1300" b="1" dirty="0">
                <a:solidFill>
                  <a:schemeClr val="tx1"/>
                </a:solidFill>
              </a:rPr>
              <a:t>Квантование</a:t>
            </a:r>
          </a:p>
        </p:txBody>
      </p:sp>
      <p:pic>
        <p:nvPicPr>
          <p:cNvPr id="64" name="Квантование"/>
          <p:cNvPicPr>
            <a:picLocks noChangeAspect="1"/>
          </p:cNvPicPr>
          <p:nvPr/>
        </p:nvPicPr>
        <p:blipFill>
          <a:blip r:embed="rId4"/>
          <a:stretch>
            <a:fillRect/>
          </a:stretch>
        </p:blipFill>
        <p:spPr>
          <a:xfrm>
            <a:off x="4983000" y="5142282"/>
            <a:ext cx="2300000" cy="485436"/>
          </a:xfrm>
          <a:prstGeom prst="rect">
            <a:avLst/>
          </a:prstGeom>
        </p:spPr>
      </p:pic>
      <p:sp>
        <p:nvSpPr>
          <p:cNvPr id="4" name="Карточка"/>
          <p:cNvSpPr/>
          <p:nvPr/>
        </p:nvSpPr>
        <p:spPr>
          <a:xfrm>
            <a:off x="8316000" y="4330000"/>
            <a:ext cx="3700000" cy="1560000"/>
          </a:xfrm>
          <a:prstGeom prst="roundRect">
            <a:avLst>
              <a:gd name="adj" fmla="val 6000"/>
            </a:avLst>
          </a:prstGeom>
          <a:solidFill>
            <a:srgbClr val="FFFFFF"/>
          </a:solidFill>
          <a:ln w="9525">
            <a:solidFill>
              <a:srgbClr val="A0DBED"/>
            </a:solidFill>
          </a:ln>
          <a:effectLst>
            <a:outerShdw blurRad="40000" dist="20000" dir="5400000" rotWithShape="0">
              <a:prstClr val="black">
                <a:alpha val="15000"/>
              </a:prstClr>
            </a:outerShdw>
          </a:effectLst>
        </p:spPr>
        <p:txBody>
          <a:bodyPr/>
          <a:lstStyle/>
          <a:p>
            <a:endParaRPr lang="ru-RU"/>
          </a:p>
        </p:txBody>
      </p:sp>
      <p:sp>
        <p:nvSpPr>
          <p:cNvPr id="65" name="Подпись"/>
          <p:cNvSpPr txBox="1"/>
          <p:nvPr/>
        </p:nvSpPr>
        <p:spPr>
          <a:xfrm>
            <a:off x="8316000" y="4370000"/>
            <a:ext cx="3700000" cy="470000"/>
          </a:xfrm>
          <a:prstGeom prst="rect">
            <a:avLst/>
          </a:prstGeom>
          <a:noFill/>
        </p:spPr>
        <p:txBody>
          <a:bodyPr wrap="square" lIns="20000" tIns="10000" rIns="20000" bIns="10000" anchor="ctr">
            <a:normAutofit/>
          </a:bodyPr>
          <a:lstStyle/>
          <a:p>
            <a:pPr algn="ctr"/>
            <a:r>
              <a:rPr lang="ru-RU" sz="1300" b="1" dirty="0">
                <a:solidFill>
                  <a:schemeClr val="tx1"/>
                </a:solidFill>
              </a:rPr>
              <a:t>Энтропийное кодирование</a:t>
            </a:r>
          </a:p>
        </p:txBody>
      </p:sp>
      <p:pic>
        <p:nvPicPr>
          <p:cNvPr id="66" name="Энтропийное кодирование"/>
          <p:cNvPicPr>
            <a:picLocks noChangeAspect="1"/>
          </p:cNvPicPr>
          <p:nvPr/>
        </p:nvPicPr>
        <p:blipFill>
          <a:blip r:embed="rId5"/>
          <a:stretch>
            <a:fillRect/>
          </a:stretch>
        </p:blipFill>
        <p:spPr>
          <a:xfrm>
            <a:off x="9216000" y="5088588"/>
            <a:ext cx="1900000" cy="592823"/>
          </a:xfrm>
          <a:prstGeom prst="rect">
            <a:avLst/>
          </a:prstGeom>
        </p:spPr>
      </p:pic>
      <p:pic>
        <p:nvPicPr>
          <p:cNvPr id="70" name="Внутрикадровое"/>
          <p:cNvPicPr>
            <a:picLocks noChangeAspect="1"/>
          </p:cNvPicPr>
          <p:nvPr/>
        </p:nvPicPr>
        <p:blipFill>
          <a:blip r:embed="rId6"/>
          <a:stretch>
            <a:fillRect/>
          </a:stretch>
        </p:blipFill>
        <p:spPr>
          <a:xfrm>
            <a:off x="6150000" y="674514"/>
            <a:ext cx="5800000" cy="1510000"/>
          </a:xfrm>
          <a:prstGeom prst="rect">
            <a:avLst/>
          </a:prstGeom>
        </p:spPr>
      </p:pic>
      <p:pic>
        <p:nvPicPr>
          <p:cNvPr id="72" name="Межкадровое"/>
          <p:cNvPicPr>
            <a:picLocks noChangeAspect="1"/>
          </p:cNvPicPr>
          <p:nvPr/>
        </p:nvPicPr>
        <p:blipFill>
          <a:blip r:embed="rId7"/>
          <a:stretch>
            <a:fillRect/>
          </a:stretch>
        </p:blipFill>
        <p:spPr>
          <a:xfrm>
            <a:off x="6150000" y="2157934"/>
            <a:ext cx="5800000" cy="1510000"/>
          </a:xfrm>
          <a:prstGeom prst="rect">
            <a:avLst/>
          </a:prstGeom>
        </p:spPr>
      </p:pic>
      <p:pic>
        <p:nvPicPr>
          <p:cNvPr id="8" name="Схема">
            <a:extLst>
              <a:ext uri="{FF2B5EF4-FFF2-40B4-BE49-F238E27FC236}">
                <a16:creationId xmlns:a16="http://schemas.microsoft.com/office/drawing/2014/main" id="{C67732A4-AFF8-19F1-AEF2-9ACEF9CAB8BD}"/>
              </a:ext>
            </a:extLst>
          </p:cNvPr>
          <p:cNvPicPr>
            <a:picLocks noChangeAspect="1"/>
          </p:cNvPicPr>
          <p:nvPr/>
        </p:nvPicPr>
        <p:blipFill>
          <a:blip r:embed="rId8"/>
          <a:stretch>
            <a:fillRect/>
          </a:stretch>
        </p:blipFill>
        <p:spPr>
          <a:xfrm>
            <a:off x="238948" y="1198800"/>
            <a:ext cx="5400000" cy="2700000"/>
          </a:xfrm>
          <a:prstGeom prst="rect">
            <a:avLst/>
          </a:prstGeom>
        </p:spPr>
      </p:pic>
      <p:sp>
        <p:nvSpPr>
          <p:cNvPr id="9" name="Подпись">
            <a:extLst>
              <a:ext uri="{FF2B5EF4-FFF2-40B4-BE49-F238E27FC236}">
                <a16:creationId xmlns:a16="http://schemas.microsoft.com/office/drawing/2014/main" id="{B40B0C20-084B-9910-7A20-D8F6A04406E6}"/>
              </a:ext>
            </a:extLst>
          </p:cNvPr>
          <p:cNvSpPr txBox="1"/>
          <p:nvPr/>
        </p:nvSpPr>
        <p:spPr>
          <a:xfrm>
            <a:off x="238948" y="3928800"/>
            <a:ext cx="5400000" cy="338041"/>
          </a:xfrm>
          <a:prstGeom prst="rect">
            <a:avLst/>
          </a:prstGeom>
          <a:noFill/>
        </p:spPr>
        <p:txBody>
          <a:bodyPr wrap="square" lIns="20000" tIns="10000" rIns="20000" bIns="10000" anchor="ctr">
            <a:normAutofit/>
          </a:bodyPr>
          <a:lstStyle/>
          <a:p>
            <a:pPr algn="ctr"/>
            <a:r>
              <a:rPr lang="ru-RU" sz="1600" b="0" dirty="0">
                <a:latin typeface="Times New Roman"/>
                <a:cs typeface="Times New Roman"/>
              </a:rPr>
              <a:t>Рис. 9 – Структура гибридного видеокодера</a:t>
            </a:r>
          </a:p>
        </p:txBody>
      </p:sp>
      <p:sp>
        <p:nvSpPr>
          <p:cNvPr id="5" name="Подпись">
            <a:extLst>
              <a:ext uri="{FF2B5EF4-FFF2-40B4-BE49-F238E27FC236}">
                <a16:creationId xmlns:a16="http://schemas.microsoft.com/office/drawing/2014/main" id="{9B865E69-B1EB-1E46-DAFD-1F616A63F04A}"/>
              </a:ext>
            </a:extLst>
          </p:cNvPr>
          <p:cNvSpPr txBox="1"/>
          <p:nvPr/>
        </p:nvSpPr>
        <p:spPr>
          <a:xfrm>
            <a:off x="6350000" y="3723198"/>
            <a:ext cx="5400000" cy="338041"/>
          </a:xfrm>
          <a:prstGeom prst="rect">
            <a:avLst/>
          </a:prstGeom>
          <a:noFill/>
        </p:spPr>
        <p:txBody>
          <a:bodyPr wrap="square" lIns="20000" tIns="10000" rIns="20000" bIns="10000" anchor="ctr">
            <a:normAutofit/>
          </a:bodyPr>
          <a:lstStyle/>
          <a:p>
            <a:pPr algn="ctr"/>
            <a:r>
              <a:rPr lang="ru-RU" sz="1600" b="0" dirty="0">
                <a:latin typeface="Times New Roman"/>
                <a:cs typeface="Times New Roman"/>
              </a:rPr>
              <a:t>Рис. 10 – Пример предсказаний</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8F2FE"/>
        </a:solidFill>
        <a:effectLst/>
      </p:bgPr>
    </p:bg>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18334" y="280000"/>
            <a:ext cx="5900000" cy="820000"/>
          </a:xfrm>
          <a:solidFill>
            <a:srgbClr val="F99F89"/>
          </a:solidFill>
          <a:effectLst>
            <a:outerShdw blurRad="50800" dist="38100" dir="2700000" algn="tl" rotWithShape="0">
              <a:prstClr val="black">
                <a:alpha val="40000"/>
              </a:prstClr>
            </a:outerShdw>
            <a:softEdge rad="38100"/>
          </a:effectLst>
        </p:spPr>
        <p:txBody>
          <a:bodyPr lIns="274320">
            <a:normAutofit/>
          </a:bodyPr>
          <a:lstStyle/>
          <a:p>
            <a:pPr algn="l"/>
            <a:r>
              <a:rPr lang="ru-RU" sz="2800" b="1" dirty="0">
                <a:solidFill>
                  <a:schemeClr val="tx1">
                    <a:alpha val="80000"/>
                  </a:schemeClr>
                </a:solidFill>
              </a:rPr>
              <a:t>Разработанный собственный кодек</a:t>
            </a:r>
          </a:p>
        </p:txBody>
      </p:sp>
      <p:sp>
        <p:nvSpPr>
          <p:cNvPr id="16" name="Подзаголовок 2"/>
          <p:cNvSpPr txBox="1">
            <a:spLocks/>
          </p:cNvSpPr>
          <p:nvPr/>
        </p:nvSpPr>
        <p:spPr>
          <a:xfrm>
            <a:off x="11274013" y="6164132"/>
            <a:ext cx="1014803" cy="516366"/>
          </a:xfrm>
          <a:prstGeom prst="rect">
            <a:avLst/>
          </a:prstGeom>
          <a:solidFill>
            <a:srgbClr val="A0DBED"/>
          </a:solidFill>
          <a:effectLst>
            <a:outerShdw blurRad="50800" dist="38100" dir="8100000" algn="tr" rotWithShape="0">
              <a:prstClr val="black">
                <a:alpha val="40000"/>
              </a:prstClr>
            </a:outerShdw>
            <a:softEdge rad="38100"/>
          </a:effectLst>
        </p:spPr>
        <p:txBody>
          <a:bodyPr vert="horz" lIns="27432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ru-RU" sz="1600" dirty="0">
                <a:solidFill>
                  <a:schemeClr val="tx1">
                    <a:alpha val="80000"/>
                  </a:schemeClr>
                </a:solidFill>
              </a:rPr>
              <a:t>14/16</a:t>
            </a:r>
          </a:p>
        </p:txBody>
      </p:sp>
      <p:sp>
        <p:nvSpPr>
          <p:cNvPr id="19" name="Надпись 2"/>
          <p:cNvSpPr txBox="1">
            <a:spLocks noChangeArrowheads="1"/>
          </p:cNvSpPr>
          <p:nvPr/>
        </p:nvSpPr>
        <p:spPr bwMode="auto">
          <a:xfrm>
            <a:off x="6142000" y="3370980"/>
            <a:ext cx="5800000" cy="338041"/>
          </a:xfrm>
          <a:prstGeom prst="rect">
            <a:avLst/>
          </a:prstGeom>
          <a:noFill/>
          <a:ln w="9525">
            <a:noFill/>
            <a:miter lim="800000"/>
            <a:headEnd/>
            <a:tailEnd/>
          </a:ln>
        </p:spPr>
        <p:txBody>
          <a:bodyPr rot="0" vert="horz" wrap="square" lIns="91440" tIns="45720" rIns="91440" bIns="45720" anchor="t" anchorCtr="0">
            <a:spAutoFit/>
          </a:bodyPr>
          <a:lstStyle/>
          <a:p>
            <a:pPr marL="0" marR="0" indent="0" algn="ctr">
              <a:lnSpc>
                <a:spcPct val="107000"/>
              </a:lnSpc>
              <a:spcBef>
                <a:spcPts val="0"/>
              </a:spcBef>
              <a:spcAft>
                <a:spcPts val="800"/>
              </a:spcAft>
            </a:pP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Рис. 11</a:t>
            </a:r>
            <a:r>
              <a:rPr lang="ru-RU" sz="1600" dirty="0">
                <a:latin typeface="Times New Roman" panose="02020603050405020304" pitchFamily="18" charset="0"/>
                <a:ea typeface="Calibri" panose="020F0502020204030204" pitchFamily="34" charset="0"/>
                <a:cs typeface="Times New Roman" panose="02020603050405020304" pitchFamily="18" charset="0"/>
              </a:rPr>
              <a:t> </a:t>
            </a: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 Восстановление кадра при q=12</a:t>
            </a:r>
          </a:p>
        </p:txBody>
      </p:sp>
      <p:pic>
        <p:nvPicPr>
          <p:cNvPr id="2" name="Рисунок 1">
            <a:extLst>
              <a:ext uri="{FF2B5EF4-FFF2-40B4-BE49-F238E27FC236}">
                <a16:creationId xmlns:a16="http://schemas.microsoft.com/office/drawing/2014/main" id="{812F1F21-5153-6DDD-7B53-805BDF7EA371}"/>
              </a:ext>
            </a:extLst>
          </p:cNvPr>
          <p:cNvPicPr>
            <a:picLocks noChangeAspect="1"/>
          </p:cNvPicPr>
          <p:nvPr/>
        </p:nvPicPr>
        <p:blipFill>
          <a:blip r:embed="rId3"/>
          <a:stretch>
            <a:fillRect/>
          </a:stretch>
        </p:blipFill>
        <p:spPr>
          <a:xfrm>
            <a:off x="6142000" y="280000"/>
            <a:ext cx="5800000" cy="3038000"/>
          </a:xfrm>
          <a:prstGeom prst="rect">
            <a:avLst/>
          </a:prstGeom>
        </p:spPr>
      </p:pic>
      <p:sp>
        <p:nvSpPr>
          <p:cNvPr id="52" name="Контент"/>
          <p:cNvSpPr txBox="1"/>
          <p:nvPr/>
        </p:nvSpPr>
        <p:spPr>
          <a:xfrm>
            <a:off x="250000" y="1250000"/>
            <a:ext cx="5650000" cy="4500000"/>
          </a:xfrm>
          <a:prstGeom prst="roundRect">
            <a:avLst>
              <a:gd name="adj" fmla="val 3500"/>
            </a:avLst>
          </a:prstGeom>
          <a:solidFill>
            <a:srgbClr val="CFE7F7"/>
          </a:solidFill>
          <a:ln>
            <a:noFill/>
          </a:ln>
          <a:effectLst>
            <a:outerShdw blurRad="40000" dist="20000" dir="5400000" rotWithShape="0">
              <a:prstClr val="black">
                <a:alpha val="18000"/>
              </a:prstClr>
            </a:outerShdw>
          </a:effectLst>
        </p:spPr>
        <p:txBody>
          <a:bodyPr lIns="200000" tIns="150000" rIns="170000" bIns="130000" anchor="ctr">
            <a:normAutofit/>
          </a:bodyPr>
          <a:lstStyle/>
          <a:p>
            <a:pPr marL="285750" indent="-285750">
              <a:spcBef>
                <a:spcPts val="0"/>
              </a:spcBef>
              <a:buFont typeface="Arial" pitchFamily="34" charset="0"/>
              <a:buChar char="•"/>
            </a:pPr>
            <a:r>
              <a:rPr lang="ru-RU" sz="1600" dirty="0">
                <a:solidFill>
                  <a:schemeClr val="tx1"/>
                </a:solidFill>
              </a:rPr>
              <a:t>Реализован собственный учебный интракадровый кодек на языке Python.</a:t>
            </a:r>
          </a:p>
          <a:p>
            <a:pPr marL="285750" indent="-285750">
              <a:spcBef>
                <a:spcPts val="600"/>
              </a:spcBef>
              <a:buFont typeface="Arial" pitchFamily="34" charset="0"/>
              <a:buChar char="•"/>
            </a:pPr>
            <a:r>
              <a:rPr lang="ru-RU" sz="1600" dirty="0">
                <a:solidFill>
                  <a:schemeClr val="tx1"/>
                </a:solidFill>
              </a:rPr>
              <a:t>Этапы: блоки 8×8 → ДКП → квантование (параметр q) → энтропийное кодирование.</a:t>
            </a:r>
          </a:p>
          <a:p>
            <a:pPr marL="285750" indent="-285750">
              <a:spcBef>
                <a:spcPts val="600"/>
              </a:spcBef>
              <a:buFont typeface="Arial" pitchFamily="34" charset="0"/>
              <a:buChar char="•"/>
            </a:pPr>
            <a:r>
              <a:rPr lang="ru-RU" sz="1600" dirty="0">
                <a:solidFill>
                  <a:schemeClr val="tx1"/>
                </a:solidFill>
              </a:rPr>
              <a:t>Рейт-дисторсионная кривая аналогична стандартным кодекам, но битрейт на порядок выше.</a:t>
            </a:r>
          </a:p>
          <a:p>
            <a:pPr marL="285750" indent="-285750">
              <a:spcBef>
                <a:spcPts val="600"/>
              </a:spcBef>
              <a:buFont typeface="Arial" pitchFamily="34" charset="0"/>
              <a:buChar char="•"/>
            </a:pPr>
            <a:r>
              <a:rPr lang="ru-RU" sz="1600" dirty="0">
                <a:solidFill>
                  <a:schemeClr val="tx1"/>
                </a:solidFill>
              </a:rPr>
              <a:t>Причина: нет межкадрового предсказания и контекстного энтропийного кодирования.</a:t>
            </a:r>
          </a:p>
          <a:p>
            <a:pPr marL="285750" indent="-285750">
              <a:spcBef>
                <a:spcPts val="600"/>
              </a:spcBef>
              <a:buFont typeface="Arial" pitchFamily="34" charset="0"/>
              <a:buChar char="•"/>
            </a:pPr>
            <a:r>
              <a:rPr lang="ru-RU" sz="1600" dirty="0">
                <a:solidFill>
                  <a:schemeClr val="tx1"/>
                </a:solidFill>
              </a:rPr>
              <a:t>Вывод: эти механизмы и обеспечивают эффективность промышленных кодеков.</a:t>
            </a:r>
          </a:p>
        </p:txBody>
      </p:sp>
      <p:sp>
        <p:nvSpPr>
          <p:cNvPr id="4" name="TextBox 3">
            <a:extLst>
              <a:ext uri="{FF2B5EF4-FFF2-40B4-BE49-F238E27FC236}">
                <a16:creationId xmlns:a16="http://schemas.microsoft.com/office/drawing/2014/main" id="{02585976-2E94-EF78-81FB-3BFE16D5F295}"/>
              </a:ext>
            </a:extLst>
          </p:cNvPr>
          <p:cNvSpPr txBox="1"/>
          <p:nvPr/>
        </p:nvSpPr>
        <p:spPr>
          <a:xfrm>
            <a:off x="6948949" y="6083761"/>
            <a:ext cx="4325064" cy="338554"/>
          </a:xfrm>
          <a:prstGeom prst="rect">
            <a:avLst/>
          </a:prstGeom>
          <a:noFill/>
        </p:spPr>
        <p:txBody>
          <a:bodyPr wrap="square">
            <a:spAutoFit/>
          </a:bodyPr>
          <a:lstStyle/>
          <a:p>
            <a:pPr algn="ctr"/>
            <a:r>
              <a:rPr lang="ru-RU" sz="1600" dirty="0"/>
              <a:t>Таблица 3. Результаты для собственного кодека</a:t>
            </a:r>
          </a:p>
        </p:txBody>
      </p:sp>
    </p:spTree>
    <p:extLst>
      <p:ext uri="{BB962C8B-B14F-4D97-AF65-F5344CB8AC3E}">
        <p14:creationId xmlns:p14="http://schemas.microsoft.com/office/powerpoint/2010/main" val="3131042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8F2FE"/>
        </a:solidFill>
        <a:effectLst/>
      </p:bgPr>
    </p:bg>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18334" y="280000"/>
            <a:ext cx="6100000" cy="820000"/>
          </a:xfrm>
          <a:solidFill>
            <a:srgbClr val="F99F89"/>
          </a:solidFill>
          <a:effectLst>
            <a:outerShdw blurRad="50800" dist="38100" dir="2700000" algn="tl" rotWithShape="0">
              <a:prstClr val="black">
                <a:alpha val="40000"/>
              </a:prstClr>
            </a:outerShdw>
            <a:softEdge rad="38100"/>
          </a:effectLst>
        </p:spPr>
        <p:txBody>
          <a:bodyPr lIns="274320">
            <a:normAutofit/>
          </a:bodyPr>
          <a:lstStyle/>
          <a:p>
            <a:pPr algn="l"/>
            <a:r>
              <a:rPr lang="ru-RU" sz="3000" b="1" dirty="0">
                <a:solidFill>
                  <a:schemeClr val="tx1">
                    <a:alpha val="80000"/>
                  </a:schemeClr>
                </a:solidFill>
              </a:rPr>
              <a:t>Исследование видеокодеков</a:t>
            </a:r>
          </a:p>
        </p:txBody>
      </p:sp>
      <p:sp>
        <p:nvSpPr>
          <p:cNvPr id="16" name="Номер"/>
          <p:cNvSpPr txBox="1"/>
          <p:nvPr/>
        </p:nvSpPr>
        <p:spPr>
          <a:xfrm>
            <a:off x="11274013" y="6164132"/>
            <a:ext cx="1014803" cy="516366"/>
          </a:xfrm>
          <a:prstGeom prst="rect">
            <a:avLst/>
          </a:prstGeom>
          <a:solidFill>
            <a:srgbClr val="A0DBED"/>
          </a:solidFill>
          <a:effectLst>
            <a:outerShdw blurRad="50800" dist="38100" dir="8100000" algn="tr" rotWithShape="0">
              <a:prstClr val="black">
                <a:alpha val="40000"/>
              </a:prstClr>
            </a:outerShdw>
            <a:softEdge rad="38100"/>
          </a:effectLst>
        </p:spPr>
        <p:txBody>
          <a:bodyPr vert="horz" lIns="274320" tIns="45720" rIns="91440" bIns="45720" rtlCol="0" anchor="ctr">
            <a:normAutofit/>
          </a:bodyPr>
          <a:lstStyle/>
          <a:p>
            <a:pPr algn="ctr"/>
            <a:r>
              <a:rPr lang="ru-RU" sz="1600" dirty="0">
                <a:solidFill>
                  <a:schemeClr val="tx1">
                    <a:alpha val="80000"/>
                  </a:schemeClr>
                </a:solidFill>
              </a:rPr>
              <a:t>13/16</a:t>
            </a:r>
          </a:p>
        </p:txBody>
      </p:sp>
      <p:pic>
        <p:nvPicPr>
          <p:cNvPr id="5" name="Таблица CRF">
            <a:extLst>
              <a:ext uri="{FF2B5EF4-FFF2-40B4-BE49-F238E27FC236}">
                <a16:creationId xmlns:a16="http://schemas.microsoft.com/office/drawing/2014/main" id="{DBD903DC-8A21-3C91-F7AA-BF33E2932419}"/>
              </a:ext>
            </a:extLst>
          </p:cNvPr>
          <p:cNvPicPr>
            <a:picLocks noChangeAspect="1"/>
          </p:cNvPicPr>
          <p:nvPr/>
        </p:nvPicPr>
        <p:blipFill>
          <a:blip r:embed="rId3"/>
          <a:stretch>
            <a:fillRect/>
          </a:stretch>
        </p:blipFill>
        <p:spPr>
          <a:xfrm>
            <a:off x="1411000" y="1137514"/>
            <a:ext cx="4335000" cy="3850000"/>
          </a:xfrm>
          <a:prstGeom prst="rect">
            <a:avLst/>
          </a:prstGeom>
        </p:spPr>
      </p:pic>
      <p:pic>
        <p:nvPicPr>
          <p:cNvPr id="6" name="Таблица ABR">
            <a:extLst>
              <a:ext uri="{FF2B5EF4-FFF2-40B4-BE49-F238E27FC236}">
                <a16:creationId xmlns:a16="http://schemas.microsoft.com/office/drawing/2014/main" id="{5D1B8463-95AB-595D-FDAF-354BB8B6E518}"/>
              </a:ext>
            </a:extLst>
          </p:cNvPr>
          <p:cNvPicPr>
            <a:picLocks noChangeAspect="1"/>
          </p:cNvPicPr>
          <p:nvPr/>
        </p:nvPicPr>
        <p:blipFill>
          <a:blip r:embed="rId4"/>
          <a:stretch>
            <a:fillRect/>
          </a:stretch>
        </p:blipFill>
        <p:spPr>
          <a:xfrm>
            <a:off x="6446000" y="1100000"/>
            <a:ext cx="4335000" cy="3850000"/>
          </a:xfrm>
          <a:prstGeom prst="rect">
            <a:avLst/>
          </a:prstGeom>
        </p:spPr>
      </p:pic>
      <p:sp>
        <p:nvSpPr>
          <p:cNvPr id="7" name="Карточка">
            <a:extLst>
              <a:ext uri="{FF2B5EF4-FFF2-40B4-BE49-F238E27FC236}">
                <a16:creationId xmlns:a16="http://schemas.microsoft.com/office/drawing/2014/main" id="{AEF8FEF8-70B7-A53A-03CA-C7D5F520C2A0}"/>
              </a:ext>
            </a:extLst>
          </p:cNvPr>
          <p:cNvSpPr/>
          <p:nvPr/>
        </p:nvSpPr>
        <p:spPr>
          <a:xfrm>
            <a:off x="1411000" y="5340000"/>
            <a:ext cx="4335000" cy="720000"/>
          </a:xfrm>
          <a:prstGeom prst="roundRect">
            <a:avLst>
              <a:gd name="adj" fmla="val 6000"/>
            </a:avLst>
          </a:prstGeom>
          <a:solidFill>
            <a:srgbClr val="FFFFFF"/>
          </a:solidFill>
          <a:ln w="9525">
            <a:solidFill>
              <a:srgbClr val="A0DBED"/>
            </a:solidFill>
          </a:ln>
          <a:effectLst>
            <a:outerShdw blurRad="40000" dist="20000" dir="5400000" rotWithShape="0">
              <a:prstClr val="black">
                <a:alpha val="15000"/>
              </a:prstClr>
            </a:outerShdw>
          </a:effectLst>
        </p:spPr>
        <p:txBody>
          <a:bodyPr/>
          <a:lstStyle/>
          <a:p>
            <a:endParaRPr lang="ru-RU"/>
          </a:p>
        </p:txBody>
      </p:sp>
      <p:pic>
        <p:nvPicPr>
          <p:cNvPr id="8" name="PSNR">
            <a:extLst>
              <a:ext uri="{FF2B5EF4-FFF2-40B4-BE49-F238E27FC236}">
                <a16:creationId xmlns:a16="http://schemas.microsoft.com/office/drawing/2014/main" id="{76EB475B-FE4D-3FBC-F079-2DF61BC7592D}"/>
              </a:ext>
            </a:extLst>
          </p:cNvPr>
          <p:cNvPicPr>
            <a:picLocks noChangeAspect="1"/>
          </p:cNvPicPr>
          <p:nvPr/>
        </p:nvPicPr>
        <p:blipFill>
          <a:blip r:embed="rId5"/>
          <a:stretch>
            <a:fillRect/>
          </a:stretch>
        </p:blipFill>
        <p:spPr>
          <a:xfrm>
            <a:off x="1728500" y="5465000"/>
            <a:ext cx="3700000" cy="470000"/>
          </a:xfrm>
          <a:prstGeom prst="rect">
            <a:avLst/>
          </a:prstGeom>
        </p:spPr>
      </p:pic>
      <p:sp>
        <p:nvSpPr>
          <p:cNvPr id="9" name="Карточка">
            <a:extLst>
              <a:ext uri="{FF2B5EF4-FFF2-40B4-BE49-F238E27FC236}">
                <a16:creationId xmlns:a16="http://schemas.microsoft.com/office/drawing/2014/main" id="{E93E77C2-9DDB-D773-B5CA-AE94B7CC5E01}"/>
              </a:ext>
            </a:extLst>
          </p:cNvPr>
          <p:cNvSpPr/>
          <p:nvPr/>
        </p:nvSpPr>
        <p:spPr>
          <a:xfrm>
            <a:off x="6446000" y="5340000"/>
            <a:ext cx="4335000" cy="720000"/>
          </a:xfrm>
          <a:prstGeom prst="roundRect">
            <a:avLst>
              <a:gd name="adj" fmla="val 6000"/>
            </a:avLst>
          </a:prstGeom>
          <a:solidFill>
            <a:srgbClr val="FFFFFF"/>
          </a:solidFill>
          <a:ln w="9525">
            <a:solidFill>
              <a:srgbClr val="A0DBED"/>
            </a:solidFill>
          </a:ln>
          <a:effectLst>
            <a:outerShdw blurRad="40000" dist="20000" dir="5400000" rotWithShape="0">
              <a:prstClr val="black">
                <a:alpha val="15000"/>
              </a:prstClr>
            </a:outerShdw>
          </a:effectLst>
        </p:spPr>
        <p:txBody>
          <a:bodyPr/>
          <a:lstStyle/>
          <a:p>
            <a:endParaRPr lang="ru-RU"/>
          </a:p>
        </p:txBody>
      </p:sp>
      <p:pic>
        <p:nvPicPr>
          <p:cNvPr id="10" name="SSIM">
            <a:extLst>
              <a:ext uri="{FF2B5EF4-FFF2-40B4-BE49-F238E27FC236}">
                <a16:creationId xmlns:a16="http://schemas.microsoft.com/office/drawing/2014/main" id="{A616B173-1005-4360-56CA-1F767745E3A4}"/>
              </a:ext>
            </a:extLst>
          </p:cNvPr>
          <p:cNvPicPr>
            <a:picLocks noChangeAspect="1"/>
          </p:cNvPicPr>
          <p:nvPr/>
        </p:nvPicPr>
        <p:blipFill>
          <a:blip r:embed="rId6"/>
          <a:stretch>
            <a:fillRect/>
          </a:stretch>
        </p:blipFill>
        <p:spPr>
          <a:xfrm>
            <a:off x="6763500" y="5401600"/>
            <a:ext cx="3700000" cy="596800"/>
          </a:xfrm>
          <a:prstGeom prst="rect">
            <a:avLst/>
          </a:prstGeom>
        </p:spPr>
      </p:pic>
      <p:sp>
        <p:nvSpPr>
          <p:cNvPr id="11" name="TextBox 10">
            <a:extLst>
              <a:ext uri="{FF2B5EF4-FFF2-40B4-BE49-F238E27FC236}">
                <a16:creationId xmlns:a16="http://schemas.microsoft.com/office/drawing/2014/main" id="{686E28DC-DE6A-4863-EDE0-3325F247015F}"/>
              </a:ext>
            </a:extLst>
          </p:cNvPr>
          <p:cNvSpPr txBox="1"/>
          <p:nvPr/>
        </p:nvSpPr>
        <p:spPr>
          <a:xfrm>
            <a:off x="1420936" y="5014189"/>
            <a:ext cx="4325064" cy="338554"/>
          </a:xfrm>
          <a:prstGeom prst="rect">
            <a:avLst/>
          </a:prstGeom>
          <a:noFill/>
        </p:spPr>
        <p:txBody>
          <a:bodyPr wrap="square">
            <a:spAutoFit/>
          </a:bodyPr>
          <a:lstStyle/>
          <a:p>
            <a:pPr algn="ctr"/>
            <a:r>
              <a:rPr lang="ru-RU" sz="1600" dirty="0"/>
              <a:t>Таблица </a:t>
            </a:r>
            <a:r>
              <a:rPr lang="en-US" sz="1600" dirty="0"/>
              <a:t>1</a:t>
            </a:r>
            <a:r>
              <a:rPr lang="ru-RU" sz="1600" dirty="0"/>
              <a:t>. Результаты при изменении </a:t>
            </a:r>
            <a:r>
              <a:rPr lang="en-US" sz="1600" dirty="0"/>
              <a:t>CRF</a:t>
            </a:r>
            <a:endParaRPr lang="ru-RU" sz="1600" dirty="0"/>
          </a:p>
        </p:txBody>
      </p:sp>
      <p:sp>
        <p:nvSpPr>
          <p:cNvPr id="12" name="TextBox 11">
            <a:extLst>
              <a:ext uri="{FF2B5EF4-FFF2-40B4-BE49-F238E27FC236}">
                <a16:creationId xmlns:a16="http://schemas.microsoft.com/office/drawing/2014/main" id="{F93EFD76-63BB-B6E9-17DF-7DC5E5B463CD}"/>
              </a:ext>
            </a:extLst>
          </p:cNvPr>
          <p:cNvSpPr txBox="1"/>
          <p:nvPr/>
        </p:nvSpPr>
        <p:spPr>
          <a:xfrm>
            <a:off x="6486481" y="5014189"/>
            <a:ext cx="4325064" cy="338554"/>
          </a:xfrm>
          <a:prstGeom prst="rect">
            <a:avLst/>
          </a:prstGeom>
          <a:noFill/>
        </p:spPr>
        <p:txBody>
          <a:bodyPr wrap="square">
            <a:spAutoFit/>
          </a:bodyPr>
          <a:lstStyle/>
          <a:p>
            <a:pPr algn="ctr"/>
            <a:r>
              <a:rPr lang="ru-RU" sz="1600" dirty="0"/>
              <a:t>Таблица </a:t>
            </a:r>
            <a:r>
              <a:rPr lang="en-US" sz="1600" dirty="0"/>
              <a:t>2</a:t>
            </a:r>
            <a:r>
              <a:rPr lang="ru-RU" sz="1600" dirty="0"/>
              <a:t>. Результаты при изменении битрейта</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8F2FE"/>
        </a:solidFill>
        <a:effectLst/>
      </p:bgPr>
    </p:bg>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18334" y="301214"/>
            <a:ext cx="5365248" cy="688489"/>
          </a:xfrm>
          <a:solidFill>
            <a:srgbClr val="F99F89"/>
          </a:solidFill>
          <a:effectLst>
            <a:outerShdw blurRad="50800" dist="38100" dir="2700000" algn="tl" rotWithShape="0">
              <a:prstClr val="black">
                <a:alpha val="40000"/>
              </a:prstClr>
            </a:outerShdw>
            <a:softEdge rad="38100"/>
          </a:effectLst>
        </p:spPr>
        <p:txBody>
          <a:bodyPr lIns="274320">
            <a:normAutofit/>
          </a:bodyPr>
          <a:lstStyle/>
          <a:p>
            <a:pPr algn="l"/>
            <a:r>
              <a:rPr lang="ru-RU" sz="4000" b="1" dirty="0">
                <a:solidFill>
                  <a:schemeClr val="tx1">
                    <a:alpha val="80000"/>
                  </a:schemeClr>
                </a:solidFill>
              </a:rPr>
              <a:t>Демонстрация работы</a:t>
            </a:r>
          </a:p>
        </p:txBody>
      </p:sp>
      <p:sp>
        <p:nvSpPr>
          <p:cNvPr id="16" name="Подзаголовок 2"/>
          <p:cNvSpPr txBox="1">
            <a:spLocks/>
          </p:cNvSpPr>
          <p:nvPr/>
        </p:nvSpPr>
        <p:spPr>
          <a:xfrm>
            <a:off x="11274013" y="6164132"/>
            <a:ext cx="1014803" cy="516366"/>
          </a:xfrm>
          <a:prstGeom prst="rect">
            <a:avLst/>
          </a:prstGeom>
          <a:solidFill>
            <a:srgbClr val="A0DBED"/>
          </a:solidFill>
          <a:effectLst>
            <a:outerShdw blurRad="50800" dist="38100" dir="8100000" algn="tr" rotWithShape="0">
              <a:prstClr val="black">
                <a:alpha val="40000"/>
              </a:prstClr>
            </a:outerShdw>
            <a:softEdge rad="38100"/>
          </a:effectLst>
        </p:spPr>
        <p:txBody>
          <a:bodyPr vert="horz" lIns="27432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ru-RU" sz="1600" dirty="0">
                <a:solidFill>
                  <a:schemeClr val="tx1">
                    <a:alpha val="80000"/>
                  </a:schemeClr>
                </a:solidFill>
              </a:rPr>
              <a:t>15/16</a:t>
            </a:r>
          </a:p>
        </p:txBody>
      </p:sp>
      <p:pic>
        <p:nvPicPr>
          <p:cNvPr id="7" name="Запись экрана 6">
            <a:hlinkClick r:id="" action="ppaction://media"/>
            <a:extLst>
              <a:ext uri="{FF2B5EF4-FFF2-40B4-BE49-F238E27FC236}">
                <a16:creationId xmlns:a16="http://schemas.microsoft.com/office/drawing/2014/main" id="{365FF28D-7E56-06B3-7457-374CE9F30E4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0763" y="1107274"/>
            <a:ext cx="11310474" cy="4861442"/>
          </a:xfrm>
          <a:prstGeom prst="rect">
            <a:avLst/>
          </a:prstGeom>
        </p:spPr>
      </p:pic>
    </p:spTree>
    <p:extLst>
      <p:ext uri="{BB962C8B-B14F-4D97-AF65-F5344CB8AC3E}">
        <p14:creationId xmlns:p14="http://schemas.microsoft.com/office/powerpoint/2010/main" val="1426274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3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8F2FE"/>
        </a:solidFill>
        <a:effectLst/>
      </p:bgPr>
    </p:bg>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18334" y="301214"/>
            <a:ext cx="3122791" cy="688489"/>
          </a:xfrm>
          <a:solidFill>
            <a:srgbClr val="F99F89"/>
          </a:solidFill>
          <a:effectLst>
            <a:outerShdw blurRad="50800" dist="38100" dir="2700000" algn="tl" rotWithShape="0">
              <a:prstClr val="black">
                <a:alpha val="40000"/>
              </a:prstClr>
            </a:outerShdw>
            <a:softEdge rad="38100"/>
          </a:effectLst>
        </p:spPr>
        <p:txBody>
          <a:bodyPr lIns="274320">
            <a:normAutofit/>
          </a:bodyPr>
          <a:lstStyle/>
          <a:p>
            <a:pPr algn="l"/>
            <a:r>
              <a:rPr lang="ru-RU" sz="4000" b="1" dirty="0">
                <a:solidFill>
                  <a:schemeClr val="tx1">
                    <a:alpha val="80000"/>
                  </a:schemeClr>
                </a:solidFill>
              </a:rPr>
              <a:t>Заключение</a:t>
            </a:r>
          </a:p>
        </p:txBody>
      </p:sp>
      <p:sp>
        <p:nvSpPr>
          <p:cNvPr id="5" name="TextBox 4"/>
          <p:cNvSpPr txBox="1"/>
          <p:nvPr/>
        </p:nvSpPr>
        <p:spPr>
          <a:xfrm>
            <a:off x="762195" y="2401802"/>
            <a:ext cx="10615953" cy="4154984"/>
          </a:xfrm>
          <a:prstGeom prst="rect">
            <a:avLst/>
          </a:prstGeom>
          <a:solidFill>
            <a:srgbClr val="BCD9FC"/>
          </a:solidFill>
          <a:effectLst>
            <a:outerShdw blurRad="50800" dist="38100" dir="2700000" algn="tl" rotWithShape="0">
              <a:prstClr val="black">
                <a:alpha val="40000"/>
              </a:prstClr>
            </a:outerShdw>
            <a:softEdge rad="31750"/>
          </a:effectLst>
        </p:spPr>
        <p:txBody>
          <a:bodyPr wrap="square" rtlCol="0">
            <a:spAutoFit/>
          </a:bodyPr>
          <a:lstStyle/>
          <a:p>
            <a:pPr algn="just"/>
            <a:r>
              <a:rPr lang="ru-RU" sz="2400" dirty="0">
                <a:solidFill>
                  <a:schemeClr val="tx1">
                    <a:alpha val="70000"/>
                  </a:schemeClr>
                </a:solidFill>
              </a:rPr>
              <a:t>Для достижения цели были решены следующие задачи:</a:t>
            </a:r>
          </a:p>
          <a:p>
            <a:pPr algn="just"/>
            <a:r>
              <a:rPr lang="ru-RU" sz="2400" dirty="0">
                <a:solidFill>
                  <a:schemeClr val="tx1">
                    <a:alpha val="70000"/>
                  </a:schemeClr>
                </a:solidFill>
              </a:rPr>
              <a:t>1.   Проведён анализ современных образовательных платформ и их требований;</a:t>
            </a:r>
          </a:p>
          <a:p>
            <a:pPr marL="457200" indent="-457200" algn="just">
              <a:buAutoNum type="arabicPeriod" startAt="2"/>
            </a:pPr>
            <a:r>
              <a:rPr lang="ru-RU" sz="2400" dirty="0">
                <a:solidFill>
                  <a:schemeClr val="tx1">
                    <a:alpha val="70000"/>
                  </a:schemeClr>
                </a:solidFill>
              </a:rPr>
              <a:t>Исследованы подходы к аутентификации, авторизации и управлению доступом;</a:t>
            </a:r>
          </a:p>
          <a:p>
            <a:pPr marL="457200" indent="-457200" algn="just">
              <a:buFontTx/>
              <a:buAutoNum type="arabicPeriod" startAt="2"/>
            </a:pPr>
            <a:r>
              <a:rPr lang="ru-RU" sz="2400" dirty="0">
                <a:solidFill>
                  <a:schemeClr val="tx1">
                    <a:alpha val="70000"/>
                  </a:schemeClr>
                </a:solidFill>
              </a:rPr>
              <a:t>Реализована собственная система авторизации и разграничения прав       доступа</a:t>
            </a:r>
            <a:r>
              <a:rPr lang="en-US" sz="2400" dirty="0">
                <a:solidFill>
                  <a:schemeClr val="tx1">
                    <a:alpha val="70000"/>
                  </a:schemeClr>
                </a:solidFill>
              </a:rPr>
              <a:t>;</a:t>
            </a:r>
            <a:endParaRPr lang="ru-RU" sz="2400" dirty="0">
              <a:solidFill>
                <a:schemeClr val="tx1">
                  <a:alpha val="70000"/>
                </a:schemeClr>
              </a:solidFill>
            </a:endParaRPr>
          </a:p>
          <a:p>
            <a:pPr marL="457200" indent="-457200" algn="just">
              <a:buAutoNum type="arabicPeriod" startAt="4"/>
            </a:pPr>
            <a:r>
              <a:rPr lang="ru-RU" sz="2400" dirty="0">
                <a:solidFill>
                  <a:schemeClr val="tx1">
                    <a:alpha val="70000"/>
                  </a:schemeClr>
                </a:solidFill>
              </a:rPr>
              <a:t>Спроектирован и разработан основной функционал цифровой платформы;</a:t>
            </a:r>
          </a:p>
          <a:p>
            <a:pPr marL="457200" indent="-457200" algn="just">
              <a:buFontTx/>
              <a:buAutoNum type="arabicPeriod" startAt="4"/>
            </a:pPr>
            <a:r>
              <a:rPr lang="ru-RU" sz="2400" dirty="0">
                <a:solidFill>
                  <a:schemeClr val="tx1">
                    <a:alpha val="70000"/>
                  </a:schemeClr>
                </a:solidFill>
              </a:rPr>
              <a:t>Реализована интеграция библиотек и модулей для реализации обработки видео;</a:t>
            </a:r>
          </a:p>
          <a:p>
            <a:pPr marL="457200" indent="-457200" algn="just">
              <a:buFontTx/>
              <a:buAutoNum type="arabicPeriod" startAt="4"/>
            </a:pPr>
            <a:r>
              <a:rPr lang="ru-RU" sz="2400" dirty="0">
                <a:solidFill>
                  <a:schemeClr val="tx1">
                    <a:alpha val="70000"/>
                  </a:schemeClr>
                </a:solidFill>
              </a:rPr>
              <a:t>Спроектирован и реализован пользовательский интерфейс.</a:t>
            </a:r>
          </a:p>
        </p:txBody>
      </p:sp>
      <p:sp>
        <p:nvSpPr>
          <p:cNvPr id="16" name="Подзаголовок 2"/>
          <p:cNvSpPr txBox="1">
            <a:spLocks/>
          </p:cNvSpPr>
          <p:nvPr/>
        </p:nvSpPr>
        <p:spPr>
          <a:xfrm>
            <a:off x="11274013" y="6164132"/>
            <a:ext cx="1014803" cy="516366"/>
          </a:xfrm>
          <a:prstGeom prst="rect">
            <a:avLst/>
          </a:prstGeom>
          <a:solidFill>
            <a:srgbClr val="A0DBED"/>
          </a:solidFill>
          <a:effectLst>
            <a:outerShdw blurRad="50800" dist="38100" dir="8100000" algn="tr" rotWithShape="0">
              <a:prstClr val="black">
                <a:alpha val="40000"/>
              </a:prstClr>
            </a:outerShdw>
            <a:softEdge rad="38100"/>
          </a:effectLst>
        </p:spPr>
        <p:txBody>
          <a:bodyPr vert="horz" lIns="27432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ru-RU" sz="1600" dirty="0">
                <a:solidFill>
                  <a:schemeClr val="tx1">
                    <a:alpha val="80000"/>
                  </a:schemeClr>
                </a:solidFill>
              </a:rPr>
              <a:t>16/16</a:t>
            </a:r>
          </a:p>
        </p:txBody>
      </p:sp>
      <p:sp>
        <p:nvSpPr>
          <p:cNvPr id="18" name="TextBox 17"/>
          <p:cNvSpPr txBox="1"/>
          <p:nvPr/>
        </p:nvSpPr>
        <p:spPr>
          <a:xfrm>
            <a:off x="762195" y="1044207"/>
            <a:ext cx="10615953" cy="1200329"/>
          </a:xfrm>
          <a:prstGeom prst="rect">
            <a:avLst/>
          </a:prstGeom>
          <a:solidFill>
            <a:srgbClr val="BCD9FC"/>
          </a:solidFill>
          <a:effectLst>
            <a:outerShdw blurRad="50800" dist="38100" dir="2700000" algn="tl" rotWithShape="0">
              <a:prstClr val="black">
                <a:alpha val="40000"/>
              </a:prstClr>
            </a:outerShdw>
            <a:softEdge rad="31750"/>
          </a:effectLst>
        </p:spPr>
        <p:txBody>
          <a:bodyPr wrap="square" rtlCol="0">
            <a:spAutoFit/>
          </a:bodyPr>
          <a:lstStyle/>
          <a:p>
            <a:pPr algn="just"/>
            <a:r>
              <a:rPr lang="ru-RU" sz="2400" dirty="0">
                <a:solidFill>
                  <a:schemeClr val="tx1">
                    <a:alpha val="70000"/>
                  </a:schemeClr>
                </a:solidFill>
              </a:rPr>
              <a:t>В ходе выполнения работы было разработано веб-приложение, реализующее безопасную цифровую образовательную платформу для онлайн-курсов с гибким функционалом.</a:t>
            </a:r>
            <a:endParaRPr lang="ru-RU" sz="500" dirty="0">
              <a:solidFill>
                <a:schemeClr val="tx1">
                  <a:alpha val="70000"/>
                </a:schemeClr>
              </a:solidFill>
            </a:endParaRPr>
          </a:p>
        </p:txBody>
      </p:sp>
    </p:spTree>
    <p:extLst>
      <p:ext uri="{BB962C8B-B14F-4D97-AF65-F5344CB8AC3E}">
        <p14:creationId xmlns:p14="http://schemas.microsoft.com/office/powerpoint/2010/main" val="238700283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4842</TotalTime>
  <Words>2390</Words>
  <Application>Microsoft Office PowerPoint</Application>
  <PresentationFormat>Широкоэкранный</PresentationFormat>
  <Paragraphs>181</Paragraphs>
  <Slides>16</Slides>
  <Notes>16</Notes>
  <HiddenSlides>0</HiddenSlides>
  <MMClips>1</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16</vt:i4>
      </vt:variant>
    </vt:vector>
  </HeadingPairs>
  <TitlesOfParts>
    <vt:vector size="21" baseType="lpstr">
      <vt:lpstr>Arial</vt:lpstr>
      <vt:lpstr>Calibri</vt:lpstr>
      <vt:lpstr>Calibri Light</vt:lpstr>
      <vt:lpstr>Times New Roman</vt:lpstr>
      <vt:lpstr>Тема Office</vt:lpstr>
      <vt:lpstr>Разработка образовательной платформы с курсами</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Учетная запись Майкрософт</dc:creator>
  <cp:lastModifiedBy>admin</cp:lastModifiedBy>
  <cp:revision>124</cp:revision>
  <dcterms:created xsi:type="dcterms:W3CDTF">2024-12-23T13:04:42Z</dcterms:created>
  <dcterms:modified xsi:type="dcterms:W3CDTF">2026-06-07T12:32:58Z</dcterms:modified>
</cp:coreProperties>
</file>