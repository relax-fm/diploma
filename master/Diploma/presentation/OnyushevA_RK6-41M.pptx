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9" r:id="rId4"/>
    <p:sldId id="258" r:id="rId5"/>
    <p:sldId id="269" r:id="rId6"/>
    <p:sldId id="260" r:id="rId7"/>
    <p:sldId id="261" r:id="rId8"/>
    <p:sldId id="263" r:id="rId9"/>
    <p:sldId id="262" r:id="rId10"/>
    <p:sldId id="270" r:id="rId11"/>
    <p:sldId id="264" r:id="rId12"/>
    <p:sldId id="273" r:id="rId13"/>
    <p:sldId id="266" r:id="rId14"/>
    <p:sldId id="267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DBED"/>
    <a:srgbClr val="BCD9FC"/>
    <a:srgbClr val="F99F89"/>
    <a:srgbClr val="E8F2FE"/>
    <a:srgbClr val="D7E8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9811" autoAdjust="0"/>
  </p:normalViewPr>
  <p:slideViewPr>
    <p:cSldViewPr snapToGrid="0">
      <p:cViewPr varScale="1">
        <p:scale>
          <a:sx n="88" d="100"/>
          <a:sy n="88" d="100"/>
        </p:scale>
        <p:origin x="14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3CFF3B-98A7-41B4-A722-42506241E61D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1836F-937A-4711-805F-7618927E71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298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уважаемые члены комиссии, хочу представить вашему вниманию свою выпускную квалификационную работу на тему «</a:t>
            </a:r>
            <a:r>
              <a:rPr lang="ru-RU" sz="1800" b="1" i="1" dirty="0"/>
              <a:t>Исследование и разработка образовательной платформы с курсами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»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107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вы можете увидеть основные определения, использованные в моей выпускной работе.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235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ru-RU" dirty="0"/>
              <a:t>В современном мире технологии дополненной реальности (AR) и искусственного интеллекта (AI) находят широкое применение в различных сферах, включая искусство. Виртуальные галереи становятся эффективным инструментом, обеспечивающим доступ к произведениям искусства независимо от географического положения, что делает их популярными среди художников и зрителей.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Актуальность исследования обусловлена следующими факторами: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стремительное развитие и популяризация технологий AR и AI, их интеграция в приложения и веб-платформы;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использование AI для обогащения пользовательского опыта посредством интеллектуальных рекомендаций и аналитических комментариев, что поддерживает как начинающих, так и опытных художников;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применение AR для интерактивного взаимодействия с произведениями искусства, повышающее вовлеченность и интерес аудитории;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ru-RU" dirty="0"/>
              <a:t> расширение доступности инструментов для создания современного искусства, что способствует росту числа авторов и популяризации данной сферы.</a:t>
            </a: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endParaRPr lang="en-US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Перед реализацией данного проекта была поставлена цель - </a:t>
            </a:r>
            <a:r>
              <a:rPr lang="ru-RU" sz="1200" dirty="0">
                <a:solidFill>
                  <a:schemeClr val="tx1">
                    <a:alpha val="70000"/>
                  </a:schemeClr>
                </a:solidFill>
              </a:rPr>
              <a:t>разработка веб-приложения, которое сочетает в себе функции дополненной реальности и искусственного интеллекта для художников, работающих в направлении современного искусства.</a:t>
            </a:r>
            <a:endParaRPr lang="en-US" sz="1200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ru-RU" dirty="0"/>
              <a:t>Для достижения данной цели были поставлены следующие задачи:</a:t>
            </a: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обзор существующих технологий в области AR, AI и их применения в искусстве;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пользовательский интерфейс (UI), учитывающий как AR, так и AI-функциональность;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Интегрировать библиотеки и модули для реализации картографической части приложения;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работу GPT-ассистента, способного отвечать на запросы пользователей, используя заранее заданные профессиональные настройки;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методы взаимодействия пользователя с цифровым контентом в AR и AI-режиме;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обзор существующих систем управления подписками и выбрать одну из них для внедрения в приложение.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37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 рис.3 представлена архитектурная схема приложения. Оно делится на две обособленные части: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AR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-часть, отвечающая за дополненную реальность и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AI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-часть, отвечающая за обработку запросов искусственным интеллектом.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AR-компонент разрабатывался с использованием платформы 8th Wall и фреймворка A-Frame. Он отвечает за визуализацию галереи и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геопривязку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произведений искусства. Хостинг данного модуля осуществляется через инфраструктуру 8th Wall, что упрощает интеграцию с камерами мобильных устройств и расширяет кроссплатформенность.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AI-компонент построен на стеке Next.js,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TypeScript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React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размещён на платформе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Vercel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Он обеспечивает доступ к функциональности GPT-ассистента, управление подписками, авторизацию пользователей, хранение и обработку данных. Между двумя компонентами отсутствует прямая техническая интеграция, однако реализован переход по ссылке, обеспечивающий логическую связность и плавную навигацию между AR- и AI-модулями.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ru-RU" dirty="0"/>
          </a:p>
          <a:p>
            <a:pPr marL="0" lvl="0" indent="0" algn="l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None/>
            </a:pPr>
            <a:r>
              <a:rPr lang="ru-RU" dirty="0"/>
              <a:t>В </a:t>
            </a:r>
            <a:r>
              <a:rPr lang="en-US" dirty="0"/>
              <a:t>AI-</a:t>
            </a:r>
            <a:r>
              <a:rPr lang="ru-RU" dirty="0"/>
              <a:t>компоненте в бэкенде происходят обращения к следующим системам:</a:t>
            </a:r>
          </a:p>
          <a:p>
            <a:pPr marL="285750" lvl="0" indent="-285750" algn="l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OpenAI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API — генерация ответов с использованием модели GPT-4o-mini;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Supabase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— хранилище данных, а также источник информации о пользователях, тарифах и лимитах;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Twitter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API — используется для авторизации пользователей;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Stripe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— платёжная система, интегрированная с 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Supabase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и обеспечивающая тарификацию.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036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ru-RU" dirty="0"/>
              <a:t>Протокол </a:t>
            </a:r>
            <a:r>
              <a:rPr lang="ru-RU" dirty="0" err="1"/>
              <a:t>OAuth</a:t>
            </a:r>
            <a:r>
              <a:rPr lang="ru-RU" dirty="0"/>
              <a:t> 2.0 предлагает стандартизированный механизм авторизации, обеспечивающий интеграцию с внешними сервисами. Он позволяет пользователям предоставлять приложению доступ к определённым данным или функциям своего аккаунта (логины, пароли) без их прямой передачи.</a:t>
            </a:r>
          </a:p>
          <a:p>
            <a:pPr rtl="0"/>
            <a:r>
              <a:rPr lang="ru-RU" dirty="0"/>
              <a:t>На схеме представлен процесс: пользователь запрашивает доступ через </a:t>
            </a:r>
            <a:r>
              <a:rPr lang="ru-RU" dirty="0" err="1"/>
              <a:t>Twitter</a:t>
            </a:r>
            <a:r>
              <a:rPr lang="ru-RU" dirty="0"/>
              <a:t>-сервер, получает токен доступа, а приложение использует его для обращения к API </a:t>
            </a:r>
            <a:r>
              <a:rPr lang="ru-RU" dirty="0" err="1"/>
              <a:t>Twitter</a:t>
            </a:r>
            <a:r>
              <a:rPr lang="ru-RU" dirty="0"/>
              <a:t>. Если токен отсутствует или недействителен, запрос либо отклоняется и пользователь возвращается на нашу страницу авторизации.</a:t>
            </a:r>
          </a:p>
          <a:p>
            <a:pPr rtl="0"/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PKCE – proof key for code exchange</a:t>
            </a:r>
            <a:endParaRPr lang="ru-RU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00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16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ru-RU" sz="4000" dirty="0"/>
              <a:t>Рассказать про </a:t>
            </a:r>
            <a:r>
              <a:rPr lang="ru-RU" sz="4000" dirty="0" err="1"/>
              <a:t>неймспейс:объект</a:t>
            </a:r>
            <a:r>
              <a:rPr lang="en-US" sz="4000" dirty="0"/>
              <a:t>#</a:t>
            </a:r>
            <a:r>
              <a:rPr lang="ru-RU" sz="4000" dirty="0"/>
              <a:t>отношение</a:t>
            </a:r>
            <a:r>
              <a:rPr lang="en-US" sz="4000" dirty="0"/>
              <a:t>@</a:t>
            </a:r>
            <a:r>
              <a:rPr lang="ru-RU" sz="4000" dirty="0" err="1"/>
              <a:t>неймспейс:объект</a:t>
            </a:r>
            <a:endParaRPr lang="ru-RU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92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79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Проекционная матрица.</a:t>
            </a: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Проекционные матрицы играют ключевую роль в компьютерной графике и виртуальной реальности, включая фреймворк A-Frame. Они отвечают за преобразование трёхмерных (3D) координат объектов в двухмерные (2D) координаты экрана, что позволяет отображать 3D-сцены на 2D-устройствах, таких как мониторы или VR-гарнитуры.</a:t>
            </a: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Основные задачи проекционных матриц: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Создание перспективы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поля зрения (FOV): Контроль за углом обзора камеры, влияющим на восприятие сцены.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Управление аспектным соотношением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Настройка ближней и дальней плоскостей отсечения: Определение диапазона расстояний, в котором объекты будут отображаться, что влияет на производительность и визуальное качество.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  <a:tabLst>
                <a:tab pos="2125980" algn="l"/>
              </a:tabLst>
            </a:pP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Компоненты матрицы:</a:t>
            </a:r>
            <a:endParaRPr lang="en-US" sz="18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Первая строка: Контролирует масштабирование по оси X с учётом поля зрения и аспектного соотношения.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Вторая строка: Контролирует масштабирование по оси Y с учётом поля зрения.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Третья строка: Определяет, как глубина (ось Z) преобразуется для управления видимостью объектов.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tabLst>
                <a:tab pos="21259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Четвёртая строка: Используется для проектирования перспективы, создавая зависимость координаты Z от координаты W.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None/>
              <a:tabLst>
                <a:tab pos="2125980" algn="l"/>
              </a:tabLs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528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Рассказать про видеоплеер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75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044F-8FB1-7EC4-7763-0D03FCD6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AAE65-15A2-1F76-326F-EAA49C2AC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4A733B-E5E1-C9F5-AEA7-1B0D1084F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Рассказать про видеоплеер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7B92-EC61-C61F-E3ED-B364341352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69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545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образом, было разработано веб-приложение, сочетающее в себе </a:t>
            </a:r>
            <a:r>
              <a:rPr lang="en-US" dirty="0"/>
              <a:t>AR </a:t>
            </a:r>
            <a:r>
              <a:rPr lang="ru-RU" dirty="0"/>
              <a:t>и </a:t>
            </a:r>
            <a:r>
              <a:rPr lang="en-US" dirty="0"/>
              <a:t>AI </a:t>
            </a:r>
            <a:r>
              <a:rPr lang="ru-RU" dirty="0"/>
              <a:t>функционал для художников.</a:t>
            </a:r>
          </a:p>
          <a:p>
            <a:endParaRPr lang="ru-RU" dirty="0"/>
          </a:p>
          <a:p>
            <a:r>
              <a:rPr lang="ru-RU" dirty="0"/>
              <a:t>В ходе разработки были решены следующие задачи:</a:t>
            </a: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Проведен обзор существующих технологий в области AR, AI и их применения в искусстве;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Разработан пользовательский интерфейс (UI), учитывающий как AR, так и AI-функциональность;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Интегрированы библиотеки и модули для реализации картографической части приложения;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Реализована работа GPT-ассистента, способного отвечать на запросы пользователей, используя заранее заданные профессиональные настройки;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Разработаны методы взаимодействия пользователя с цифровым контентом в AR и AI-режиме;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ru-RU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Проведен обзор существующих систем управления подписками и выбрана одна из них для внедрения в приложение.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1836F-937A-4711-805F-7618927E711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043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9104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880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81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130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9425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12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62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449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7366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39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545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31999D-E1F4-413D-B33E-2AE961C7E377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AC258-CBF9-4C57-9D96-3F9CC9C7A7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255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08037" y="1513114"/>
            <a:ext cx="9975925" cy="2703575"/>
          </a:xfrm>
        </p:spPr>
        <p:txBody>
          <a:bodyPr>
            <a:noAutofit/>
          </a:bodyPr>
          <a:lstStyle/>
          <a:p>
            <a:r>
              <a:rPr lang="ru-RU" b="1" i="1" dirty="0"/>
              <a:t>Исследование и разработка образовательной платформы с курсами</a:t>
            </a:r>
            <a:endParaRPr lang="ru-RU" sz="48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658983" y="5202238"/>
            <a:ext cx="5081196" cy="1019548"/>
          </a:xfrm>
        </p:spPr>
        <p:txBody>
          <a:bodyPr/>
          <a:lstStyle/>
          <a:p>
            <a:pPr algn="r"/>
            <a:r>
              <a:rPr lang="ru-RU" dirty="0"/>
              <a:t>Студент: Онюшев А.А.</a:t>
            </a:r>
            <a:r>
              <a:rPr lang="en-US" dirty="0"/>
              <a:t> </a:t>
            </a:r>
            <a:r>
              <a:rPr lang="ru-RU" dirty="0"/>
              <a:t>РК6-</a:t>
            </a:r>
            <a:r>
              <a:rPr lang="en-US" dirty="0"/>
              <a:t>41</a:t>
            </a:r>
            <a:r>
              <a:rPr lang="ru-RU" dirty="0"/>
              <a:t>М</a:t>
            </a:r>
          </a:p>
          <a:p>
            <a:pPr algn="r"/>
            <a:r>
              <a:rPr lang="ru-RU" dirty="0"/>
              <a:t>Научный руководитель: </a:t>
            </a:r>
            <a:r>
              <a:rPr lang="ru-RU" dirty="0" err="1"/>
              <a:t>Витюков</a:t>
            </a:r>
            <a:r>
              <a:rPr lang="ru-RU" dirty="0"/>
              <a:t> Ф.А.</a:t>
            </a:r>
          </a:p>
        </p:txBody>
      </p:sp>
      <p:pic>
        <p:nvPicPr>
          <p:cNvPr id="6" name="Рисунок 9">
            <a:extLst>
              <a:ext uri="{FF2B5EF4-FFF2-40B4-BE49-F238E27FC236}">
                <a16:creationId xmlns:a16="http://schemas.microsoft.com/office/drawing/2014/main" id="{0F67D4B0-A75F-4B2E-8DCE-6B75BCD29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60" y="4597689"/>
            <a:ext cx="1376353" cy="162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344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3394934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Определения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5762" y="1048187"/>
            <a:ext cx="113219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SSO</a:t>
            </a:r>
            <a:r>
              <a:rPr lang="ru-RU" b="1" dirty="0"/>
              <a:t> (</a:t>
            </a:r>
            <a:r>
              <a:rPr lang="en-US" b="1" dirty="0"/>
              <a:t>Single Sign</a:t>
            </a:r>
            <a:r>
              <a:rPr lang="ru-RU" b="1" dirty="0"/>
              <a:t>-</a:t>
            </a:r>
            <a:r>
              <a:rPr lang="en-US" b="1" dirty="0"/>
              <a:t>On</a:t>
            </a:r>
            <a:r>
              <a:rPr lang="ru-RU" b="1" dirty="0"/>
              <a:t>)</a:t>
            </a:r>
            <a:r>
              <a:rPr lang="ru-RU" dirty="0"/>
              <a:t> – механизм единого входа, позволяющий пользователю после одной процедуры аутентификации получать доступ к нескольким компонентам системы без повторного ввода учетных данных.</a:t>
            </a:r>
          </a:p>
          <a:p>
            <a:r>
              <a:rPr lang="en-US" b="1" dirty="0"/>
              <a:t>JWT (JSON Web Token)</a:t>
            </a:r>
            <a:r>
              <a:rPr lang="en-US" dirty="0"/>
              <a:t> — </a:t>
            </a:r>
            <a:r>
              <a:rPr lang="en-US" dirty="0" err="1"/>
              <a:t>компактный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</a:t>
            </a:r>
            <a:r>
              <a:rPr lang="en-US" dirty="0" err="1"/>
              <a:t>токена</a:t>
            </a:r>
            <a:r>
              <a:rPr lang="en-US" dirty="0"/>
              <a:t>, </a:t>
            </a:r>
            <a:r>
              <a:rPr lang="en-US" dirty="0" err="1"/>
              <a:t>используемый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безопасной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о </a:t>
            </a:r>
            <a:r>
              <a:rPr lang="en-US" dirty="0" err="1"/>
              <a:t>пользователе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правах</a:t>
            </a:r>
            <a:r>
              <a:rPr lang="en-US" dirty="0"/>
              <a:t>.</a:t>
            </a:r>
            <a:endParaRPr lang="ru-RU" dirty="0"/>
          </a:p>
          <a:p>
            <a:r>
              <a:rPr lang="en-US" b="1" dirty="0"/>
              <a:t>API</a:t>
            </a:r>
            <a:r>
              <a:rPr lang="ru-RU" b="1" dirty="0"/>
              <a:t> (</a:t>
            </a:r>
            <a:r>
              <a:rPr lang="en-US" b="1" dirty="0"/>
              <a:t>Application Programming Interface</a:t>
            </a:r>
            <a:r>
              <a:rPr lang="ru-RU" b="1" dirty="0"/>
              <a:t>)</a:t>
            </a:r>
            <a:r>
              <a:rPr lang="ru-RU" dirty="0"/>
              <a:t> – программный интерфейс взаимодействия между различными компонентами системы.</a:t>
            </a:r>
          </a:p>
          <a:p>
            <a:r>
              <a:rPr lang="en-US" b="1" dirty="0"/>
              <a:t>PostgreSQL</a:t>
            </a:r>
            <a:r>
              <a:rPr lang="en-US" dirty="0"/>
              <a:t> </a:t>
            </a:r>
            <a:r>
              <a:rPr lang="ru-RU" dirty="0"/>
              <a:t>– реляционная система управления базами данных, используемая для хранения структурированной информации платформы.</a:t>
            </a:r>
          </a:p>
          <a:p>
            <a:r>
              <a:rPr lang="en-US" b="1" dirty="0"/>
              <a:t>Redis</a:t>
            </a:r>
            <a:r>
              <a:rPr lang="en-US" dirty="0"/>
              <a:t> </a:t>
            </a:r>
            <a:r>
              <a:rPr lang="ru-RU" dirty="0"/>
              <a:t>– </a:t>
            </a:r>
            <a:r>
              <a:rPr lang="en-US" dirty="0"/>
              <a:t>in</a:t>
            </a:r>
            <a:r>
              <a:rPr lang="ru-RU" dirty="0"/>
              <a:t>-</a:t>
            </a:r>
            <a:r>
              <a:rPr lang="en-US" dirty="0"/>
              <a:t>memory</a:t>
            </a:r>
            <a:r>
              <a:rPr lang="ru-RU" dirty="0"/>
              <a:t> хранилище данных, применяемое для кэширования, временного хранения информации и ускорения работы системы.</a:t>
            </a:r>
          </a:p>
          <a:p>
            <a:r>
              <a:rPr lang="en-US" b="1" dirty="0"/>
              <a:t>Kafka</a:t>
            </a:r>
            <a:r>
              <a:rPr lang="en-US" dirty="0"/>
              <a:t> </a:t>
            </a:r>
            <a:r>
              <a:rPr lang="ru-RU" dirty="0"/>
              <a:t>– распределенный брокер сообщений, используемый для организации событийного взаимодействия между компонентами системы.</a:t>
            </a:r>
          </a:p>
          <a:p>
            <a:r>
              <a:rPr lang="en-US" b="1" dirty="0" err="1"/>
              <a:t>Centrifugo</a:t>
            </a:r>
            <a:r>
              <a:rPr lang="en-US" dirty="0"/>
              <a:t> </a:t>
            </a:r>
            <a:r>
              <a:rPr lang="ru-RU" dirty="0"/>
              <a:t>– платформа для обмена сообщениями и доставки событий в режиме реального времени.</a:t>
            </a:r>
          </a:p>
          <a:p>
            <a:r>
              <a:rPr lang="ru-RU" b="1" dirty="0"/>
              <a:t>Объектное хранилище</a:t>
            </a:r>
            <a:r>
              <a:rPr lang="ru-RU" dirty="0"/>
              <a:t> – способ хранения файлов и связанных с ними метаданных в виде объектов.</a:t>
            </a:r>
          </a:p>
          <a:p>
            <a:r>
              <a:rPr lang="en-US" b="1" dirty="0"/>
              <a:t>S</a:t>
            </a:r>
            <a:r>
              <a:rPr lang="ru-RU" b="1" dirty="0"/>
              <a:t>3-совместимое хранилище</a:t>
            </a:r>
            <a:r>
              <a:rPr lang="ru-RU" dirty="0"/>
              <a:t> – объектное хранилище, поддерживающее интерфейсы взаимодействия, совместимые с </a:t>
            </a:r>
            <a:r>
              <a:rPr lang="en-US" dirty="0"/>
              <a:t>Amazon S</a:t>
            </a:r>
            <a:r>
              <a:rPr lang="ru-RU" dirty="0"/>
              <a:t>3.</a:t>
            </a:r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2/1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5857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4755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925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Актуальность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36329" y="1510046"/>
            <a:ext cx="5326328" cy="129266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/>
              <a:t>Рост спроса на цифровые образовательные платформы и онлайн-курсы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89333" y="2884095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Потребность в гибком функционале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0" y="3976656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Необходимость импортозамещения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6329" y="865453"/>
            <a:ext cx="56450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Актуальность работы основана на:</a:t>
            </a:r>
          </a:p>
        </p:txBody>
      </p:sp>
      <p:sp>
        <p:nvSpPr>
          <p:cNvPr id="13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E77DF-37EB-47DB-AF60-9F6BC9506D36}"/>
              </a:ext>
            </a:extLst>
          </p:cNvPr>
          <p:cNvSpPr txBox="1"/>
          <p:nvPr/>
        </p:nvSpPr>
        <p:spPr>
          <a:xfrm>
            <a:off x="7773000" y="5069217"/>
            <a:ext cx="3992081" cy="92333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lIns="274320" tIns="91440" rIns="274320" bIns="91440" rtlCol="0">
            <a:spAutoFit/>
          </a:bodyPr>
          <a:lstStyle/>
          <a:p>
            <a:pPr algn="ctr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Повышенные требования к безопасности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5" name="Надпись 2">
            <a:extLst>
              <a:ext uri="{FF2B5EF4-FFF2-40B4-BE49-F238E27FC236}">
                <a16:creationId xmlns:a16="http://schemas.microsoft.com/office/drawing/2014/main" id="{7D5325EF-4173-497B-90E2-9ECF4120E3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9802" y="5530882"/>
            <a:ext cx="3279199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indent="450215" algn="ctr">
              <a:lnSpc>
                <a:spcPct val="107000"/>
              </a:lnSpc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Визуал сайта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B1552A-9E9B-B8D9-76BE-2F2F1EFBF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06" y="2072726"/>
            <a:ext cx="5482566" cy="34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66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267347"/>
            <a:ext cx="460324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2576" y="1340749"/>
            <a:ext cx="10994318" cy="127727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/>
              <a:t>Цель работы: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ru-RU" sz="2400" dirty="0"/>
              <a:t>исследование и разработка надежной образовательной платформы с курсами, обеспечивающей управление учебным контентом, пользователями и доступом к ресурсам системы.</a:t>
            </a:r>
            <a:endParaRPr lang="en-US" sz="2400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2576" y="3015234"/>
            <a:ext cx="10994318" cy="3631763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/>
              <a:t>Задачи :</a:t>
            </a:r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</a:t>
            </a:r>
            <a:endParaRPr lang="en-US" sz="2400" b="1" dirty="0">
              <a:solidFill>
                <a:schemeClr val="tx1">
                  <a:alpha val="70000"/>
                </a:schemeClr>
              </a:solidFill>
            </a:endParaRPr>
          </a:p>
          <a:p>
            <a:pPr algn="just"/>
            <a:endParaRPr lang="ru-RU" sz="2400" dirty="0"/>
          </a:p>
          <a:p>
            <a:pPr algn="just"/>
            <a:endParaRPr lang="ru-RU" sz="1200" dirty="0"/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355239"/>
              </p:ext>
            </p:extLst>
          </p:nvPr>
        </p:nvGraphicFramePr>
        <p:xfrm>
          <a:off x="1247885" y="3414034"/>
          <a:ext cx="9778701" cy="271272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763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5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Провести анализ современных образовательных платформ и их требований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;</a:t>
                      </a:r>
                      <a:endParaRPr lang="ru-RU" sz="2000" b="0" dirty="0">
                        <a:solidFill>
                          <a:schemeClr val="tx1"/>
                        </a:solidFill>
                      </a:endParaRP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Спроектировать модель системы видео, онлайн-эфиров, уведомлений и чатов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81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Исследовать подходы к аутентификации, авторизации и управлению доступом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</a:rPr>
                        <a:t>Реализовать систему видео, онлайн-эфиров, уведомлений и чатов;</a:t>
                      </a: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Разработать систему авторизации и разграничения доступа</a:t>
                      </a:r>
                      <a:r>
                        <a:rPr lang="ru-RU" sz="2000" b="0" dirty="0">
                          <a:solidFill>
                            <a:schemeClr val="tx1">
                              <a:alpha val="70000"/>
                            </a:schemeClr>
                          </a:solidFill>
                        </a:rPr>
                        <a:t>;</a:t>
                      </a:r>
                    </a:p>
                  </a:txBody>
                  <a:tcPr marR="4572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endParaRPr lang="ru-RU" sz="2000" b="0" dirty="0">
                        <a:solidFill>
                          <a:schemeClr val="tx1">
                            <a:alpha val="70000"/>
                          </a:schemeClr>
                        </a:solidFill>
                      </a:endParaRPr>
                    </a:p>
                  </a:txBody>
                  <a:tcPr marR="3657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92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5/1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9" name="Надпись 2"/>
          <p:cNvSpPr txBox="1">
            <a:spLocks noChangeArrowheads="1"/>
          </p:cNvSpPr>
          <p:nvPr/>
        </p:nvSpPr>
        <p:spPr bwMode="auto">
          <a:xfrm>
            <a:off x="3584597" y="6286479"/>
            <a:ext cx="5463534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 2 – Структура проекта</a:t>
            </a:r>
          </a:p>
        </p:txBody>
      </p:sp>
      <p:sp>
        <p:nvSpPr>
          <p:cNvPr id="12" name="Подзаголовок 2">
            <a:extLst>
              <a:ext uri="{FF2B5EF4-FFF2-40B4-BE49-F238E27FC236}">
                <a16:creationId xmlns:a16="http://schemas.microsoft.com/office/drawing/2014/main" id="{BD48EB56-1032-4F5C-A85C-DF6EB005B013}"/>
              </a:ext>
            </a:extLst>
          </p:cNvPr>
          <p:cNvSpPr txBox="1">
            <a:spLocks/>
          </p:cNvSpPr>
          <p:nvPr/>
        </p:nvSpPr>
        <p:spPr>
          <a:xfrm>
            <a:off x="-118333" y="233480"/>
            <a:ext cx="4472620" cy="688489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Структура проекта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1C353F1-E55C-57CA-7C15-778EB505B4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3" y="941105"/>
            <a:ext cx="12192000" cy="531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92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6007506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Механизмы авторизации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9648" y="1385713"/>
            <a:ext cx="533193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>
                <a:solidFill>
                  <a:schemeClr val="tx1">
                    <a:alpha val="70000"/>
                  </a:schemeClr>
                </a:solidFill>
              </a:rPr>
              <a:t>Протокол авторизации </a:t>
            </a:r>
            <a:r>
              <a:rPr lang="en-US" sz="2400" b="1">
                <a:solidFill>
                  <a:schemeClr val="tx1">
                    <a:alpha val="70000"/>
                  </a:schemeClr>
                </a:solidFill>
              </a:rPr>
              <a:t>OAuth 2.0 </a:t>
            </a:r>
            <a:r>
              <a:rPr lang="ru-RU" sz="2400">
                <a:solidFill>
                  <a:schemeClr val="tx1">
                    <a:alpha val="70000"/>
                  </a:schemeClr>
                </a:solidFill>
              </a:rPr>
              <a:t>предоставляет стандартизированный механизм авторизации, подходящий для интеграции с внешними сервисами</a:t>
            </a:r>
            <a:r>
              <a:rPr lang="en-US" sz="2400">
                <a:solidFill>
                  <a:schemeClr val="tx1">
                    <a:alpha val="70000"/>
                  </a:schemeClr>
                </a:solidFill>
              </a:rPr>
              <a:t>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648" y="3818735"/>
            <a:ext cx="5331935" cy="1938992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 err="1">
                <a:solidFill>
                  <a:schemeClr val="tx1">
                    <a:alpha val="70000"/>
                  </a:schemeClr>
                </a:solidFill>
              </a:rPr>
              <a:t>OAuth</a:t>
            </a:r>
            <a:r>
              <a:rPr lang="ru-RU" sz="2400" b="1" dirty="0">
                <a:solidFill>
                  <a:schemeClr val="tx1">
                    <a:alpha val="70000"/>
                  </a:schemeClr>
                </a:solidFill>
              </a:rPr>
              <a:t> 2.0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позволяет пользователям предоставлять приложению доступ к определённым данным или функциям своего аккаунта, не передавая свои учётные данные (логин и пароль</a:t>
            </a:r>
            <a:r>
              <a:rPr lang="en-US" sz="2400" dirty="0">
                <a:solidFill>
                  <a:schemeClr val="tx1">
                    <a:alpha val="70000"/>
                  </a:schemeClr>
                </a:solidFill>
              </a:rPr>
              <a:t>).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6/1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880DA64-B719-4F2D-8374-3E36244CFDEC}"/>
              </a:ext>
            </a:extLst>
          </p:cNvPr>
          <p:cNvGrpSpPr/>
          <p:nvPr/>
        </p:nvGrpSpPr>
        <p:grpSpPr>
          <a:xfrm>
            <a:off x="6069872" y="338218"/>
            <a:ext cx="5538653" cy="6139824"/>
            <a:chOff x="6069872" y="338218"/>
            <a:chExt cx="5538653" cy="6139824"/>
          </a:xfrm>
        </p:grpSpPr>
        <p:sp>
          <p:nvSpPr>
            <p:cNvPr id="12" name="Надпись 2"/>
            <p:cNvSpPr txBox="1">
              <a:spLocks noChangeArrowheads="1"/>
            </p:cNvSpPr>
            <p:nvPr/>
          </p:nvSpPr>
          <p:spPr bwMode="auto">
            <a:xfrm>
              <a:off x="6069872" y="6140001"/>
              <a:ext cx="5538653" cy="3380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0" tIns="45720" rIns="91440" bIns="45720" anchor="t" anchorCtr="0">
              <a:spAutoFit/>
            </a:bodyPr>
            <a:lstStyle/>
            <a:p>
              <a:pPr marL="0" marR="0" indent="450215" algn="ctr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Рис. </a:t>
              </a:r>
              <a:r>
                <a:rPr lang="en-US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4</a:t>
              </a:r>
              <a:r>
                <a:rPr lang="ru-RU" sz="16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– Блок-схема аутентификации пользователя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B9A5435-0B10-4089-AB11-4E401069C5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84467" y="338218"/>
              <a:ext cx="3865061" cy="58017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0413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5"/>
            <a:ext cx="5114878" cy="536986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 fontScale="85000" lnSpcReduction="10000"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Реализация авторизации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7/1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0" name="Надпись 2"/>
          <p:cNvSpPr txBox="1">
            <a:spLocks noChangeArrowheads="1"/>
          </p:cNvSpPr>
          <p:nvPr/>
        </p:nvSpPr>
        <p:spPr bwMode="auto">
          <a:xfrm>
            <a:off x="2840683" y="5739928"/>
            <a:ext cx="560567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Реализация авторизации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F53C321-FE33-FB83-F352-0053DB792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2" y="1025754"/>
            <a:ext cx="5605670" cy="198534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339EA3-D4BF-ACFE-9EA4-E075298C5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113" y="1025754"/>
            <a:ext cx="3033160" cy="198534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35E78A-98F3-A7AC-110A-00C12E63B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192" y="3198649"/>
            <a:ext cx="5437326" cy="226371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65E0F2F-8A33-1F9D-18DB-5A4EA5C231C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0055"/>
          <a:stretch>
            <a:fillRect/>
          </a:stretch>
        </p:blipFill>
        <p:spPr>
          <a:xfrm>
            <a:off x="5811862" y="3288656"/>
            <a:ext cx="6170233" cy="208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0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39936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Ролевая модель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8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7" name="Надпись 2"/>
          <p:cNvSpPr txBox="1">
            <a:spLocks noChangeArrowheads="1"/>
          </p:cNvSpPr>
          <p:nvPr/>
        </p:nvSpPr>
        <p:spPr bwMode="auto">
          <a:xfrm>
            <a:off x="3303923" y="5530255"/>
            <a:ext cx="5584154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Ролевая модель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ReBAC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Google Zanzibar: What is it ? [2025]">
            <a:extLst>
              <a:ext uri="{FF2B5EF4-FFF2-40B4-BE49-F238E27FC236}">
                <a16:creationId xmlns:a16="http://schemas.microsoft.com/office/drawing/2014/main" id="{45D4EA96-80DD-EEC5-968B-F1F5874F2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2943" y="1469571"/>
            <a:ext cx="6466114" cy="3918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021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97187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Структура курса</a:t>
            </a:r>
          </a:p>
        </p:txBody>
      </p:sp>
      <p:sp>
        <p:nvSpPr>
          <p:cNvPr id="32" name="Надпись 2"/>
          <p:cNvSpPr txBox="1">
            <a:spLocks noChangeArrowheads="1"/>
          </p:cNvSpPr>
          <p:nvPr/>
        </p:nvSpPr>
        <p:spPr bwMode="auto">
          <a:xfrm>
            <a:off x="3200342" y="6376919"/>
            <a:ext cx="5603728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Структура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курса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5BE2716-E8BF-7776-BE98-8CA6398D7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12" y="1035098"/>
            <a:ext cx="5561094" cy="333873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E3F34D7-AAE9-11C6-ABEB-F5E7B6A81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949" y="989703"/>
            <a:ext cx="5854821" cy="329333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D97118C-83FA-C357-CADF-0BE3670B29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973" y="3003637"/>
            <a:ext cx="6368733" cy="329333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BAEE3F4-ECD2-F9B2-BEEB-2D6452C13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1681" y="2923692"/>
            <a:ext cx="7238354" cy="3418678"/>
          </a:xfrm>
          <a:prstGeom prst="rect">
            <a:avLst/>
          </a:prstGeom>
        </p:spPr>
      </p:pic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9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798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3" y="301214"/>
            <a:ext cx="4069847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 anchor="ctr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Структура эфира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10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2" name="Надпись 2">
            <a:extLst>
              <a:ext uri="{FF2B5EF4-FFF2-40B4-BE49-F238E27FC236}">
                <a16:creationId xmlns:a16="http://schemas.microsoft.com/office/drawing/2014/main" id="{6E3A7FD4-3E4D-5C2F-8D78-48333C7262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342" y="6376919"/>
            <a:ext cx="5603728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450215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–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Структура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эфира</a:t>
            </a:r>
            <a:endParaRPr lang="ru-RU" sz="16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723B82B-DD35-358C-70D1-427354C44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58" y="1686351"/>
            <a:ext cx="5301342" cy="376532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DB3978-823C-3975-B9CC-1060BAF0A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6783" y="1685470"/>
            <a:ext cx="6456359" cy="376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66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111905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Видеоплеер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9" name="Надпись 2"/>
          <p:cNvSpPr txBox="1">
            <a:spLocks noChangeArrowheads="1"/>
          </p:cNvSpPr>
          <p:nvPr/>
        </p:nvSpPr>
        <p:spPr bwMode="auto">
          <a:xfrm>
            <a:off x="2345915" y="5995111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7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Видеоплеер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12F1F21-5153-6DDD-7B53-805BDF7EA3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094" y="1140001"/>
            <a:ext cx="8687811" cy="487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042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8CE2E-4310-C0B1-F290-C0656403F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49CB7FE-F042-AAED-38FA-E4C8866F5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094" y="1140001"/>
            <a:ext cx="8687811" cy="4873832"/>
          </a:xfrm>
          <a:prstGeom prst="rect">
            <a:avLst/>
          </a:prstGeom>
        </p:spPr>
      </p:pic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3E556DCF-8C23-3B2F-6EC7-5F121373BFF4}"/>
              </a:ext>
            </a:extLst>
          </p:cNvPr>
          <p:cNvSpPr txBox="1">
            <a:spLocks/>
          </p:cNvSpPr>
          <p:nvPr/>
        </p:nvSpPr>
        <p:spPr>
          <a:xfrm>
            <a:off x="-118334" y="301214"/>
            <a:ext cx="2001563" cy="688489"/>
          </a:xfrm>
          <a:prstGeom prst="rect">
            <a:avLst/>
          </a:prstGeo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4000" b="1">
                <a:solidFill>
                  <a:schemeClr val="tx1">
                    <a:alpha val="80000"/>
                  </a:schemeClr>
                </a:solidFill>
              </a:rPr>
              <a:t>Кодеки</a:t>
            </a:r>
            <a:endParaRPr lang="ru-RU" sz="4000" b="1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5D48F7E5-EF61-12F3-B173-EF22C20D209E}"/>
              </a:ext>
            </a:extLst>
          </p:cNvPr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1/1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Надпись 2">
            <a:extLst>
              <a:ext uri="{FF2B5EF4-FFF2-40B4-BE49-F238E27FC236}">
                <a16:creationId xmlns:a16="http://schemas.microsoft.com/office/drawing/2014/main" id="{8BBFCE3F-9033-9227-D8CF-EE8A38D8C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5915" y="5995111"/>
            <a:ext cx="7050910" cy="338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 indent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Рис.8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</a:t>
            </a:r>
            <a:r>
              <a:rPr lang="ru-RU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ерекодирование видео</a:t>
            </a:r>
          </a:p>
        </p:txBody>
      </p:sp>
    </p:spTree>
    <p:extLst>
      <p:ext uri="{BB962C8B-B14F-4D97-AF65-F5344CB8AC3E}">
        <p14:creationId xmlns:p14="http://schemas.microsoft.com/office/powerpoint/2010/main" val="202315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5365248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Демонстрация работы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3/1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7" name="Запись экрана 6">
            <a:hlinkClick r:id="" action="ppaction://media"/>
            <a:extLst>
              <a:ext uri="{FF2B5EF4-FFF2-40B4-BE49-F238E27FC236}">
                <a16:creationId xmlns:a16="http://schemas.microsoft.com/office/drawing/2014/main" id="{365FF28D-7E56-06B3-7457-374CE9F30E4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40763" y="1107274"/>
            <a:ext cx="11310474" cy="486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27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3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-118334" y="301214"/>
            <a:ext cx="3122791" cy="688489"/>
          </a:xfrm>
          <a:solidFill>
            <a:srgbClr val="F99F89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8100"/>
          </a:effectLst>
        </p:spPr>
        <p:txBody>
          <a:bodyPr lIns="274320">
            <a:normAutofit/>
          </a:bodyPr>
          <a:lstStyle/>
          <a:p>
            <a:pPr algn="l"/>
            <a:r>
              <a:rPr lang="ru-RU" sz="4000" b="1" dirty="0">
                <a:solidFill>
                  <a:schemeClr val="tx1">
                    <a:alpha val="80000"/>
                  </a:schemeClr>
                </a:solidFill>
              </a:rPr>
              <a:t>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196" y="2678592"/>
            <a:ext cx="10615953" cy="3416320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достижения цели были решены следующие задачи: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1.	Проведён обзор и анализ современных технологий в областях AR и AI;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2.	Спроектирован пользовательский интерфейс;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3.	Реализована интеграция библиотек и модулей для реализации картографического модуля и дополненной реальности;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4.	Разработан и настроен GPT-ассистент;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5.	Созданы методы взаимодействия пользователей с цифровым контентом в AR и AI-режиме;</a:t>
            </a:r>
          </a:p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6.	Реализована система управления подписками.</a:t>
            </a:r>
          </a:p>
        </p:txBody>
      </p:sp>
      <p:sp>
        <p:nvSpPr>
          <p:cNvPr id="16" name="Подзаголовок 2"/>
          <p:cNvSpPr txBox="1">
            <a:spLocks/>
          </p:cNvSpPr>
          <p:nvPr/>
        </p:nvSpPr>
        <p:spPr>
          <a:xfrm>
            <a:off x="11274013" y="6164132"/>
            <a:ext cx="1014803" cy="516366"/>
          </a:xfrm>
          <a:prstGeom prst="rect">
            <a:avLst/>
          </a:prstGeom>
          <a:solidFill>
            <a:srgbClr val="A0DBED"/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  <a:softEdge rad="38100"/>
          </a:effectLst>
        </p:spPr>
        <p:txBody>
          <a:bodyPr vert="horz" lIns="27432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1</a:t>
            </a:r>
            <a:r>
              <a:rPr lang="ru-RU" sz="1600" dirty="0">
                <a:solidFill>
                  <a:schemeClr val="tx1">
                    <a:alpha val="80000"/>
                  </a:schemeClr>
                </a:solidFill>
              </a:rPr>
              <a:t>4/1</a:t>
            </a:r>
            <a:r>
              <a:rPr lang="en-US" sz="1600" dirty="0">
                <a:solidFill>
                  <a:schemeClr val="tx1">
                    <a:alpha val="80000"/>
                  </a:schemeClr>
                </a:solidFill>
              </a:rPr>
              <a:t>4</a:t>
            </a:r>
            <a:endParaRPr lang="ru-RU" sz="16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8133" y="1233983"/>
            <a:ext cx="10615953" cy="1200329"/>
          </a:xfrm>
          <a:prstGeom prst="rect">
            <a:avLst/>
          </a:prstGeom>
          <a:solidFill>
            <a:srgbClr val="BCD9F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31750"/>
          </a:effectLst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В ходе выполнения работы было разработано веб-приложение, объединяющее функции дополненной реальности и искусственного интеллекта</a:t>
            </a:r>
            <a:r>
              <a:rPr lang="ru-RU" sz="2400" dirty="0">
                <a:solidFill>
                  <a:srgbClr val="FF0000">
                    <a:alpha val="70000"/>
                  </a:srgbClr>
                </a:solidFill>
              </a:rPr>
              <a:t> </a:t>
            </a:r>
            <a:r>
              <a:rPr lang="ru-RU" sz="2400" dirty="0">
                <a:solidFill>
                  <a:schemeClr val="tx1">
                    <a:alpha val="70000"/>
                  </a:schemeClr>
                </a:solidFill>
              </a:rPr>
              <a:t>для художников, работающих в направлении современного искусства.</a:t>
            </a:r>
            <a:endParaRPr lang="ru-RU" sz="500" dirty="0">
              <a:solidFill>
                <a:schemeClr val="tx1">
                  <a:alpha val="7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00283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3891</TotalTime>
  <Words>1416</Words>
  <Application>Microsoft Office PowerPoint</Application>
  <PresentationFormat>Широкоэкранный</PresentationFormat>
  <Paragraphs>150</Paragraphs>
  <Slides>14</Slides>
  <Notes>14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Symbol</vt:lpstr>
      <vt:lpstr>Times New Roman</vt:lpstr>
      <vt:lpstr>Тема Office</vt:lpstr>
      <vt:lpstr>Исследование и разработка образовательной платформы с курсами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artyom Onyushev</cp:lastModifiedBy>
  <cp:revision>103</cp:revision>
  <dcterms:created xsi:type="dcterms:W3CDTF">2024-12-23T13:04:42Z</dcterms:created>
  <dcterms:modified xsi:type="dcterms:W3CDTF">2026-05-02T15:26:59Z</dcterms:modified>
</cp:coreProperties>
</file>