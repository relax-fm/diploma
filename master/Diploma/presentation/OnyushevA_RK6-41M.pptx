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9" r:id="rId4"/>
    <p:sldId id="258" r:id="rId5"/>
    <p:sldId id="269" r:id="rId6"/>
    <p:sldId id="260" r:id="rId7"/>
    <p:sldId id="261" r:id="rId8"/>
    <p:sldId id="263" r:id="rId9"/>
    <p:sldId id="262" r:id="rId10"/>
    <p:sldId id="270" r:id="rId11"/>
    <p:sldId id="264" r:id="rId12"/>
    <p:sldId id="273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BED"/>
    <a:srgbClr val="BCD9FC"/>
    <a:srgbClr val="F99F89"/>
    <a:srgbClr val="E8F2FE"/>
    <a:srgbClr val="D7E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811" autoAdjust="0"/>
  </p:normalViewPr>
  <p:slideViewPr>
    <p:cSldViewPr snapToGrid="0">
      <p:cViewPr varScale="1">
        <p:scale>
          <a:sx n="88" d="100"/>
          <a:sy n="88" d="100"/>
        </p:scale>
        <p:origin x="1470" y="108"/>
      </p:cViewPr>
      <p:guideLst/>
    </p:cSldViewPr>
  </p:slideViewPr>
  <p:notesTextViewPr>
    <p:cViewPr>
      <p:scale>
        <a:sx n="1" d="1"/>
        <a:sy n="1" d="1"/>
      </p:scale>
      <p:origin x="0" y="-76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CFF3B-98A7-41B4-A722-42506241E61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1836F-937A-4711-805F-7618927E7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9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/>
              <a:t>Добрый день, уважаемые члены государственной экзаменационной комиссии.</a:t>
            </a:r>
            <a:br>
              <a:rPr lang="ru-RU" sz="1800" dirty="0"/>
            </a:br>
            <a:r>
              <a:rPr lang="ru-RU" sz="1800" dirty="0"/>
              <a:t>Меня зовут Онюшев Артем Андреевич, группа РК6-41М.</a:t>
            </a:r>
            <a:br>
              <a:rPr lang="ru-RU" sz="1800" dirty="0"/>
            </a:br>
            <a:r>
              <a:rPr lang="ru-RU" sz="1800" dirty="0"/>
              <a:t>Тема моей выпускной квалификационной работы: </a:t>
            </a:r>
            <a:r>
              <a:rPr lang="ru-RU" sz="1800" b="1" dirty="0"/>
              <a:t>«Исследование и разработка образовательной платформы с курсами»</a:t>
            </a:r>
            <a:r>
              <a:rPr lang="ru-RU" sz="1800" dirty="0"/>
              <a:t>.</a:t>
            </a:r>
            <a:br>
              <a:rPr lang="ru-RU" sz="1800" dirty="0"/>
            </a:br>
            <a:r>
              <a:rPr lang="ru-RU" sz="1800" dirty="0"/>
              <a:t>Научный руководитель работы — Витюков Фёдор Андреевич.</a:t>
            </a:r>
          </a:p>
          <a:p>
            <a:r>
              <a:rPr lang="ru-RU" sz="1800" dirty="0"/>
              <a:t>В своей работе я рассматривал задачи проектирования и разработки современной образовательной платформы, включающей систему авторизации и разграничения доступа, курсы, видеоуроки, онлайн-эфиры, уведомления и чаты.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07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вы можете увидеть основные определения, использованные в моей выпускной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35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Актуальность работы обусловлена сразу несколькими факторами.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Во-первых, в настоящее время наблюдается устойчивый рост спроса на цифровые образовательные платформы и онлайн-курсы.</a:t>
            </a:r>
            <a:br>
              <a:rPr lang="ru-RU" dirty="0"/>
            </a:br>
            <a:r>
              <a:rPr lang="ru-RU" dirty="0"/>
              <a:t>Во-вторых, пользователи ожидают от подобных систем не только размещения учебных материалов, но и более гибкого функционала: видеоуроков, онлайн-эфиров, чатов, уведомлений и разграничения доступа.</a:t>
            </a:r>
            <a:br>
              <a:rPr lang="ru-RU" dirty="0"/>
            </a:br>
            <a:r>
              <a:rPr lang="ru-RU" dirty="0"/>
              <a:t>В-третьих, важным фактором является необходимость импортозамещения и разработки собственных платформенных решений.</a:t>
            </a:r>
            <a:br>
              <a:rPr lang="ru-RU" dirty="0"/>
            </a:br>
            <a:r>
              <a:rPr lang="ru-RU" dirty="0"/>
              <a:t>Кроме того, к таким системам предъявляются повышенные требования по безопасности, особенно в части аутентификации, авторизации и защиты доступа к контенту.</a:t>
            </a:r>
          </a:p>
          <a:p>
            <a:r>
              <a:rPr lang="ru-RU" dirty="0"/>
              <a:t>Таким образом, задача разработки надежной и масштабируемой образовательной платформы является актуальной как с практической, так и с инженерной точки зрения.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моей работы являлось </a:t>
            </a:r>
            <a:r>
              <a:rPr lang="ru-RU" b="1" dirty="0"/>
              <a:t>исследование и разработка надежной образовательной платформы с курсами, обеспечивающей управление учебным контентом, пользователями и доступом к ресурсам системы</a:t>
            </a:r>
            <a:r>
              <a:rPr lang="ru-RU" dirty="0"/>
              <a:t>.</a:t>
            </a:r>
          </a:p>
          <a:p>
            <a:r>
              <a:rPr lang="ru-RU" dirty="0"/>
              <a:t>Для достижения этой цели были поставлены следующие задачи: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провести анализ современных образовательных платформ и их требований;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исследовать подходы к аутентификации, авторизации и управлению доступом;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разработать систему авторизации и разграничения доступа;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спроектировать модель системы видео, онлайн-эфиров, уведомлений и чатов;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реализовать данные подсистемы в рамках единой платформы. </a:t>
            </a:r>
          </a:p>
          <a:p>
            <a:r>
              <a:rPr lang="ru-RU" dirty="0"/>
              <a:t>То есть работа включала как исследовательскую часть, так и практическую реализацию ключевых компонентов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37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/>
              <a:t>На данном слайде представлена общая архитектура разработанной платформы.</a:t>
            </a:r>
          </a:p>
          <a:p>
            <a:r>
              <a:rPr lang="ru-RU" sz="1800" dirty="0"/>
              <a:t>Система построена как набор взаимодействующих компонентов, каждый из которых отвечает за свою зону ответственности.</a:t>
            </a:r>
            <a:br>
              <a:rPr lang="ru-RU" sz="1800" dirty="0"/>
            </a:br>
            <a:r>
              <a:rPr lang="ru-RU" sz="1800" dirty="0"/>
              <a:t>В качестве серверной основы использован </a:t>
            </a:r>
            <a:r>
              <a:rPr lang="ru-RU" sz="1800" dirty="0" err="1"/>
              <a:t>backend</a:t>
            </a:r>
            <a:r>
              <a:rPr lang="ru-RU" sz="1800" dirty="0"/>
              <a:t> на </a:t>
            </a:r>
            <a:r>
              <a:rPr lang="ru-RU" sz="1800" b="1" dirty="0" err="1"/>
              <a:t>Golang</a:t>
            </a:r>
            <a:r>
              <a:rPr lang="ru-RU" sz="1800" dirty="0"/>
              <a:t>.</a:t>
            </a:r>
            <a:br>
              <a:rPr lang="ru-RU" sz="1800" dirty="0"/>
            </a:br>
            <a:r>
              <a:rPr lang="ru-RU" sz="1800" dirty="0"/>
              <a:t>Для хранения основной структурированной информации применяется </a:t>
            </a:r>
            <a:r>
              <a:rPr lang="ru-RU" sz="1800" b="1" dirty="0" err="1"/>
              <a:t>PostgreSQL</a:t>
            </a:r>
            <a:r>
              <a:rPr lang="ru-RU" sz="1800" dirty="0"/>
              <a:t>, для кэширования и временных данных — </a:t>
            </a:r>
            <a:r>
              <a:rPr lang="ru-RU" sz="1800" b="1" dirty="0" err="1"/>
              <a:t>Redis</a:t>
            </a:r>
            <a:r>
              <a:rPr lang="ru-RU" sz="1800" dirty="0"/>
              <a:t>.</a:t>
            </a:r>
            <a:br>
              <a:rPr lang="ru-RU" sz="1800" dirty="0"/>
            </a:br>
            <a:r>
              <a:rPr lang="ru-RU" sz="1800" dirty="0"/>
              <a:t>Для событийного взаимодействия между компонентами системы используется </a:t>
            </a:r>
            <a:r>
              <a:rPr lang="ru-RU" sz="1800" b="1" dirty="0" err="1"/>
              <a:t>Kafka</a:t>
            </a:r>
            <a:r>
              <a:rPr lang="ru-RU" sz="1800" dirty="0"/>
              <a:t>.</a:t>
            </a:r>
            <a:br>
              <a:rPr lang="ru-RU" sz="1800" dirty="0"/>
            </a:br>
            <a:r>
              <a:rPr lang="ru-RU" sz="1800" dirty="0"/>
              <a:t>Для чатов и уведомлений в реальном времени применяется </a:t>
            </a:r>
            <a:r>
              <a:rPr lang="ru-RU" sz="1800" b="1" dirty="0" err="1"/>
              <a:t>Centrifugo</a:t>
            </a:r>
            <a:r>
              <a:rPr lang="ru-RU" sz="1800" dirty="0"/>
              <a:t>.</a:t>
            </a:r>
            <a:br>
              <a:rPr lang="ru-RU" sz="1800" dirty="0"/>
            </a:br>
            <a:r>
              <a:rPr lang="ru-RU" sz="1800" dirty="0"/>
              <a:t>Видео и дополнительные материалы хранятся в </a:t>
            </a:r>
            <a:r>
              <a:rPr lang="ru-RU" sz="1800" b="1" dirty="0"/>
              <a:t>S3-совместимом хранилище</a:t>
            </a:r>
            <a:r>
              <a:rPr lang="ru-RU" sz="1800" dirty="0"/>
              <a:t>, а воспроизведение видео и проведение эфиров реализованы через уже готовый собственный видеосервис.</a:t>
            </a:r>
          </a:p>
          <a:p>
            <a:r>
              <a:rPr lang="ru-RU" sz="1800" dirty="0"/>
              <a:t>Такой подход позволяет сделать систему расширяемой, обеспечить разделение ответственности между компонентами и подготовить платформу к дальнейшему масштабированию.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03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механизм авторизации пользователей.</a:t>
            </a:r>
          </a:p>
          <a:p>
            <a:r>
              <a:rPr lang="ru-RU" dirty="0"/>
              <a:t>В основе выбранного подхода лежат </a:t>
            </a:r>
            <a:r>
              <a:rPr lang="ru-RU" b="1" dirty="0" err="1"/>
              <a:t>OAuth</a:t>
            </a:r>
            <a:r>
              <a:rPr lang="ru-RU" b="1" dirty="0"/>
              <a:t> 2.0</a:t>
            </a:r>
            <a:r>
              <a:rPr lang="ru-RU" dirty="0"/>
              <a:t> и </a:t>
            </a:r>
            <a:r>
              <a:rPr lang="ru-RU" b="1" dirty="0" err="1"/>
              <a:t>OpenID</a:t>
            </a:r>
            <a:r>
              <a:rPr lang="ru-RU" b="1" dirty="0"/>
              <a:t> Connect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OAuth</a:t>
            </a:r>
            <a:r>
              <a:rPr lang="ru-RU" dirty="0"/>
              <a:t> 2.0 используется как протокол авторизации, а OIDC дополняет его механизмом подтверждения личности пользователя. (аутентификации)</a:t>
            </a:r>
          </a:p>
          <a:p>
            <a:r>
              <a:rPr lang="ru-RU" dirty="0"/>
              <a:t>Для повышения безопасности применяется </a:t>
            </a:r>
            <a:r>
              <a:rPr lang="ru-RU" b="1" dirty="0"/>
              <a:t>PKCE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Его основная задача состоит в том, чтобы защитить процесс обмена </a:t>
            </a:r>
            <a:r>
              <a:rPr lang="ru-RU" dirty="0" err="1"/>
              <a:t>authorization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 на токен и исключить возможность использования перехваченного кода злоумышленником.</a:t>
            </a:r>
          </a:p>
          <a:p>
            <a:r>
              <a:rPr lang="ru-RU" dirty="0"/>
              <a:t>После успешной аутентификации пользователь получает токен доступа, который далее используется для обращения к </a:t>
            </a:r>
            <a:r>
              <a:rPr lang="ru-RU" dirty="0" err="1"/>
              <a:t>backend</a:t>
            </a:r>
            <a:r>
              <a:rPr lang="ru-RU" dirty="0"/>
              <a:t> API.</a:t>
            </a:r>
            <a:br>
              <a:rPr lang="ru-RU" dirty="0"/>
            </a:br>
            <a:r>
              <a:rPr lang="ru-RU" dirty="0"/>
              <a:t>При этом </a:t>
            </a:r>
            <a:r>
              <a:rPr lang="ru-RU" dirty="0" err="1"/>
              <a:t>backend</a:t>
            </a:r>
            <a:r>
              <a:rPr lang="ru-RU" dirty="0"/>
              <a:t> не только валидирует токен, но и проверяет права пользователя на конкретные ресурсы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00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показана практическая реализация авторизации в разработанной платформе.</a:t>
            </a:r>
          </a:p>
          <a:p>
            <a:r>
              <a:rPr lang="ru-RU" dirty="0"/>
              <a:t>Для реализации системы авторизации был выбран </a:t>
            </a:r>
            <a:r>
              <a:rPr lang="ru-RU" dirty="0" err="1"/>
              <a:t>опенсурсный</a:t>
            </a:r>
            <a:r>
              <a:rPr lang="ru-RU" dirty="0"/>
              <a:t> </a:t>
            </a:r>
            <a:r>
              <a:rPr lang="ru-RU" b="1" dirty="0"/>
              <a:t>ORY </a:t>
            </a:r>
            <a:r>
              <a:rPr lang="ru-RU" b="1" dirty="0" err="1"/>
              <a:t>Hydra</a:t>
            </a:r>
            <a:r>
              <a:rPr lang="ru-RU" dirty="0"/>
              <a:t>, который выступает в роли </a:t>
            </a:r>
            <a:r>
              <a:rPr lang="ru-RU" dirty="0" err="1"/>
              <a:t>authorization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 и отвечает за выдачу токенов, поддержку </a:t>
            </a:r>
            <a:r>
              <a:rPr lang="ru-RU" dirty="0" err="1"/>
              <a:t>OAuth</a:t>
            </a:r>
            <a:r>
              <a:rPr lang="ru-RU" dirty="0"/>
              <a:t> 2.0, OIDC и PKCE.</a:t>
            </a:r>
          </a:p>
          <a:p>
            <a:r>
              <a:rPr lang="ru-RU" dirty="0"/>
              <a:t>Такой подход позволяет не реализовывать критически важную </a:t>
            </a:r>
            <a:r>
              <a:rPr lang="ru-RU" dirty="0" err="1"/>
              <a:t>auth</a:t>
            </a:r>
            <a:r>
              <a:rPr lang="ru-RU" dirty="0"/>
              <a:t>-логику полностью вручную, а использовать специализированное решение, соответствующее современным стандартам безопасности.</a:t>
            </a:r>
          </a:p>
          <a:p>
            <a:r>
              <a:rPr lang="ru-RU" dirty="0"/>
              <a:t>В результате система поддерживает безопасный процесс входа пользователя, выдачу JWT-токенов и дальнейшее использование этих токенов при обращении к защищённым ресурсам платформы.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6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4000" dirty="0"/>
              <a:t>На этом слайде представлена ролевая модель доступа, используемая в системе.</a:t>
            </a:r>
          </a:p>
          <a:p>
            <a:r>
              <a:rPr lang="ru-RU" sz="4000" dirty="0"/>
              <a:t>Для управления доступом был выбран подход </a:t>
            </a:r>
            <a:r>
              <a:rPr lang="ru-RU" sz="4000" b="1" dirty="0" err="1"/>
              <a:t>ReBAC</a:t>
            </a:r>
            <a:r>
              <a:rPr lang="ru-RU" sz="4000" dirty="0"/>
              <a:t>, реализованный с помощью </a:t>
            </a:r>
            <a:r>
              <a:rPr lang="ru-RU" sz="4000" b="1" dirty="0"/>
              <a:t>ORY </a:t>
            </a:r>
            <a:r>
              <a:rPr lang="ru-RU" sz="4000" b="1" dirty="0" err="1"/>
              <a:t>Keto</a:t>
            </a:r>
            <a:r>
              <a:rPr lang="ru-RU" sz="4000" dirty="0"/>
              <a:t>.</a:t>
            </a:r>
            <a:br>
              <a:rPr lang="ru-RU" sz="4000" dirty="0"/>
            </a:br>
            <a:r>
              <a:rPr lang="ru-RU" sz="4000" dirty="0"/>
              <a:t>В отличие от классической RBAC-модели, где доступ строится только на основе ролей, </a:t>
            </a:r>
            <a:r>
              <a:rPr lang="ru-RU" sz="4000" dirty="0" err="1"/>
              <a:t>ReBAC</a:t>
            </a:r>
            <a:r>
              <a:rPr lang="ru-RU" sz="4000" dirty="0"/>
              <a:t> позволяет задавать права через отношения между субъектами и объектами.</a:t>
            </a:r>
          </a:p>
          <a:p>
            <a:r>
              <a:rPr lang="ru-RU" sz="4000" dirty="0"/>
              <a:t>Базовая запись в такой модели имеет вид:</a:t>
            </a:r>
            <a:br>
              <a:rPr lang="ru-RU" sz="4000" dirty="0"/>
            </a:br>
            <a:r>
              <a:rPr lang="ru-RU" sz="4000" b="1" dirty="0" err="1"/>
              <a:t>namespace:object#relation@namespace:subject</a:t>
            </a:r>
            <a:r>
              <a:rPr lang="ru-RU" sz="4000" dirty="0"/>
              <a:t>.</a:t>
            </a:r>
          </a:p>
          <a:p>
            <a:r>
              <a:rPr lang="ru-RU" sz="4000" dirty="0"/>
              <a:t>Например, это позволяет описывать такие отношения, как:</a:t>
            </a:r>
          </a:p>
          <a:p>
            <a:r>
              <a:rPr lang="ru-RU" sz="4000" dirty="0"/>
              <a:t>пользователь является владельцем курса, </a:t>
            </a:r>
          </a:p>
          <a:p>
            <a:r>
              <a:rPr lang="ru-RU" sz="4000" dirty="0"/>
              <a:t>пользователь является участником курса, </a:t>
            </a:r>
          </a:p>
          <a:p>
            <a:r>
              <a:rPr lang="ru-RU" sz="4000" dirty="0"/>
              <a:t>автор может редактировать урок, </a:t>
            </a:r>
          </a:p>
          <a:p>
            <a:r>
              <a:rPr lang="ru-RU" sz="4000" dirty="0"/>
              <a:t>ученик может просматривать только те материалы, к которым у него есть доступ. </a:t>
            </a:r>
          </a:p>
          <a:p>
            <a:r>
              <a:rPr lang="ru-RU" sz="4000" dirty="0"/>
              <a:t>Преимущество такого подхода состоит в том, что он лучше подходит для сложных прикладных систем, где доступ зависит не только от роли, но и от связи пользователя с конкретным объектом.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92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представлена структура курса.</a:t>
            </a:r>
          </a:p>
          <a:p>
            <a:r>
              <a:rPr lang="ru-RU" dirty="0"/>
              <a:t>Курс является основной сущностью образовательной платформы и включает в себя иерархию учебного контента.</a:t>
            </a:r>
            <a:br>
              <a:rPr lang="ru-RU" dirty="0"/>
            </a:br>
            <a:r>
              <a:rPr lang="ru-RU" dirty="0"/>
              <a:t>В его состав входят модули, уроки, видео, дополнительные материалы и связанные элементы взаимодействия.</a:t>
            </a:r>
          </a:p>
          <a:p>
            <a:r>
              <a:rPr lang="ru-RU" dirty="0"/>
              <a:t>Такая структура позволяет логически группировать учебный контент, управлять доступом на разных уровнях и формировать удобную навигацию для пользователя.</a:t>
            </a:r>
          </a:p>
          <a:p>
            <a:r>
              <a:rPr lang="ru-RU" dirty="0"/>
              <a:t>Кроме того, разделение курса на модули и уроки упрощает масштабирование платформы и расширение функциональности, например добавление тестов, домашних заданий или аналитики прохождения.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92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/>
              <a:t>На этом слайде представлена структура онлайн-эфира.</a:t>
            </a:r>
          </a:p>
          <a:p>
            <a:r>
              <a:rPr lang="ru-RU" sz="1800" dirty="0"/>
              <a:t>Эфир является важной сущностью платформы.</a:t>
            </a:r>
          </a:p>
          <a:p>
            <a:r>
              <a:rPr lang="ru-RU" sz="1800" dirty="0"/>
              <a:t>При проектировании этой подсистемы было важно обеспечить: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возможность запуска и завершения эфира;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привязку эфира к конкретному курсу или модулю;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уведомление пользователей о начале трансляции;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поддержку взаимодействия участников через чат;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дальнейшее хранение или публикацию записи эфира. </a:t>
            </a:r>
          </a:p>
          <a:p>
            <a:r>
              <a:rPr lang="ru-RU" sz="1800" dirty="0"/>
              <a:t>Таким образом, эфир в системе рассматривается не как отдельный видеопоток, а как комплексный объект, связанный с контентом, расписанием и пользовательским взаимодействием.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28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показан видеоплеер, используемый в платформе.</a:t>
            </a:r>
          </a:p>
          <a:p>
            <a:r>
              <a:rPr lang="ru-RU" dirty="0"/>
              <a:t>Видеоплеер является важной частью пользовательского интерфейса, так как именно через него осуществляется основное потребление учебного видеоконтента.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75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044F-8FB1-7EC4-7763-0D03FCD6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AAE65-15A2-1F76-326F-EAA49C2AC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A733B-E5E1-C9F5-AEA7-1B0D1084F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представлены результаты исследования, связанного с кодированием видео.</a:t>
            </a:r>
          </a:p>
          <a:p>
            <a:r>
              <a:rPr lang="ru-RU" dirty="0"/>
              <a:t>В рамках работы было проведено сравнение нескольких кодеков и параметров сжатия для одного и того же видеоматериала.</a:t>
            </a:r>
            <a:br>
              <a:rPr lang="ru-RU" dirty="0"/>
            </a:br>
            <a:r>
              <a:rPr lang="ru-RU" dirty="0"/>
              <a:t>Целью этого исследования являлось определение компромисса между:</a:t>
            </a:r>
          </a:p>
          <a:p>
            <a:r>
              <a:rPr lang="ru-RU" dirty="0"/>
              <a:t>размером итогового файла, </a:t>
            </a:r>
          </a:p>
          <a:p>
            <a:r>
              <a:rPr lang="ru-RU" dirty="0"/>
              <a:t>качеством изображения, </a:t>
            </a:r>
          </a:p>
          <a:p>
            <a:r>
              <a:rPr lang="ru-RU" dirty="0"/>
              <a:t>и временем кодирования. </a:t>
            </a:r>
          </a:p>
          <a:p>
            <a:r>
              <a:rPr lang="ru-RU" dirty="0"/>
              <a:t>Сравнивались различные варианты кодирования, а оценка выполнялась как по размеру получающихся файлов, так и по объективным метрикам качества, таким как </a:t>
            </a:r>
            <a:r>
              <a:rPr lang="ru-RU" b="1" dirty="0"/>
              <a:t>PSNR</a:t>
            </a:r>
            <a:r>
              <a:rPr lang="ru-RU" dirty="0"/>
              <a:t> и </a:t>
            </a:r>
            <a:r>
              <a:rPr lang="ru-RU" b="1" dirty="0"/>
              <a:t>SSIM</a:t>
            </a:r>
            <a:r>
              <a:rPr lang="ru-RU" dirty="0"/>
              <a:t>, а также по времени обработки.</a:t>
            </a:r>
          </a:p>
          <a:p>
            <a:r>
              <a:rPr lang="ru-RU" dirty="0"/>
              <a:t>Результаты показали, что выбор кодека должен учитывать не только качество, но и вычислительные затраты, поскольку для образовательной платформы важны как хранение видео, так и скорость публикации и обработки контента.</a:t>
            </a:r>
          </a:p>
          <a:p>
            <a:endParaRPr lang="ru-RU" dirty="0"/>
          </a:p>
          <a:p>
            <a:r>
              <a:rPr lang="ru-RU" b="1" dirty="0"/>
              <a:t>PSNR</a:t>
            </a:r>
            <a:r>
              <a:rPr lang="ru-RU" dirty="0"/>
              <a:t> — это </a:t>
            </a:r>
            <a:r>
              <a:rPr lang="ru-RU" b="1" dirty="0" err="1"/>
              <a:t>Peak</a:t>
            </a:r>
            <a:r>
              <a:rPr lang="ru-RU" b="1" dirty="0"/>
              <a:t> </a:t>
            </a:r>
            <a:r>
              <a:rPr lang="ru-RU" b="1" dirty="0" err="1"/>
              <a:t>Signal-to-Noise</a:t>
            </a:r>
            <a:r>
              <a:rPr lang="ru-RU" b="1" dirty="0"/>
              <a:t> </a:t>
            </a:r>
            <a:r>
              <a:rPr lang="ru-RU" b="1" dirty="0" err="1"/>
              <a:t>Ratio</a:t>
            </a:r>
            <a:r>
              <a:rPr lang="ru-RU" dirty="0"/>
              <a:t>, по-русски обычно: (чем выше тем лучше)</a:t>
            </a:r>
            <a:br>
              <a:rPr lang="ru-RU" dirty="0"/>
            </a:br>
            <a:r>
              <a:rPr lang="ru-RU" b="1" dirty="0"/>
              <a:t>пиковое отношение сигнала к шуму</a:t>
            </a:r>
            <a:r>
              <a:rPr lang="ru-RU" dirty="0"/>
              <a:t>.</a:t>
            </a:r>
          </a:p>
          <a:p>
            <a:r>
              <a:rPr lang="ru-RU" dirty="0"/>
              <a:t>По сути, эта метрика показывает, </a:t>
            </a:r>
            <a:r>
              <a:rPr lang="ru-RU" b="1" dirty="0"/>
              <a:t>насколько сильно пиксели сжатого изображения отличаются от исходных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SSIM</a:t>
            </a:r>
            <a:r>
              <a:rPr lang="ru-RU" dirty="0"/>
              <a:t> — это </a:t>
            </a:r>
            <a:r>
              <a:rPr lang="ru-RU" b="1" dirty="0" err="1"/>
              <a:t>Structural</a:t>
            </a:r>
            <a:r>
              <a:rPr lang="ru-RU" b="1" dirty="0"/>
              <a:t> </a:t>
            </a:r>
            <a:r>
              <a:rPr lang="ru-RU" b="1" dirty="0" err="1"/>
              <a:t>Similarity</a:t>
            </a:r>
            <a:r>
              <a:rPr lang="ru-RU" b="1" dirty="0"/>
              <a:t> Index</a:t>
            </a:r>
            <a:r>
              <a:rPr lang="ru-RU" dirty="0"/>
              <a:t>, (от 0 до 1, где 1 - исходное)</a:t>
            </a:r>
            <a:br>
              <a:rPr lang="ru-RU" dirty="0"/>
            </a:br>
            <a:r>
              <a:rPr lang="ru-RU" dirty="0"/>
              <a:t>по-русски: </a:t>
            </a:r>
            <a:r>
              <a:rPr lang="ru-RU" b="1" dirty="0"/>
              <a:t>индекс структурного сходства</a:t>
            </a:r>
            <a:r>
              <a:rPr lang="ru-RU" dirty="0"/>
              <a:t>.</a:t>
            </a:r>
          </a:p>
          <a:p>
            <a:r>
              <a:rPr lang="ru-RU" dirty="0"/>
              <a:t>Эта метрика оценивает не просто разницу по пикселям, а </a:t>
            </a:r>
            <a:r>
              <a:rPr lang="ru-RU" b="1" dirty="0"/>
              <a:t>насколько похожа структура изображения</a:t>
            </a:r>
            <a:r>
              <a:rPr lang="ru-RU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B7B92-EC61-C61F-E3ED-B36434135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76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На данном слайде представлена демонстрация работы разработанной платформы.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45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образом, было разработано веб-приложение, </a:t>
            </a: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реализующее безопасную цифровую образовательную платформу для онлайн-курсов с гибким функционалом.</a:t>
            </a:r>
            <a:endParaRPr lang="ru-RU" dirty="0"/>
          </a:p>
          <a:p>
            <a:endParaRPr lang="ru-RU" dirty="0"/>
          </a:p>
          <a:p>
            <a:r>
              <a:rPr lang="ru-RU" dirty="0"/>
              <a:t>В ходе разработки были решены следующие задачи:</a:t>
            </a:r>
          </a:p>
          <a:p>
            <a:pPr algn="just"/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1.         Проведён анализ современных </a:t>
            </a:r>
            <a:r>
              <a:rPr lang="ru-RU" dirty="0"/>
              <a:t>образовательных платформ и их требований</a:t>
            </a: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;</a:t>
            </a:r>
          </a:p>
          <a:p>
            <a:pPr marL="457200" indent="-457200" algn="just">
              <a:buAutoNum type="arabicPeriod" startAt="2"/>
            </a:pPr>
            <a:r>
              <a:rPr lang="ru-RU" dirty="0"/>
              <a:t>Исследованы подходы к аутентификации, авторизации и управлению доступом</a:t>
            </a: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;</a:t>
            </a:r>
          </a:p>
          <a:p>
            <a:pPr marL="457200" indent="-457200" algn="just">
              <a:buFontTx/>
              <a:buAutoNum type="arabicPeriod" startAt="2"/>
            </a:pP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Реализована собственная система авторизации и разграничения прав доступа.</a:t>
            </a:r>
          </a:p>
          <a:p>
            <a:pPr marL="457200" indent="-457200" algn="just">
              <a:buAutoNum type="arabicPeriod" startAt="4"/>
            </a:pP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Спроектирован и разработан основной функционал цифровой платформы;</a:t>
            </a:r>
          </a:p>
          <a:p>
            <a:pPr marL="457200" indent="-457200" algn="just">
              <a:buFontTx/>
              <a:buAutoNum type="arabicPeriod" startAt="4"/>
            </a:pP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Реализована интеграция библиотек и модулей для реализации обработки видео;</a:t>
            </a:r>
          </a:p>
          <a:p>
            <a:pPr marL="457200" indent="-457200" algn="just">
              <a:buFontTx/>
              <a:buAutoNum type="arabicPeriod" startAt="4"/>
            </a:pPr>
            <a:r>
              <a:rPr lang="ru-RU" sz="1200" dirty="0">
                <a:solidFill>
                  <a:schemeClr val="tx1">
                    <a:alpha val="70000"/>
                  </a:schemeClr>
                </a:solidFill>
              </a:rPr>
              <a:t>Спроектирован и реализован пользовательский интерфейс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1836F-937A-4711-805F-7618927E71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4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10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8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30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42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71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62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49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366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39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54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1999D-E1F4-413D-B33E-2AE961C7E37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AC258-CBF9-4C57-9D96-3F9CC9C7A7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25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08037" y="1513114"/>
            <a:ext cx="9975925" cy="2703575"/>
          </a:xfrm>
        </p:spPr>
        <p:txBody>
          <a:bodyPr>
            <a:noAutofit/>
          </a:bodyPr>
          <a:lstStyle/>
          <a:p>
            <a:r>
              <a:rPr lang="ru-RU" b="1" i="1" dirty="0"/>
              <a:t>Исследование и разработка образовательной платформы с курсами</a:t>
            </a:r>
            <a:endParaRPr lang="ru-RU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58983" y="5202238"/>
            <a:ext cx="5081196" cy="1019548"/>
          </a:xfrm>
        </p:spPr>
        <p:txBody>
          <a:bodyPr/>
          <a:lstStyle/>
          <a:p>
            <a:pPr algn="r"/>
            <a:r>
              <a:rPr lang="ru-RU" dirty="0"/>
              <a:t>Студент: Онюшев А.А.</a:t>
            </a:r>
            <a:r>
              <a:rPr lang="en-US" dirty="0"/>
              <a:t> </a:t>
            </a:r>
            <a:r>
              <a:rPr lang="ru-RU" dirty="0"/>
              <a:t>РК6-</a:t>
            </a:r>
            <a:r>
              <a:rPr lang="en-US" dirty="0"/>
              <a:t>41</a:t>
            </a:r>
            <a:r>
              <a:rPr lang="ru-RU" dirty="0"/>
              <a:t>М</a:t>
            </a:r>
          </a:p>
          <a:p>
            <a:pPr algn="r"/>
            <a:r>
              <a:rPr lang="ru-RU" dirty="0"/>
              <a:t>Научный руководитель: </a:t>
            </a:r>
            <a:r>
              <a:rPr lang="ru-RU" dirty="0" err="1"/>
              <a:t>Витюков</a:t>
            </a:r>
            <a:r>
              <a:rPr lang="ru-RU" dirty="0"/>
              <a:t> Ф.А.</a:t>
            </a:r>
          </a:p>
        </p:txBody>
      </p:sp>
      <p:pic>
        <p:nvPicPr>
          <p:cNvPr id="6" name="Рисунок 9">
            <a:extLst>
              <a:ext uri="{FF2B5EF4-FFF2-40B4-BE49-F238E27FC236}">
                <a16:creationId xmlns:a16="http://schemas.microsoft.com/office/drawing/2014/main" id="{0F67D4B0-A75F-4B2E-8DCE-6B75BCD29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0" y="4597689"/>
            <a:ext cx="1376353" cy="162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4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40105" y="83500"/>
            <a:ext cx="3394934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Определения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039" y="771989"/>
            <a:ext cx="1132192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ReBAC (Relationship‑Based Access Control) </a:t>
            </a: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способ для гибкого управления правами доступа.</a:t>
            </a:r>
          </a:p>
          <a:p>
            <a:r>
              <a:rPr lang="en-US" b="1" dirty="0"/>
              <a:t>JWT (JSON Web Token)</a:t>
            </a:r>
            <a:r>
              <a:rPr lang="en-US" dirty="0"/>
              <a:t> — </a:t>
            </a:r>
            <a:r>
              <a:rPr lang="en-US" dirty="0" err="1"/>
              <a:t>компактный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токена</a:t>
            </a:r>
            <a:r>
              <a:rPr lang="en-US" dirty="0"/>
              <a:t>, </a:t>
            </a:r>
            <a:r>
              <a:rPr lang="en-US" dirty="0" err="1"/>
              <a:t>используемый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безопасной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о </a:t>
            </a:r>
            <a:r>
              <a:rPr lang="en-US" dirty="0" err="1"/>
              <a:t>пользователе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правах</a:t>
            </a:r>
            <a:r>
              <a:rPr lang="en-US" dirty="0"/>
              <a:t>.</a:t>
            </a:r>
            <a:endParaRPr lang="ru-RU" dirty="0"/>
          </a:p>
          <a:p>
            <a:r>
              <a:rPr lang="en-US" b="1" dirty="0"/>
              <a:t>API</a:t>
            </a:r>
            <a:r>
              <a:rPr lang="ru-RU" b="1" dirty="0"/>
              <a:t> (</a:t>
            </a:r>
            <a:r>
              <a:rPr lang="en-US" b="1" dirty="0"/>
              <a:t>Application Programming Interface</a:t>
            </a:r>
            <a:r>
              <a:rPr lang="ru-RU" b="1" dirty="0"/>
              <a:t>)</a:t>
            </a:r>
            <a:r>
              <a:rPr lang="ru-RU" dirty="0"/>
              <a:t> – программный интерфейс взаимодействия между различными компонентами системы.</a:t>
            </a:r>
          </a:p>
          <a:p>
            <a:r>
              <a:rPr lang="en-US" b="1" dirty="0"/>
              <a:t>PostgreSQL</a:t>
            </a:r>
            <a:r>
              <a:rPr lang="en-US" dirty="0"/>
              <a:t> </a:t>
            </a:r>
            <a:r>
              <a:rPr lang="ru-RU" dirty="0"/>
              <a:t>– реляционная система управления базами данных, используемая для хранения структурированной информации платформы.</a:t>
            </a:r>
          </a:p>
          <a:p>
            <a:r>
              <a:rPr lang="en-US" b="1" dirty="0"/>
              <a:t>Redis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en-US" dirty="0"/>
              <a:t>in</a:t>
            </a:r>
            <a:r>
              <a:rPr lang="ru-RU" dirty="0"/>
              <a:t>-</a:t>
            </a:r>
            <a:r>
              <a:rPr lang="en-US" dirty="0"/>
              <a:t>memory</a:t>
            </a:r>
            <a:r>
              <a:rPr lang="ru-RU" dirty="0"/>
              <a:t> хранилище данных, применяемое для кэширования, временного хранения информации и ускорения работы системы.</a:t>
            </a:r>
          </a:p>
          <a:p>
            <a:r>
              <a:rPr lang="en-US" b="1" dirty="0"/>
              <a:t>Kafka</a:t>
            </a:r>
            <a:r>
              <a:rPr lang="en-US" dirty="0"/>
              <a:t> </a:t>
            </a:r>
            <a:r>
              <a:rPr lang="ru-RU" dirty="0"/>
              <a:t>– распределенный брокер сообщений, используемый для организации событийного взаимодействия между компонентами системы.</a:t>
            </a:r>
          </a:p>
          <a:p>
            <a:r>
              <a:rPr lang="en-US" b="1" dirty="0" err="1"/>
              <a:t>Centrifugo</a:t>
            </a:r>
            <a:r>
              <a:rPr lang="en-US" dirty="0"/>
              <a:t> </a:t>
            </a:r>
            <a:r>
              <a:rPr lang="ru-RU" dirty="0"/>
              <a:t>– платформа для обмена сообщениями и доставки событий в режиме реального времени.</a:t>
            </a:r>
          </a:p>
          <a:p>
            <a:r>
              <a:rPr lang="ru-RU" b="1" dirty="0"/>
              <a:t>Объектное хранилище</a:t>
            </a:r>
            <a:r>
              <a:rPr lang="ru-RU" dirty="0"/>
              <a:t> – способ хранения файлов и связанных с ними метаданных в виде объектов.</a:t>
            </a:r>
          </a:p>
          <a:p>
            <a:r>
              <a:rPr lang="en-US" b="1" dirty="0"/>
              <a:t>S</a:t>
            </a:r>
            <a:r>
              <a:rPr lang="ru-RU" b="1" dirty="0"/>
              <a:t>3-совместимое хранилище</a:t>
            </a:r>
            <a:r>
              <a:rPr lang="ru-RU" dirty="0"/>
              <a:t> – объектное хранилище, поддерживающее интерфейсы взаимодействия, совместимые с </a:t>
            </a:r>
            <a:r>
              <a:rPr lang="en-US" dirty="0"/>
              <a:t>Amazon S</a:t>
            </a:r>
            <a:r>
              <a:rPr lang="ru-RU" dirty="0"/>
              <a:t>3.</a:t>
            </a:r>
            <a:endParaRPr lang="en-US" dirty="0"/>
          </a:p>
          <a:p>
            <a:r>
              <a:rPr lang="en-US" b="1" dirty="0"/>
              <a:t>OAuth</a:t>
            </a:r>
            <a:r>
              <a:rPr lang="ru-RU" b="1" dirty="0"/>
              <a:t> 2.0</a:t>
            </a:r>
            <a:r>
              <a:rPr lang="ru-RU" dirty="0"/>
              <a:t> – протокол авторизации, обеспечивающий делегированный доступ к защищенным ресурсам.</a:t>
            </a:r>
            <a:endParaRPr lang="en-US" dirty="0"/>
          </a:p>
          <a:p>
            <a:r>
              <a:rPr lang="en-US" b="1" dirty="0"/>
              <a:t>PKCE</a:t>
            </a:r>
            <a:r>
              <a:rPr lang="ru-RU" b="1" dirty="0"/>
              <a:t> (</a:t>
            </a:r>
            <a:r>
              <a:rPr lang="en-US" b="1" dirty="0"/>
              <a:t>Proof Key for Code Exchange</a:t>
            </a:r>
            <a:r>
              <a:rPr lang="ru-RU" b="1" dirty="0"/>
              <a:t>) - </a:t>
            </a:r>
            <a:r>
              <a:rPr lang="ru-RU" dirty="0"/>
              <a:t>расширение протокола </a:t>
            </a:r>
            <a:r>
              <a:rPr lang="en-US" dirty="0"/>
              <a:t>OAuth </a:t>
            </a:r>
            <a:r>
              <a:rPr lang="ru-RU" dirty="0"/>
              <a:t>2.0, которое повышает безопасность процесса авторизации и защищает от утечки </a:t>
            </a:r>
            <a:r>
              <a:rPr lang="en-US" dirty="0"/>
              <a:t>authorization code</a:t>
            </a:r>
            <a:r>
              <a:rPr lang="ru-RU" dirty="0"/>
              <a:t>. </a:t>
            </a:r>
          </a:p>
          <a:p>
            <a:r>
              <a:rPr lang="en-US" b="1" dirty="0"/>
              <a:t>OIDC (OpenID Connect)</a:t>
            </a:r>
            <a:r>
              <a:rPr lang="ru-RU" dirty="0"/>
              <a:t> – протокол аутентификации, построенный поверх </a:t>
            </a:r>
            <a:r>
              <a:rPr lang="en-US" dirty="0"/>
              <a:t>OAuth</a:t>
            </a:r>
            <a:r>
              <a:rPr lang="ru-RU" dirty="0"/>
              <a:t> 2.0 и позволяющий подтверждать личность пользователя.</a:t>
            </a:r>
            <a:endParaRPr lang="en-US" dirty="0"/>
          </a:p>
          <a:p>
            <a:endParaRPr lang="ru-RU" dirty="0"/>
          </a:p>
        </p:txBody>
      </p:sp>
      <p:sp>
        <p:nvSpPr>
          <p:cNvPr id="13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2/1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857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3" y="301214"/>
            <a:ext cx="4755648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 fontScale="92500"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Актуальность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6329" y="1510046"/>
            <a:ext cx="5326328" cy="1292662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lIns="274320" tIns="91440" rIns="274320" bIns="91440" rtlCol="0">
            <a:spAutoFit/>
          </a:bodyPr>
          <a:lstStyle/>
          <a:p>
            <a:pPr algn="ctr"/>
            <a:r>
              <a:rPr lang="ru-RU" sz="2400" dirty="0"/>
              <a:t>Рост спроса на цифровые образовательные платформы и онлайн-курсы</a:t>
            </a:r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89333" y="2884095"/>
            <a:ext cx="3992081" cy="923330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lIns="274320" tIns="91440" rIns="274320" bIns="91440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Потребность в гибком функционале</a:t>
            </a:r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0" y="3976656"/>
            <a:ext cx="3992081" cy="923330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lIns="274320" tIns="91440" rIns="274320" bIns="91440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Необходимость импортозамещения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36329" y="865453"/>
            <a:ext cx="5645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Актуальность работы основана на:</a:t>
            </a:r>
          </a:p>
        </p:txBody>
      </p:sp>
      <p:sp>
        <p:nvSpPr>
          <p:cNvPr id="13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3/1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E77DF-37EB-47DB-AF60-9F6BC9506D36}"/>
              </a:ext>
            </a:extLst>
          </p:cNvPr>
          <p:cNvSpPr txBox="1"/>
          <p:nvPr/>
        </p:nvSpPr>
        <p:spPr>
          <a:xfrm>
            <a:off x="7773000" y="5069217"/>
            <a:ext cx="3992081" cy="923330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lIns="274320" tIns="91440" rIns="274320" bIns="91440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Повышенные требования к безопасности</a:t>
            </a:r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5" name="Надпись 2">
            <a:extLst>
              <a:ext uri="{FF2B5EF4-FFF2-40B4-BE49-F238E27FC236}">
                <a16:creationId xmlns:a16="http://schemas.microsoft.com/office/drawing/2014/main" id="{7D5325EF-4173-497B-90E2-9ECF4120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02" y="5530882"/>
            <a:ext cx="3279199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45720" rIns="91440" bIns="45720" anchor="t" anchorCtr="0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Визуал сайта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B1552A-9E9B-B8D9-76BE-2F2F1EFBF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06" y="2072726"/>
            <a:ext cx="5482566" cy="345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6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3" y="267347"/>
            <a:ext cx="4603247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Постановка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576" y="1340749"/>
            <a:ext cx="10994318" cy="1277273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/>
              <a:t>Цель работы:</a:t>
            </a: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 </a:t>
            </a:r>
            <a:r>
              <a:rPr lang="ru-RU" sz="2400" dirty="0"/>
              <a:t>исследование и разработка надежной образовательной платформы с курсами, обеспечивающей управление учебным контентом, пользователями и доступом к ресурсам системы.</a:t>
            </a:r>
            <a:endParaRPr lang="en-US" sz="2400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576" y="3015234"/>
            <a:ext cx="10994318" cy="3631763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/>
              <a:t>Задачи :</a:t>
            </a:r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r>
              <a:rPr lang="ru-RU" sz="2400" b="1" dirty="0">
                <a:solidFill>
                  <a:schemeClr val="tx1">
                    <a:alpha val="70000"/>
                  </a:schemeClr>
                </a:solidFill>
              </a:rPr>
              <a:t> </a:t>
            </a:r>
            <a:endParaRPr lang="en-US" sz="2400" b="1" dirty="0">
              <a:solidFill>
                <a:schemeClr val="tx1">
                  <a:alpha val="70000"/>
                </a:schemeClr>
              </a:solidFill>
            </a:endParaRPr>
          </a:p>
          <a:p>
            <a:pPr algn="just"/>
            <a:endParaRPr lang="ru-RU" sz="2400" dirty="0"/>
          </a:p>
          <a:p>
            <a:pPr algn="just"/>
            <a:endParaRPr lang="ru-RU" sz="12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355239"/>
              </p:ext>
            </p:extLst>
          </p:nvPr>
        </p:nvGraphicFramePr>
        <p:xfrm>
          <a:off x="1247885" y="3414034"/>
          <a:ext cx="9778701" cy="27127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6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Провести анализ современных образовательных платформ и их требований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R="45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Спроектировать модель системы видео, онлайн-эфиров, уведомлений и чатов</a:t>
                      </a:r>
                      <a:r>
                        <a:rPr lang="ru-RU" sz="2000" b="0" dirty="0">
                          <a:solidFill>
                            <a:schemeClr val="tx1">
                              <a:alpha val="70000"/>
                            </a:schemeClr>
                          </a:solidFill>
                        </a:rPr>
                        <a:t>;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R="3657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1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Исследовать подходы к аутентификации, авторизации и управлению доступом</a:t>
                      </a:r>
                      <a:r>
                        <a:rPr lang="ru-RU" sz="2000" b="0" dirty="0">
                          <a:solidFill>
                            <a:schemeClr val="tx1">
                              <a:alpha val="70000"/>
                            </a:schemeClr>
                          </a:solidFill>
                        </a:rPr>
                        <a:t>;</a:t>
                      </a:r>
                    </a:p>
                  </a:txBody>
                  <a:tcPr marR="45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Реализовать систему видео, онлайн-эфиров, уведомлений и чатов;</a:t>
                      </a:r>
                    </a:p>
                  </a:txBody>
                  <a:tcPr marR="3657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Разработать систему авторизации и разграничения доступа</a:t>
                      </a:r>
                      <a:r>
                        <a:rPr lang="ru-RU" sz="2000" b="0" dirty="0">
                          <a:solidFill>
                            <a:schemeClr val="tx1">
                              <a:alpha val="70000"/>
                            </a:schemeClr>
                          </a:solidFill>
                        </a:rPr>
                        <a:t>;</a:t>
                      </a:r>
                    </a:p>
                  </a:txBody>
                  <a:tcPr marR="45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ru-RU" sz="2000" b="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R="3657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4/1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92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5/1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9" name="Надпись 2"/>
          <p:cNvSpPr txBox="1">
            <a:spLocks noChangeArrowheads="1"/>
          </p:cNvSpPr>
          <p:nvPr/>
        </p:nvSpPr>
        <p:spPr bwMode="auto">
          <a:xfrm>
            <a:off x="3584597" y="6286479"/>
            <a:ext cx="5463534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45720" rIns="91440" bIns="45720" anchor="t" anchorCtr="0">
            <a:spAutoFit/>
          </a:bodyPr>
          <a:lstStyle/>
          <a:p>
            <a:pPr marL="0" marR="0" indent="450215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2 –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проекта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D48EB56-1032-4F5C-A85C-DF6EB005B013}"/>
              </a:ext>
            </a:extLst>
          </p:cNvPr>
          <p:cNvSpPr txBox="1">
            <a:spLocks/>
          </p:cNvSpPr>
          <p:nvPr/>
        </p:nvSpPr>
        <p:spPr>
          <a:xfrm>
            <a:off x="-118333" y="233480"/>
            <a:ext cx="4472620" cy="688489"/>
          </a:xfrm>
          <a:prstGeom prst="rect">
            <a:avLst/>
          </a:prstGeo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Архитектура проекта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3295CC-8D1F-5E1A-FC85-339E3B2BF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9"/>
          <a:stretch>
            <a:fillRect/>
          </a:stretch>
        </p:blipFill>
        <p:spPr>
          <a:xfrm>
            <a:off x="458993" y="921970"/>
            <a:ext cx="11385053" cy="53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20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4" y="301214"/>
            <a:ext cx="5659163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Механизм авторизации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648" y="1385713"/>
            <a:ext cx="5331935" cy="1938992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ru-RU" sz="2400" b="1">
                <a:solidFill>
                  <a:schemeClr val="tx1">
                    <a:alpha val="70000"/>
                  </a:schemeClr>
                </a:solidFill>
              </a:rPr>
              <a:t>Протокол авторизации </a:t>
            </a:r>
            <a:r>
              <a:rPr lang="en-US" sz="2400" b="1">
                <a:solidFill>
                  <a:schemeClr val="tx1">
                    <a:alpha val="70000"/>
                  </a:schemeClr>
                </a:solidFill>
              </a:rPr>
              <a:t>OAuth 2.0 </a:t>
            </a:r>
            <a:r>
              <a:rPr lang="ru-RU" sz="2400">
                <a:solidFill>
                  <a:schemeClr val="tx1">
                    <a:alpha val="70000"/>
                  </a:schemeClr>
                </a:solidFill>
              </a:rPr>
              <a:t>предоставляет стандартизированный механизм авторизации, подходящий для интеграции с внешними сервисами</a:t>
            </a:r>
            <a:r>
              <a:rPr lang="en-US" sz="2400">
                <a:solidFill>
                  <a:schemeClr val="tx1">
                    <a:alpha val="70000"/>
                  </a:schemeClr>
                </a:solidFill>
              </a:rPr>
              <a:t>.</a:t>
            </a:r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9648" y="3818735"/>
            <a:ext cx="5331935" cy="1569660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tx1">
                    <a:alpha val="70000"/>
                  </a:schemeClr>
                </a:solidFill>
              </a:rPr>
              <a:t>OIDC </a:t>
            </a:r>
            <a:r>
              <a:rPr lang="ru-RU" sz="2400" b="1" dirty="0">
                <a:solidFill>
                  <a:schemeClr val="tx1">
                    <a:alpha val="7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работает поверх </a:t>
            </a:r>
            <a:r>
              <a:rPr lang="en-US" sz="2400" dirty="0">
                <a:solidFill>
                  <a:schemeClr val="tx1">
                    <a:alpha val="70000"/>
                  </a:schemeClr>
                </a:solidFill>
              </a:rPr>
              <a:t>OAuth 2.0 </a:t>
            </a: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и позволяет безопасно подтвердить личность пользователя через интегрированные внешние сервисы</a:t>
            </a:r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6/1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2" name="Надпись 2"/>
          <p:cNvSpPr txBox="1">
            <a:spLocks noChangeArrowheads="1"/>
          </p:cNvSpPr>
          <p:nvPr/>
        </p:nvSpPr>
        <p:spPr bwMode="auto">
          <a:xfrm>
            <a:off x="6069872" y="6140001"/>
            <a:ext cx="5538653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45720" rIns="91440" bIns="45720" anchor="t" anchorCtr="0">
            <a:spAutoFit/>
          </a:bodyPr>
          <a:lstStyle/>
          <a:p>
            <a:pPr marL="0" marR="0" indent="450215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Блок-схема авторизации пользователя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FD2AFC-77BD-9A9A-3AF5-99147BB1F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419" y="297272"/>
            <a:ext cx="4883594" cy="584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1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4" y="301215"/>
            <a:ext cx="5114878" cy="536986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 fontScale="85000" lnSpcReduction="10000"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Реализация авторизации</a:t>
            </a: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7/1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0" name="Надпись 2"/>
          <p:cNvSpPr txBox="1">
            <a:spLocks noChangeArrowheads="1"/>
          </p:cNvSpPr>
          <p:nvPr/>
        </p:nvSpPr>
        <p:spPr bwMode="auto">
          <a:xfrm>
            <a:off x="2840683" y="5739928"/>
            <a:ext cx="5605670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450215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Реализация авторизации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53C321-FE33-FB83-F352-0053DB792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2" y="1025754"/>
            <a:ext cx="5605670" cy="198534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339EA3-D4BF-ACFE-9EA4-E075298C5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113" y="1025754"/>
            <a:ext cx="3033160" cy="19853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35E78A-98F3-A7AC-110A-00C12E63B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92" y="3198649"/>
            <a:ext cx="5437326" cy="22637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5E0F2F-8A33-1F9D-18DB-5A4EA5C231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0055"/>
          <a:stretch>
            <a:fillRect/>
          </a:stretch>
        </p:blipFill>
        <p:spPr>
          <a:xfrm>
            <a:off x="5811862" y="3288656"/>
            <a:ext cx="6170233" cy="208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3" y="301214"/>
            <a:ext cx="3993648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Ролевая модель</a:t>
            </a: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8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7" name="Надпись 2"/>
          <p:cNvSpPr txBox="1">
            <a:spLocks noChangeArrowheads="1"/>
          </p:cNvSpPr>
          <p:nvPr/>
        </p:nvSpPr>
        <p:spPr bwMode="auto">
          <a:xfrm>
            <a:off x="3303923" y="5530255"/>
            <a:ext cx="5584154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450215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Ролевая модель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ReBAC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oogle Zanzibar: What is it ? [2025]">
            <a:extLst>
              <a:ext uri="{FF2B5EF4-FFF2-40B4-BE49-F238E27FC236}">
                <a16:creationId xmlns:a16="http://schemas.microsoft.com/office/drawing/2014/main" id="{45D4EA96-80DD-EEC5-968B-F1F5874F2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943" y="1469571"/>
            <a:ext cx="6466114" cy="39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02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4" y="301214"/>
            <a:ext cx="3971877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Структура курса</a:t>
            </a:r>
          </a:p>
        </p:txBody>
      </p:sp>
      <p:sp>
        <p:nvSpPr>
          <p:cNvPr id="32" name="Надпись 2"/>
          <p:cNvSpPr txBox="1">
            <a:spLocks noChangeArrowheads="1"/>
          </p:cNvSpPr>
          <p:nvPr/>
        </p:nvSpPr>
        <p:spPr bwMode="auto">
          <a:xfrm>
            <a:off x="3200342" y="6376919"/>
            <a:ext cx="5603728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450215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Структура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курса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BE2716-E8BF-7776-BE98-8CA6398D7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12" y="1035098"/>
            <a:ext cx="5561094" cy="333873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3F34D7-AAE9-11C6-ABEB-F5E7B6A81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949" y="989703"/>
            <a:ext cx="5854821" cy="32933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97118C-83FA-C357-CADF-0BE3670B2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73" y="3003637"/>
            <a:ext cx="6368733" cy="32933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AEE3F4-ECD2-F9B2-BEEB-2D6452C13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681" y="2923692"/>
            <a:ext cx="7238354" cy="3418678"/>
          </a:xfrm>
          <a:prstGeom prst="rect">
            <a:avLst/>
          </a:prstGeom>
        </p:spPr>
      </p:pic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9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9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3" y="301214"/>
            <a:ext cx="4069847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 anchor="ctr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Структура эфира</a:t>
            </a: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10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" name="Надпись 2">
            <a:extLst>
              <a:ext uri="{FF2B5EF4-FFF2-40B4-BE49-F238E27FC236}">
                <a16:creationId xmlns:a16="http://schemas.microsoft.com/office/drawing/2014/main" id="{6E3A7FD4-3E4D-5C2F-8D78-48333C726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136" y="5469864"/>
            <a:ext cx="5603728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450215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Рис.6 –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Структура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эфира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23B82B-DD35-358C-70D1-427354C44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8" y="1686351"/>
            <a:ext cx="5301342" cy="37653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DB3978-823C-3975-B9CC-1060BAF0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783" y="1685470"/>
            <a:ext cx="6456359" cy="37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66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4" y="301214"/>
            <a:ext cx="3111905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Видеоплеер</a:t>
            </a: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1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1/1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9" name="Надпись 2"/>
          <p:cNvSpPr txBox="1">
            <a:spLocks noChangeArrowheads="1"/>
          </p:cNvSpPr>
          <p:nvPr/>
        </p:nvSpPr>
        <p:spPr bwMode="auto">
          <a:xfrm>
            <a:off x="2345915" y="5995111"/>
            <a:ext cx="7050910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Видеоплеер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2F1F21-5153-6DDD-7B53-805BDF7EA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094" y="1140001"/>
            <a:ext cx="8687811" cy="487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042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8CE2E-4310-C0B1-F290-C0656403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E556DCF-8C23-3B2F-6EC7-5F121373BFF4}"/>
              </a:ext>
            </a:extLst>
          </p:cNvPr>
          <p:cNvSpPr txBox="1">
            <a:spLocks/>
          </p:cNvSpPr>
          <p:nvPr/>
        </p:nvSpPr>
        <p:spPr>
          <a:xfrm>
            <a:off x="-107449" y="0"/>
            <a:ext cx="2001563" cy="688489"/>
          </a:xfrm>
          <a:prstGeom prst="rect">
            <a:avLst/>
          </a:prstGeo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4000" b="1">
                <a:solidFill>
                  <a:schemeClr val="tx1">
                    <a:alpha val="80000"/>
                  </a:schemeClr>
                </a:solidFill>
              </a:rPr>
              <a:t>Кодеки</a:t>
            </a:r>
            <a:endParaRPr lang="ru-RU" sz="4000" b="1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D48F7E5-EF61-12F3-B173-EF22C20D209E}"/>
              </a:ext>
            </a:extLst>
          </p:cNvPr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1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1/1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Надпись 2">
            <a:extLst>
              <a:ext uri="{FF2B5EF4-FFF2-40B4-BE49-F238E27FC236}">
                <a16:creationId xmlns:a16="http://schemas.microsoft.com/office/drawing/2014/main" id="{8BBFCE3F-9033-9227-D8CF-EE8A38D8C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0044" y="3476216"/>
            <a:ext cx="7050910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1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Сравнение кодировок видео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C96AE15D-8023-65BC-2F18-18A16C09C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964492"/>
              </p:ext>
            </p:extLst>
          </p:nvPr>
        </p:nvGraphicFramePr>
        <p:xfrm>
          <a:off x="2264326" y="177502"/>
          <a:ext cx="9682347" cy="327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353658" imgH="3438545" progId="Excel.Sheet.12">
                  <p:embed/>
                </p:oleObj>
              </mc:Choice>
              <mc:Fallback>
                <p:oleObj name="Worksheet" r:id="rId3" imgW="10353658" imgH="343854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4326" y="177502"/>
                        <a:ext cx="9682347" cy="3279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8591550E-240A-9814-5DFF-4093B3FD626D}"/>
              </a:ext>
            </a:extLst>
          </p:cNvPr>
          <p:cNvGrpSpPr/>
          <p:nvPr/>
        </p:nvGrpSpPr>
        <p:grpSpPr>
          <a:xfrm>
            <a:off x="290256" y="3833013"/>
            <a:ext cx="11611488" cy="2270601"/>
            <a:chOff x="199512" y="3940628"/>
            <a:chExt cx="10821342" cy="214423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AA7A79B5-7755-660B-1AC4-78A576D60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512" y="3940629"/>
              <a:ext cx="3607114" cy="2144229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CAC22E25-944E-295A-EACE-257A02D78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6626" y="3940629"/>
              <a:ext cx="3607114" cy="2144229"/>
            </a:xfrm>
            <a:prstGeom prst="rect">
              <a:avLst/>
            </a:prstGeom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C4857D82-3D40-32CA-55F8-8DEAA32D9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3740" y="3940628"/>
              <a:ext cx="3607114" cy="2144229"/>
            </a:xfrm>
            <a:prstGeom prst="rect">
              <a:avLst/>
            </a:prstGeom>
          </p:spPr>
        </p:pic>
      </p:grpSp>
      <p:sp>
        <p:nvSpPr>
          <p:cNvPr id="18" name="Надпись 2">
            <a:extLst>
              <a:ext uri="{FF2B5EF4-FFF2-40B4-BE49-F238E27FC236}">
                <a16:creationId xmlns:a16="http://schemas.microsoft.com/office/drawing/2014/main" id="{14579284-C54C-C876-733D-B4D66659F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545" y="6141125"/>
            <a:ext cx="7050910" cy="33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Графики сравнения кодировок</a:t>
            </a:r>
          </a:p>
        </p:txBody>
      </p:sp>
    </p:spTree>
    <p:extLst>
      <p:ext uri="{BB962C8B-B14F-4D97-AF65-F5344CB8AC3E}">
        <p14:creationId xmlns:p14="http://schemas.microsoft.com/office/powerpoint/2010/main" val="20231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4" y="301214"/>
            <a:ext cx="5365248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Демонстрация работы</a:t>
            </a: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1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3/1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Запись экрана 6">
            <a:hlinkClick r:id="" action="ppaction://media"/>
            <a:extLst>
              <a:ext uri="{FF2B5EF4-FFF2-40B4-BE49-F238E27FC236}">
                <a16:creationId xmlns:a16="http://schemas.microsoft.com/office/drawing/2014/main" id="{365FF28D-7E56-06B3-7457-374CE9F30E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0763" y="1107274"/>
            <a:ext cx="11310474" cy="48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7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18334" y="301214"/>
            <a:ext cx="3122791" cy="688489"/>
          </a:xfrm>
          <a:solidFill>
            <a:srgbClr val="F99F8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txBody>
          <a:bodyPr lIns="274320">
            <a:normAutofit/>
          </a:bodyPr>
          <a:lstStyle/>
          <a:p>
            <a:pPr algn="l"/>
            <a:r>
              <a:rPr lang="ru-RU" sz="4000" b="1" dirty="0">
                <a:solidFill>
                  <a:schemeClr val="tx1">
                    <a:alpha val="80000"/>
                  </a:schemeClr>
                </a:solidFill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195" y="2401802"/>
            <a:ext cx="10615953" cy="4154984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Для достижения цели были решены следующие задачи:</a:t>
            </a:r>
          </a:p>
          <a:p>
            <a:pPr algn="just"/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1.   Проведён анализ современных образовательных платформ и их требований;</a:t>
            </a:r>
          </a:p>
          <a:p>
            <a:pPr marL="457200" indent="-457200" algn="just">
              <a:buAutoNum type="arabicPeriod" startAt="2"/>
            </a:pP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Исследованы подходы к аутентификации, авторизации и управлению доступом;</a:t>
            </a:r>
          </a:p>
          <a:p>
            <a:pPr marL="457200" indent="-457200" algn="just">
              <a:buFontTx/>
              <a:buAutoNum type="arabicPeriod" startAt="2"/>
            </a:pP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Реализована собственная система авторизации и разграничения прав       доступа</a:t>
            </a:r>
            <a:r>
              <a:rPr lang="en-US" sz="2400" dirty="0">
                <a:solidFill>
                  <a:schemeClr val="tx1">
                    <a:alpha val="70000"/>
                  </a:schemeClr>
                </a:solidFill>
              </a:rPr>
              <a:t>;</a:t>
            </a:r>
            <a:endParaRPr lang="ru-RU" sz="2400" dirty="0">
              <a:solidFill>
                <a:schemeClr val="tx1">
                  <a:alpha val="70000"/>
                </a:schemeClr>
              </a:solidFill>
            </a:endParaRPr>
          </a:p>
          <a:p>
            <a:pPr marL="457200" indent="-457200" algn="just">
              <a:buAutoNum type="arabicPeriod" startAt="4"/>
            </a:pP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Спроектирован и разработан основной функционал цифровой платформы;</a:t>
            </a:r>
          </a:p>
          <a:p>
            <a:pPr marL="457200" indent="-457200" algn="just">
              <a:buFontTx/>
              <a:buAutoNum type="arabicPeriod" startAt="4"/>
            </a:pP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Реализована интеграция библиотек и модулей для реализации обработки видео;</a:t>
            </a:r>
          </a:p>
          <a:p>
            <a:pPr marL="457200" indent="-457200" algn="just">
              <a:buFontTx/>
              <a:buAutoNum type="arabicPeriod" startAt="4"/>
            </a:pPr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Спроектирован и реализован пользовательский интерфейс.</a:t>
            </a:r>
          </a:p>
        </p:txBody>
      </p:sp>
      <p:sp>
        <p:nvSpPr>
          <p:cNvPr id="16" name="Подзаголовок 2"/>
          <p:cNvSpPr txBox="1">
            <a:spLocks/>
          </p:cNvSpPr>
          <p:nvPr/>
        </p:nvSpPr>
        <p:spPr>
          <a:xfrm>
            <a:off x="11274013" y="6164132"/>
            <a:ext cx="1014803" cy="516366"/>
          </a:xfrm>
          <a:prstGeom prst="rect">
            <a:avLst/>
          </a:prstGeom>
          <a:solidFill>
            <a:srgbClr val="A0DBED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vert="horz" lIns="27432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1</a:t>
            </a:r>
            <a:r>
              <a:rPr lang="ru-RU" sz="1600" dirty="0">
                <a:solidFill>
                  <a:schemeClr val="tx1">
                    <a:alpha val="80000"/>
                  </a:schemeClr>
                </a:solidFill>
              </a:rPr>
              <a:t>4/1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4</a:t>
            </a:r>
            <a:endParaRPr lang="ru-RU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195" y="1044207"/>
            <a:ext cx="10615953" cy="1200329"/>
          </a:xfrm>
          <a:prstGeom prst="rect">
            <a:avLst/>
          </a:prstGeom>
          <a:solidFill>
            <a:srgbClr val="BCD9F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solidFill>
                  <a:schemeClr val="tx1">
                    <a:alpha val="70000"/>
                  </a:schemeClr>
                </a:solidFill>
              </a:rPr>
              <a:t>В ходе выполнения работы было разработано веб-приложение, реализующее безопасную цифровую образовательную платформу для онлайн-курсов с гибким функционалом.</a:t>
            </a:r>
            <a:endParaRPr lang="ru-RU" sz="500" dirty="0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0028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1797</Words>
  <Application>Microsoft Office PowerPoint</Application>
  <PresentationFormat>Широкоэкранный</PresentationFormat>
  <Paragraphs>167</Paragraphs>
  <Slides>14</Slides>
  <Notes>14</Notes>
  <HiddenSlides>0</HiddenSlides>
  <MMClips>1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Worksheet</vt:lpstr>
      <vt:lpstr>Исследование и разработка образовательной платформы с курсами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artyom Onyushev</cp:lastModifiedBy>
  <cp:revision>110</cp:revision>
  <dcterms:created xsi:type="dcterms:W3CDTF">2024-12-23T13:04:42Z</dcterms:created>
  <dcterms:modified xsi:type="dcterms:W3CDTF">2026-05-11T19:03:55Z</dcterms:modified>
</cp:coreProperties>
</file>