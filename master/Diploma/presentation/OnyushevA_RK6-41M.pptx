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71" r:id="rId3"/>
    <p:sldId id="259" r:id="rId4"/>
    <p:sldId id="258" r:id="rId5"/>
    <p:sldId id="269" r:id="rId6"/>
    <p:sldId id="260" r:id="rId7"/>
    <p:sldId id="261" r:id="rId8"/>
    <p:sldId id="262" r:id="rId9"/>
    <p:sldId id="270" r:id="rId10"/>
    <p:sldId id="263" r:id="rId11"/>
    <p:sldId id="264" r:id="rId12"/>
    <p:sldId id="265" r:id="rId13"/>
    <p:sldId id="266" r:id="rId14"/>
    <p:sldId id="267" r:id="rId15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0DBED"/>
    <a:srgbClr val="BCD9FC"/>
    <a:srgbClr val="F99F89"/>
    <a:srgbClr val="E8F2FE"/>
    <a:srgbClr val="D7E8F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79811" autoAdjust="0"/>
  </p:normalViewPr>
  <p:slideViewPr>
    <p:cSldViewPr snapToGrid="0">
      <p:cViewPr varScale="1">
        <p:scale>
          <a:sx n="88" d="100"/>
          <a:sy n="88" d="100"/>
        </p:scale>
        <p:origin x="1470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3CFF3B-98A7-41B4-A722-42506241E61D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821836F-937A-4711-805F-7618927E71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52989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Добрый день, уважаемые члены комиссии, хочу представить вашему вниманию свою выпускную квалификационную работу на тему «</a:t>
            </a:r>
            <a:r>
              <a:rPr lang="ru-RU" sz="1800" b="1" i="1" dirty="0"/>
              <a:t>Исследование и разработка образовательной платформы с курсами</a:t>
            </a: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»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21836F-937A-4711-805F-7618927E711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01073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данном слайде вы можете увидеть основные определения, использованные в моей выпускной работе.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21836F-937A-4711-805F-7618927E711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92359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ru-RU" dirty="0"/>
              <a:t>В современном мире технологии дополненной реальности (AR) и искусственного интеллекта (AI) находят широкое применение в различных сферах, включая искусство. Виртуальные галереи становятся эффективным инструментом, обеспечивающим доступ к произведениям искусства независимо от географического положения, что делает их популярными среди художников и зрителей.</a:t>
            </a:r>
          </a:p>
          <a:p>
            <a:pPr rtl="0"/>
            <a:endParaRPr lang="ru-RU" dirty="0"/>
          </a:p>
          <a:p>
            <a:pPr rtl="0"/>
            <a:r>
              <a:rPr lang="ru-RU" dirty="0"/>
              <a:t>Актуальность исследования обусловлена следующими факторами:</a:t>
            </a:r>
          </a:p>
          <a:p>
            <a:pPr rtl="0">
              <a:buFont typeface="Arial" panose="020B0604020202020204" pitchFamily="34" charset="0"/>
              <a:buChar char="•"/>
            </a:pPr>
            <a:r>
              <a:rPr lang="ru-RU" dirty="0"/>
              <a:t> стремительное развитие и популяризация технологий AR и AI, их интеграция в приложения и веб-платформы;</a:t>
            </a:r>
          </a:p>
          <a:p>
            <a:pPr rtl="0">
              <a:buFont typeface="Arial" panose="020B0604020202020204" pitchFamily="34" charset="0"/>
              <a:buChar char="•"/>
            </a:pPr>
            <a:r>
              <a:rPr lang="ru-RU" dirty="0"/>
              <a:t> использование AI для обогащения пользовательского опыта посредством интеллектуальных рекомендаций и аналитических комментариев, что поддерживает как начинающих, так и опытных художников;</a:t>
            </a:r>
          </a:p>
          <a:p>
            <a:pPr rtl="0">
              <a:buFont typeface="Arial" panose="020B0604020202020204" pitchFamily="34" charset="0"/>
              <a:buChar char="•"/>
            </a:pPr>
            <a:r>
              <a:rPr lang="ru-RU" dirty="0"/>
              <a:t> применение AR для интерактивного взаимодействия с произведениями искусства, повышающее вовлеченность и интерес аудитории;</a:t>
            </a:r>
          </a:p>
          <a:p>
            <a:pPr rtl="0">
              <a:buFont typeface="Arial" panose="020B0604020202020204" pitchFamily="34" charset="0"/>
              <a:buChar char="•"/>
            </a:pPr>
            <a:r>
              <a:rPr lang="ru-RU" dirty="0"/>
              <a:t> расширение доступности инструментов для создания современного искусства, что способствует росту числа авторов и популяризации данной сферы.</a:t>
            </a:r>
          </a:p>
          <a:p>
            <a:pPr marL="0" marR="0" lvl="0" indent="0" algn="l" defTabSz="914400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endParaRPr lang="en-US" sz="12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21836F-937A-4711-805F-7618927E711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6302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Перед реализацией данного проекта была поставлена цель - </a:t>
            </a:r>
            <a:r>
              <a:rPr lang="ru-RU" sz="1200" dirty="0">
                <a:solidFill>
                  <a:schemeClr val="tx1">
                    <a:alpha val="70000"/>
                  </a:schemeClr>
                </a:solidFill>
              </a:rPr>
              <a:t>разработка веб-приложения, которое сочетает в себе функции дополненной реальности и искусственного интеллекта для художников, работающих в направлении современного искусства.</a:t>
            </a:r>
            <a:endParaRPr lang="en-US" sz="1200" dirty="0">
              <a:solidFill>
                <a:schemeClr val="tx1">
                  <a:alpha val="70000"/>
                </a:schemeClr>
              </a:solidFill>
            </a:endParaRPr>
          </a:p>
          <a:p>
            <a:r>
              <a:rPr lang="ru-RU" dirty="0"/>
              <a:t>Для достижения данной цели были поставлены следующие задачи:</a:t>
            </a:r>
          </a:p>
          <a:p>
            <a:pPr marL="342900" lvl="0" indent="-342900" algn="just"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Провести обзор существующих технологий в области AR, AI и их применения в искусстве;</a:t>
            </a:r>
            <a:endParaRPr lang="en-US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Разработать пользовательский интерфейс (UI), учитывающий как AR, так и AI-функциональность;</a:t>
            </a:r>
            <a:endParaRPr lang="en-US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Интегрировать библиотеки и модули для реализации картографической части приложения;</a:t>
            </a:r>
            <a:endParaRPr lang="en-US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Реализовать работу GPT-ассистента, способного отвечать на запросы пользователей, используя заранее заданные профессиональные настройки;</a:t>
            </a:r>
            <a:endParaRPr lang="en-US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Разработать методы взаимодействия пользователя с цифровым контентом в AR и AI-режиме;</a:t>
            </a:r>
            <a:endParaRPr lang="en-US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Провести обзор существующих систем управления подписками и выбрать одну из них для внедрения в приложение.</a:t>
            </a:r>
            <a:endParaRPr lang="en-US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21836F-937A-4711-805F-7618927E711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91376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На рис.3 представлена архитектурная схема приложения. Оно делится на две обособленные части: 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AR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-часть, отвечающая за дополненную реальность и 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AI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-часть, отвечающая за обработку запросов искусственным интеллектом.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AR-компонент разрабатывался с использованием платформы 8th Wall и фреймворка A-Frame. Он отвечает за визуализацию галереи и </a:t>
            </a:r>
            <a:r>
              <a:rPr lang="ru-RU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геопривязку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произведений искусства. Хостинг данного модуля осуществляется через инфраструктуру 8th Wall, что упрощает интеграцию с камерами мобильных устройств и расширяет кроссплатформенность.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AI-компонент построен на стеке Next.js, </a:t>
            </a:r>
            <a:r>
              <a:rPr lang="ru-RU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TypeScript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и </a:t>
            </a:r>
            <a:r>
              <a:rPr lang="ru-RU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React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и размещён на платформе </a:t>
            </a:r>
            <a:r>
              <a:rPr lang="ru-RU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Vercel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. Он обеспечивает доступ к функциональности GPT-ассистента, управление подписками, авторизацию пользователей, хранение и обработку данных. Между двумя компонентами отсутствует прямая техническая интеграция, однако реализован переход по ссылке, обеспечивающий логическую связность и плавную навигацию между AR- и AI-модулями.</a:t>
            </a:r>
            <a:endParaRPr lang="en-US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endParaRPr lang="ru-RU" dirty="0"/>
          </a:p>
          <a:p>
            <a:pPr marL="0" lvl="0" indent="0" algn="l"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  <a:buFont typeface="Symbol" panose="05050102010706020507" pitchFamily="18" charset="2"/>
              <a:buNone/>
            </a:pPr>
            <a:r>
              <a:rPr lang="ru-RU" dirty="0"/>
              <a:t>В </a:t>
            </a:r>
            <a:r>
              <a:rPr lang="en-US" dirty="0"/>
              <a:t>AI-</a:t>
            </a:r>
            <a:r>
              <a:rPr lang="ru-RU" dirty="0"/>
              <a:t>компоненте в бэкенде происходят обращения к следующим системам:</a:t>
            </a:r>
          </a:p>
          <a:p>
            <a:pPr marL="285750" lvl="0" indent="-285750" algn="l"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OpenAI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API — генерация ответов с использованием модели GPT-4o-mini;</a:t>
            </a:r>
            <a:endParaRPr lang="en-US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  <a:buFont typeface="Symbol" panose="05050102010706020507" pitchFamily="18" charset="2"/>
              <a:buChar char=""/>
            </a:pPr>
            <a:r>
              <a:rPr lang="ru-RU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Supabase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— хранилище данных, а также источник информации о пользователях, тарифах и лимитах;</a:t>
            </a:r>
            <a:endParaRPr lang="en-US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  <a:buFont typeface="Symbol" panose="05050102010706020507" pitchFamily="18" charset="2"/>
              <a:buChar char=""/>
            </a:pPr>
            <a:r>
              <a:rPr lang="ru-RU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Twitter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API — используется для авторизации пользователей;</a:t>
            </a:r>
            <a:endParaRPr lang="en-US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  <a:buFont typeface="Symbol" panose="05050102010706020507" pitchFamily="18" charset="2"/>
              <a:buChar char=""/>
            </a:pPr>
            <a:r>
              <a:rPr lang="ru-RU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Stripe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— платёжная система, интегрированная с </a:t>
            </a:r>
            <a:r>
              <a:rPr lang="ru-RU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Supabase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и обеспечивающая тарификацию.</a:t>
            </a:r>
            <a:endParaRPr lang="en-US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21836F-937A-4711-805F-7618927E711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00360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ru-RU" dirty="0"/>
              <a:t>Протокол </a:t>
            </a:r>
            <a:r>
              <a:rPr lang="ru-RU" dirty="0" err="1"/>
              <a:t>OAuth</a:t>
            </a:r>
            <a:r>
              <a:rPr lang="ru-RU" dirty="0"/>
              <a:t> 2.0 предлагает стандартизированный механизм авторизации, обеспечивающий интеграцию с внешними сервисами. Он позволяет пользователям предоставлять приложению доступ к определённым данным или функциям своего аккаунта (логины, пароли) без их прямой передачи.</a:t>
            </a:r>
          </a:p>
          <a:p>
            <a:pPr rtl="0"/>
            <a:r>
              <a:rPr lang="ru-RU" dirty="0"/>
              <a:t>На схеме представлен процесс: пользователь запрашивает доступ через </a:t>
            </a:r>
            <a:r>
              <a:rPr lang="ru-RU" dirty="0" err="1"/>
              <a:t>Twitter</a:t>
            </a:r>
            <a:r>
              <a:rPr lang="ru-RU" dirty="0"/>
              <a:t>-сервер, получает токен доступа, а приложение использует его для обращения к API </a:t>
            </a:r>
            <a:r>
              <a:rPr lang="ru-RU" dirty="0" err="1"/>
              <a:t>Twitter</a:t>
            </a:r>
            <a:r>
              <a:rPr lang="ru-RU" dirty="0"/>
              <a:t>. Если токен отсутствует или недействителен, запрос либо отклоняется и пользователь возвращается на нашу страницу авторизации.</a:t>
            </a:r>
          </a:p>
          <a:p>
            <a:pPr rtl="0"/>
            <a:endParaRPr lang="ru-R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PKCE – proof key for code exchange</a:t>
            </a:r>
            <a:endParaRPr lang="ru-RU" sz="1200" dirty="0">
              <a:effectLst/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21836F-937A-4711-805F-7618927E711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8002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>
                <a:effectLst/>
              </a:rPr>
              <a:t>Часть приложения с дополненной реальностью была разработана на платформе 8th Wall, как отмечено ранее. Для обеспечения </a:t>
            </a:r>
            <a:r>
              <a:rPr lang="ru-RU" dirty="0" err="1">
                <a:effectLst/>
              </a:rPr>
              <a:t>геопривязки</a:t>
            </a:r>
            <a:r>
              <a:rPr lang="ru-RU" dirty="0">
                <a:effectLst/>
              </a:rPr>
              <a:t> произведений использовалась библиотека Mapbox GL JS, позволяющая размещать точки на картах для последующей интеграции работ художников.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>
                <a:effectLst/>
              </a:rPr>
              <a:t>Данная библиотека поддерживает как стандартные, так и пользовательские стили карт, обеспечивая гибкость в визуализации.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21836F-937A-4711-805F-7618927E711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73169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AR-функционал реализован на основе фреймворка A-Frame, который интегрируется с платформой 8th Wall с поддержкой хостинга.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A-Frame — это открытый фреймворк для создания AR-приложений на основе </a:t>
            </a:r>
            <a:r>
              <a:rPr lang="ru-RU" dirty="0" err="1"/>
              <a:t>WebXR</a:t>
            </a:r>
            <a:r>
              <a:rPr lang="ru-RU" dirty="0"/>
              <a:t>, использующий декларативный синтаксис HTML. Он позволяет легко добавлять 3D-объекты и сцены через тег </a:t>
            </a:r>
            <a:r>
              <a:rPr lang="en-US" dirty="0"/>
              <a:t>&lt;a-plane&gt;</a:t>
            </a:r>
            <a:r>
              <a:rPr lang="ru-RU" dirty="0"/>
              <a:t> , обеспечивая </a:t>
            </a:r>
            <a:r>
              <a:rPr lang="ru-RU" dirty="0" err="1"/>
              <a:t>кроссбраузерную</a:t>
            </a:r>
            <a:r>
              <a:rPr lang="ru-RU" dirty="0"/>
              <a:t> совместимость. </a:t>
            </a: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 Сами же изображения работ загружаются в атрибут src данного компонента для отображения в дополненной реальности.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21836F-937A-4711-805F-7618927E711E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279242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07000"/>
              </a:lnSpc>
              <a:spcAft>
                <a:spcPts val="800"/>
              </a:spcAft>
              <a:tabLst>
                <a:tab pos="2125980" algn="l"/>
              </a:tabLst>
            </a:pP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Проекционная матрица.</a:t>
            </a:r>
          </a:p>
          <a:p>
            <a:pPr>
              <a:lnSpc>
                <a:spcPct val="107000"/>
              </a:lnSpc>
              <a:spcAft>
                <a:spcPts val="800"/>
              </a:spcAft>
              <a:tabLst>
                <a:tab pos="2125980" algn="l"/>
              </a:tabLst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  <a:tabLst>
                <a:tab pos="2125980" algn="l"/>
              </a:tabLst>
            </a:pP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Проекционные матрицы играют ключевую роль в компьютерной графике и виртуальной реальности, включая фреймворк A-Frame. Они отвечают за преобразование трёхмерных (3D) координат объектов в двухмерные (2D) координаты экрана, что позволяет отображать 3D-сцены на 2D-устройствах, таких как мониторы или VR-гарнитуры.</a:t>
            </a:r>
          </a:p>
          <a:p>
            <a:pPr>
              <a:lnSpc>
                <a:spcPct val="107000"/>
              </a:lnSpc>
              <a:spcAft>
                <a:spcPts val="800"/>
              </a:spcAft>
              <a:tabLst>
                <a:tab pos="2125980" algn="l"/>
              </a:tabLst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  <a:tabLst>
                <a:tab pos="2125980" algn="l"/>
              </a:tabLst>
            </a:pP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Основные задачи проекционных матриц: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7000"/>
              </a:lnSpc>
              <a:buFont typeface="Symbol" panose="05050102010706020507" pitchFamily="18" charset="2"/>
              <a:buChar char=""/>
              <a:tabLst>
                <a:tab pos="2125980" algn="l"/>
              </a:tabLst>
            </a:pP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Создание перспективы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7000"/>
              </a:lnSpc>
              <a:buFont typeface="Symbol" panose="05050102010706020507" pitchFamily="18" charset="2"/>
              <a:buChar char=""/>
              <a:tabLst>
                <a:tab pos="2125980" algn="l"/>
              </a:tabLst>
            </a:pP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Определение поля зрения (FOV): Контроль за углом обзора камеры, влияющим на восприятие сцены.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7000"/>
              </a:lnSpc>
              <a:buFont typeface="Symbol" panose="05050102010706020507" pitchFamily="18" charset="2"/>
              <a:buChar char=""/>
              <a:tabLst>
                <a:tab pos="2125980" algn="l"/>
              </a:tabLst>
            </a:pP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Управление аспектным соотношением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Font typeface="Symbol" panose="05050102010706020507" pitchFamily="18" charset="2"/>
              <a:buChar char=""/>
              <a:tabLst>
                <a:tab pos="2125980" algn="l"/>
              </a:tabLst>
            </a:pP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Настройка ближней и дальней плоскостей отсечения: Определение диапазона расстояний, в котором объекты будут отображаться, что влияет на производительность и визуальное качество.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Font typeface="Symbol" panose="05050102010706020507" pitchFamily="18" charset="2"/>
              <a:buChar char=""/>
              <a:tabLst>
                <a:tab pos="2125980" algn="l"/>
              </a:tabLst>
            </a:pPr>
            <a:endParaRPr lang="ru-RU" sz="18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  <a:tabLst>
                <a:tab pos="2125980" algn="l"/>
              </a:tabLst>
            </a:pPr>
            <a:r>
              <a:rPr lang="ru-RU" sz="1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Компоненты матрицы:</a:t>
            </a:r>
            <a:endParaRPr lang="en-US" sz="1800" b="1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  <a:tabLst>
                <a:tab pos="2125980" algn="l"/>
              </a:tabLst>
            </a:pP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Первая строка: Контролирует масштабирование по оси X с учётом поля зрения и аспектного соотношения.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  <a:tabLst>
                <a:tab pos="2125980" algn="l"/>
              </a:tabLst>
            </a:pP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Вторая строка: Контролирует масштабирование по оси Y с учётом поля зрения.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  <a:tabLst>
                <a:tab pos="2125980" algn="l"/>
              </a:tabLst>
            </a:pP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Третья строка: Определяет, как глубина (ось Z) преобразуется для управления видимостью объектов.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  <a:tabLst>
                <a:tab pos="2125980" algn="l"/>
              </a:tabLst>
            </a:pP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Четвёртая строка: Используется для проектирования перспективы, создавая зависимость координаты Z от координаты W.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lvl="0" indent="0">
              <a:lnSpc>
                <a:spcPct val="107000"/>
              </a:lnSpc>
              <a:spcAft>
                <a:spcPts val="800"/>
              </a:spcAft>
              <a:buFont typeface="Symbol" panose="05050102010706020507" pitchFamily="18" charset="2"/>
              <a:buNone/>
              <a:tabLst>
                <a:tab pos="2125980" algn="l"/>
              </a:tabLst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21836F-937A-4711-805F-7618927E711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752872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ru-RU" sz="4000" dirty="0"/>
              <a:t>Пользователь взаимодействует с сервисом через интегрированного GPT-ассистента, разработанного на основе стека </a:t>
            </a:r>
            <a:r>
              <a:rPr lang="ru-RU" sz="4000" dirty="0" err="1"/>
              <a:t>React</a:t>
            </a:r>
            <a:r>
              <a:rPr lang="ru-RU" sz="4000" dirty="0"/>
              <a:t>, Next.js и </a:t>
            </a:r>
            <a:r>
              <a:rPr lang="ru-RU" sz="4000" dirty="0" err="1"/>
              <a:t>TypeScript</a:t>
            </a:r>
            <a:r>
              <a:rPr lang="ru-RU" sz="4000" dirty="0"/>
              <a:t>. </a:t>
            </a:r>
            <a:endParaRPr lang="en-US" sz="4000" dirty="0"/>
          </a:p>
          <a:p>
            <a:pPr rtl="0"/>
            <a:r>
              <a:rPr lang="ru-RU" sz="4000" dirty="0"/>
              <a:t>Данные хранятся в </a:t>
            </a:r>
            <a:r>
              <a:rPr lang="ru-RU" sz="4000" dirty="0" err="1"/>
              <a:t>Supabase</a:t>
            </a:r>
            <a:r>
              <a:rPr lang="ru-RU" sz="4000" dirty="0"/>
              <a:t>, обеспечивающем реляционную базу данных (</a:t>
            </a:r>
            <a:r>
              <a:rPr lang="ru-RU" sz="4000" dirty="0" err="1"/>
              <a:t>PostgreSQL</a:t>
            </a:r>
            <a:r>
              <a:rPr lang="ru-RU" sz="4000" dirty="0"/>
              <a:t>) с поддержкой политик безопасности </a:t>
            </a:r>
            <a:r>
              <a:rPr lang="ru-RU" sz="4000" dirty="0" err="1"/>
              <a:t>Row</a:t>
            </a:r>
            <a:r>
              <a:rPr lang="ru-RU" sz="4000" dirty="0"/>
              <a:t> Level Security и облачного хранилища файлов. </a:t>
            </a:r>
            <a:endParaRPr lang="en-US" sz="4000" dirty="0"/>
          </a:p>
          <a:p>
            <a:pPr rtl="0"/>
            <a:r>
              <a:rPr lang="ru-RU" sz="4000" dirty="0"/>
              <a:t>Приложение развернуто на платформе </a:t>
            </a:r>
            <a:r>
              <a:rPr lang="ru-RU" sz="4000" dirty="0" err="1"/>
              <a:t>Vercel</a:t>
            </a:r>
            <a:r>
              <a:rPr lang="ru-RU" sz="4000" dirty="0"/>
              <a:t>, а генерация ответов реализована через </a:t>
            </a:r>
            <a:r>
              <a:rPr lang="ru-RU" sz="4000" dirty="0" err="1"/>
              <a:t>OpenAI</a:t>
            </a:r>
            <a:r>
              <a:rPr lang="ru-RU" sz="4000" dirty="0"/>
              <a:t> API с использованием библиотек @ai-sdk/openai и @vercel/ai, что позволяет передавать типизированные ответы модели в потоковом режиме и эффективно управлять квотами вызовов. Данная архитектура представляет собой полностью облачное решение, минимизирующее затраты на инфраструктуру и обеспечивающее высокую производительность ассистента, ориентированного на тематику искусства.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21836F-937A-4711-805F-7618927E711E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69218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Контекст играет ключевую роль в работе GPT, обеспечивая точную интерпретацию запросов и генерацию релевантных ответов. Он определяет тематическую направленность вопроса, способ обработки информации и структуру с стилями ответа. </a:t>
            </a:r>
            <a:br>
              <a:rPr lang="en-US" dirty="0"/>
            </a:br>
            <a:r>
              <a:rPr lang="ru-RU" dirty="0"/>
              <a:t>В данной работе были выделены следующие типы контекстных дополнений: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err="1"/>
              <a:t>taskManager</a:t>
            </a:r>
            <a:r>
              <a:rPr lang="ru-RU" dirty="0"/>
              <a:t> – определяет точность понимания задачи</a:t>
            </a:r>
            <a:r>
              <a:rPr lang="en-US" dirty="0"/>
              <a:t>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err="1"/>
              <a:t>inquire</a:t>
            </a:r>
            <a:r>
              <a:rPr lang="ru-RU" dirty="0"/>
              <a:t> – генерирует дополнительные вопросы для детализации</a:t>
            </a:r>
            <a:r>
              <a:rPr lang="en-US" dirty="0"/>
              <a:t>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err="1"/>
              <a:t>researcher</a:t>
            </a:r>
            <a:r>
              <a:rPr lang="ru-RU" dirty="0"/>
              <a:t> – обеспечивает глубину и достоверность ответа</a:t>
            </a:r>
            <a:r>
              <a:rPr lang="en-US" dirty="0"/>
              <a:t>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err="1"/>
              <a:t>querySuggestor</a:t>
            </a:r>
            <a:r>
              <a:rPr lang="ru-RU" dirty="0"/>
              <a:t> – генерирует дополнительные вопросы, схожие с пользовательским запросом. </a:t>
            </a: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Таким образом, система контекстов GPT оптимизирует диалог, снижая неоднозначности и повышая качество коммуникации.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21836F-937A-4711-805F-7618927E711E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157559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Алгоритм, представленный на рис. 9, активируется с момента получения пользовательского запроса.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Ассистент интерпретирует запрос с использованием системного </a:t>
            </a:r>
            <a:r>
              <a:rPr lang="ru-RU" dirty="0" err="1"/>
              <a:t>промпта</a:t>
            </a:r>
            <a:r>
              <a:rPr lang="ru-RU" dirty="0"/>
              <a:t> </a:t>
            </a:r>
            <a:r>
              <a:rPr lang="ru-RU" dirty="0" err="1"/>
              <a:t>taskManager</a:t>
            </a:r>
            <a:r>
              <a:rPr lang="ru-RU" dirty="0"/>
              <a:t> и проверяет доступный лимит обращений к модели. При наличии остатка запросов у пользователя выполняется оценка информативности контекста для обеспечения качественного ответа модели. Если данных недостаточно, через </a:t>
            </a:r>
            <a:r>
              <a:rPr lang="ru-RU" dirty="0" err="1"/>
              <a:t>промпт</a:t>
            </a:r>
            <a:r>
              <a:rPr lang="ru-RU" dirty="0"/>
              <a:t> </a:t>
            </a:r>
            <a:r>
              <a:rPr lang="ru-RU" dirty="0" err="1"/>
              <a:t>inquire</a:t>
            </a:r>
            <a:r>
              <a:rPr lang="ru-RU" dirty="0"/>
              <a:t> генерируется уточняющий вопрос, и цикл анализа повторяется. При достаточности контекста запрос передаётся модели GPT с </a:t>
            </a:r>
            <a:r>
              <a:rPr lang="ru-RU" dirty="0" err="1"/>
              <a:t>промптом</a:t>
            </a:r>
            <a:r>
              <a:rPr lang="ru-RU" dirty="0"/>
              <a:t> </a:t>
            </a:r>
            <a:r>
              <a:rPr lang="ru-RU" dirty="0" err="1"/>
              <a:t>researcher</a:t>
            </a:r>
            <a:r>
              <a:rPr lang="ru-RU" dirty="0"/>
              <a:t>, а контекст </a:t>
            </a:r>
            <a:r>
              <a:rPr lang="ru-RU" dirty="0" err="1"/>
              <a:t>querySuggestor</a:t>
            </a:r>
            <a:r>
              <a:rPr lang="ru-RU" dirty="0"/>
              <a:t> затем формирует перечень смежных вопросов.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Данная последовательность, включающая контроль запросов, адаптивное уточнение, генерацию ответа и рекомендаций, гарантирует точность и полноту отклика при минимизации вычислительных затрат.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21836F-937A-4711-805F-7618927E711E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86667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None/>
            </a:pPr>
            <a:endParaRPr lang="ru-R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21836F-937A-4711-805F-7618927E711E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054506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Таким образом, было разработано веб-приложение, сочетающее в себе </a:t>
            </a:r>
            <a:r>
              <a:rPr lang="en-US" dirty="0"/>
              <a:t>AR </a:t>
            </a:r>
            <a:r>
              <a:rPr lang="ru-RU" dirty="0"/>
              <a:t>и </a:t>
            </a:r>
            <a:r>
              <a:rPr lang="en-US" dirty="0"/>
              <a:t>AI </a:t>
            </a:r>
            <a:r>
              <a:rPr lang="ru-RU" dirty="0"/>
              <a:t>функционал для художников.</a:t>
            </a:r>
          </a:p>
          <a:p>
            <a:endParaRPr lang="ru-RU" dirty="0"/>
          </a:p>
          <a:p>
            <a:r>
              <a:rPr lang="ru-RU" dirty="0"/>
              <a:t>В ходе разработки были решены следующие задачи:</a:t>
            </a:r>
          </a:p>
          <a:p>
            <a:pPr marL="342900" lvl="0" indent="-342900" algn="just"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ru-RU" sz="1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Проведен обзор существующих технологий в области AR, AI и их применения в искусстве;</a:t>
            </a:r>
            <a:endParaRPr lang="en-US" sz="1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ru-RU" sz="1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Разработан пользовательский интерфейс (UI), учитывающий как AR, так и AI-функциональность;</a:t>
            </a:r>
            <a:endParaRPr lang="en-US" sz="1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ru-RU" sz="1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Интегрированы библиотеки и модули для реализации картографической части приложения;</a:t>
            </a:r>
            <a:endParaRPr lang="en-US" sz="1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ru-RU" sz="1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Реализована работа GPT-ассистента, способного отвечать на запросы пользователей, используя заранее заданные профессиональные настройки;</a:t>
            </a:r>
            <a:endParaRPr lang="en-US" sz="1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ru-RU" sz="1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Разработаны методы взаимодействия пользователя с цифровым контентом в AR и AI-режиме;</a:t>
            </a:r>
            <a:endParaRPr lang="en-US" sz="1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ru-RU" sz="1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Проведен обзор существующих систем управления подписками и выбрана одна из них для внедрения в приложение.</a:t>
            </a:r>
            <a:endParaRPr lang="en-US" sz="1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21836F-937A-4711-805F-7618927E711E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40438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1999D-E1F4-413D-B33E-2AE961C7E377}" type="datetimeFigureOut">
              <a:rPr lang="ru-RU" smtClean="0"/>
              <a:t>22.04.2026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AC258-CBF9-4C57-9D96-3F9CC9C7A7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891041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1999D-E1F4-413D-B33E-2AE961C7E377}" type="datetimeFigureOut">
              <a:rPr lang="ru-RU" smtClean="0"/>
              <a:t>22.04.2026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AC258-CBF9-4C57-9D96-3F9CC9C7A7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78802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1999D-E1F4-413D-B33E-2AE961C7E377}" type="datetimeFigureOut">
              <a:rPr lang="ru-RU" smtClean="0"/>
              <a:t>22.04.2026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AC258-CBF9-4C57-9D96-3F9CC9C7A7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8155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1999D-E1F4-413D-B33E-2AE961C7E377}" type="datetimeFigureOut">
              <a:rPr lang="ru-RU" smtClean="0"/>
              <a:t>22.04.2026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AC258-CBF9-4C57-9D96-3F9CC9C7A7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313021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1999D-E1F4-413D-B33E-2AE961C7E377}" type="datetimeFigureOut">
              <a:rPr lang="ru-RU" smtClean="0"/>
              <a:t>22.04.2026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AC258-CBF9-4C57-9D96-3F9CC9C7A7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894257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1999D-E1F4-413D-B33E-2AE961C7E377}" type="datetimeFigureOut">
              <a:rPr lang="ru-RU" smtClean="0"/>
              <a:t>22.04.2026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AC258-CBF9-4C57-9D96-3F9CC9C7A7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087128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1999D-E1F4-413D-B33E-2AE961C7E377}" type="datetimeFigureOut">
              <a:rPr lang="ru-RU" smtClean="0"/>
              <a:t>22.04.2026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AC258-CBF9-4C57-9D96-3F9CC9C7A7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65621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1999D-E1F4-413D-B33E-2AE961C7E377}" type="datetimeFigureOut">
              <a:rPr lang="ru-RU" smtClean="0"/>
              <a:t>22.04.2026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AC258-CBF9-4C57-9D96-3F9CC9C7A7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144954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1999D-E1F4-413D-B33E-2AE961C7E377}" type="datetimeFigureOut">
              <a:rPr lang="ru-RU" smtClean="0"/>
              <a:t>22.04.2026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AC258-CBF9-4C57-9D96-3F9CC9C7A7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273661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1999D-E1F4-413D-B33E-2AE961C7E377}" type="datetimeFigureOut">
              <a:rPr lang="ru-RU" smtClean="0"/>
              <a:t>22.04.2026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AC258-CBF9-4C57-9D96-3F9CC9C7A7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593915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1999D-E1F4-413D-B33E-2AE961C7E377}" type="datetimeFigureOut">
              <a:rPr lang="ru-RU" smtClean="0"/>
              <a:t>22.04.2026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AC258-CBF9-4C57-9D96-3F9CC9C7A7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285458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C31999D-E1F4-413D-B33E-2AE961C7E377}" type="datetimeFigureOut">
              <a:rPr lang="ru-RU" smtClean="0"/>
              <a:t>22.04.2026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5AC258-CBF9-4C57-9D96-3F9CC9C7A7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532559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19.png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2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108037" y="1513114"/>
            <a:ext cx="9975925" cy="2703575"/>
          </a:xfrm>
        </p:spPr>
        <p:txBody>
          <a:bodyPr>
            <a:noAutofit/>
          </a:bodyPr>
          <a:lstStyle/>
          <a:p>
            <a:r>
              <a:rPr lang="ru-RU" b="1" i="1" dirty="0"/>
              <a:t>Исследование и разработка образовательной платформы с курсами</a:t>
            </a:r>
            <a:endParaRPr lang="ru-RU" sz="4800" b="1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6658983" y="5202238"/>
            <a:ext cx="5081196" cy="1019548"/>
          </a:xfrm>
        </p:spPr>
        <p:txBody>
          <a:bodyPr/>
          <a:lstStyle/>
          <a:p>
            <a:pPr algn="r"/>
            <a:r>
              <a:rPr lang="ru-RU" dirty="0"/>
              <a:t>Студент: Онюшев А.А.</a:t>
            </a:r>
            <a:r>
              <a:rPr lang="en-US" dirty="0"/>
              <a:t> </a:t>
            </a:r>
            <a:r>
              <a:rPr lang="ru-RU" dirty="0"/>
              <a:t>РК6-</a:t>
            </a:r>
            <a:r>
              <a:rPr lang="en-US" dirty="0"/>
              <a:t>41</a:t>
            </a:r>
            <a:r>
              <a:rPr lang="ru-RU" dirty="0"/>
              <a:t>М</a:t>
            </a:r>
          </a:p>
          <a:p>
            <a:pPr algn="r"/>
            <a:r>
              <a:rPr lang="ru-RU" dirty="0"/>
              <a:t>Научный руководитель: </a:t>
            </a:r>
            <a:r>
              <a:rPr lang="ru-RU" dirty="0" err="1"/>
              <a:t>Витюков</a:t>
            </a:r>
            <a:r>
              <a:rPr lang="ru-RU" dirty="0"/>
              <a:t> Ф.А.</a:t>
            </a:r>
          </a:p>
        </p:txBody>
      </p:sp>
      <p:pic>
        <p:nvPicPr>
          <p:cNvPr id="6" name="Рисунок 9">
            <a:extLst>
              <a:ext uri="{FF2B5EF4-FFF2-40B4-BE49-F238E27FC236}">
                <a16:creationId xmlns:a16="http://schemas.microsoft.com/office/drawing/2014/main" id="{0F67D4B0-A75F-4B2E-8DCE-6B75BCD292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860" y="4597689"/>
            <a:ext cx="1376353" cy="1624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63445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2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-118334" y="301214"/>
            <a:ext cx="5077609" cy="688489"/>
          </a:xfrm>
          <a:solidFill>
            <a:srgbClr val="F99F89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8100"/>
          </a:effectLst>
        </p:spPr>
        <p:txBody>
          <a:bodyPr lIns="274320">
            <a:normAutofit/>
          </a:bodyPr>
          <a:lstStyle/>
          <a:p>
            <a:pPr algn="l"/>
            <a:r>
              <a:rPr lang="ru-RU" sz="4000" b="1" dirty="0">
                <a:solidFill>
                  <a:schemeClr val="tx1">
                    <a:alpha val="80000"/>
                  </a:schemeClr>
                </a:solidFill>
              </a:rPr>
              <a:t>Определения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5762" y="1048187"/>
            <a:ext cx="11321922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SSO</a:t>
            </a:r>
            <a:r>
              <a:rPr lang="ru-RU" b="1" dirty="0"/>
              <a:t> (</a:t>
            </a:r>
            <a:r>
              <a:rPr lang="en-US" b="1" dirty="0"/>
              <a:t>Single Sign</a:t>
            </a:r>
            <a:r>
              <a:rPr lang="ru-RU" b="1" dirty="0"/>
              <a:t>-</a:t>
            </a:r>
            <a:r>
              <a:rPr lang="en-US" b="1" dirty="0"/>
              <a:t>On</a:t>
            </a:r>
            <a:r>
              <a:rPr lang="ru-RU" b="1" dirty="0"/>
              <a:t>)</a:t>
            </a:r>
            <a:r>
              <a:rPr lang="ru-RU" dirty="0"/>
              <a:t> – механизм единого входа, позволяющий пользователю после одной процедуры аутентификации получать доступ к нескольким компонентам системы без повторного ввода учетных данных.</a:t>
            </a:r>
          </a:p>
          <a:p>
            <a:r>
              <a:rPr lang="en-US" b="1" dirty="0"/>
              <a:t>JWT (JSON Web Token)</a:t>
            </a:r>
            <a:r>
              <a:rPr lang="en-US" dirty="0"/>
              <a:t> — </a:t>
            </a:r>
            <a:r>
              <a:rPr lang="en-US" dirty="0" err="1"/>
              <a:t>компактный</a:t>
            </a:r>
            <a:r>
              <a:rPr lang="en-US" dirty="0"/>
              <a:t> </a:t>
            </a:r>
            <a:r>
              <a:rPr lang="en-US" dirty="0" err="1"/>
              <a:t>формат</a:t>
            </a:r>
            <a:r>
              <a:rPr lang="en-US" dirty="0"/>
              <a:t> </a:t>
            </a:r>
            <a:r>
              <a:rPr lang="en-US" dirty="0" err="1"/>
              <a:t>токена</a:t>
            </a:r>
            <a:r>
              <a:rPr lang="en-US" dirty="0"/>
              <a:t>, </a:t>
            </a:r>
            <a:r>
              <a:rPr lang="en-US" dirty="0" err="1"/>
              <a:t>используемый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безопасной</a:t>
            </a:r>
            <a:r>
              <a:rPr lang="en-US" dirty="0"/>
              <a:t> </a:t>
            </a:r>
            <a:r>
              <a:rPr lang="en-US" dirty="0" err="1"/>
              <a:t>передачи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о </a:t>
            </a:r>
            <a:r>
              <a:rPr lang="en-US" dirty="0" err="1"/>
              <a:t>пользователе</a:t>
            </a:r>
            <a:r>
              <a:rPr lang="en-US" dirty="0"/>
              <a:t> и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правах</a:t>
            </a:r>
            <a:r>
              <a:rPr lang="en-US" dirty="0"/>
              <a:t>.</a:t>
            </a:r>
            <a:endParaRPr lang="ru-RU" dirty="0"/>
          </a:p>
          <a:p>
            <a:r>
              <a:rPr lang="en-US" b="1" dirty="0"/>
              <a:t>API</a:t>
            </a:r>
            <a:r>
              <a:rPr lang="ru-RU" b="1" dirty="0"/>
              <a:t> (</a:t>
            </a:r>
            <a:r>
              <a:rPr lang="en-US" b="1" dirty="0"/>
              <a:t>Application Programming Interface</a:t>
            </a:r>
            <a:r>
              <a:rPr lang="ru-RU" b="1" dirty="0"/>
              <a:t>)</a:t>
            </a:r>
            <a:r>
              <a:rPr lang="ru-RU" dirty="0"/>
              <a:t> – программный интерфейс взаимодействия между различными компонентами системы.</a:t>
            </a:r>
          </a:p>
          <a:p>
            <a:r>
              <a:rPr lang="en-US" b="1" dirty="0"/>
              <a:t>PostgreSQL</a:t>
            </a:r>
            <a:r>
              <a:rPr lang="en-US" dirty="0"/>
              <a:t> </a:t>
            </a:r>
            <a:r>
              <a:rPr lang="ru-RU" dirty="0"/>
              <a:t>– реляционная система управления базами данных, используемая для хранения структурированной информации платформы.</a:t>
            </a:r>
          </a:p>
          <a:p>
            <a:r>
              <a:rPr lang="en-US" b="1" dirty="0"/>
              <a:t>Redis</a:t>
            </a:r>
            <a:r>
              <a:rPr lang="en-US" dirty="0"/>
              <a:t> </a:t>
            </a:r>
            <a:r>
              <a:rPr lang="ru-RU" dirty="0"/>
              <a:t>– </a:t>
            </a:r>
            <a:r>
              <a:rPr lang="en-US" dirty="0"/>
              <a:t>in</a:t>
            </a:r>
            <a:r>
              <a:rPr lang="ru-RU" dirty="0"/>
              <a:t>-</a:t>
            </a:r>
            <a:r>
              <a:rPr lang="en-US" dirty="0"/>
              <a:t>memory</a:t>
            </a:r>
            <a:r>
              <a:rPr lang="ru-RU" dirty="0"/>
              <a:t> хранилище данных, применяемое для кэширования, временного хранения информации и ускорения работы системы.</a:t>
            </a:r>
          </a:p>
          <a:p>
            <a:r>
              <a:rPr lang="en-US" b="1" dirty="0"/>
              <a:t>Kafka</a:t>
            </a:r>
            <a:r>
              <a:rPr lang="en-US" dirty="0"/>
              <a:t> </a:t>
            </a:r>
            <a:r>
              <a:rPr lang="ru-RU" dirty="0"/>
              <a:t>– распределенный брокер сообщений, используемый для организации событийного взаимодействия между компонентами системы.</a:t>
            </a:r>
          </a:p>
          <a:p>
            <a:r>
              <a:rPr lang="en-US" b="1" dirty="0" err="1"/>
              <a:t>Centrifugo</a:t>
            </a:r>
            <a:r>
              <a:rPr lang="en-US" dirty="0"/>
              <a:t> </a:t>
            </a:r>
            <a:r>
              <a:rPr lang="ru-RU" dirty="0"/>
              <a:t>– платформа для обмена сообщениями и доставки событий в режиме реального времени.</a:t>
            </a:r>
          </a:p>
          <a:p>
            <a:r>
              <a:rPr lang="ru-RU" b="1" dirty="0"/>
              <a:t>Объектное хранилище</a:t>
            </a:r>
            <a:r>
              <a:rPr lang="ru-RU" dirty="0"/>
              <a:t> – способ хранения файлов и связанных с ними метаданных в виде объектов.</a:t>
            </a:r>
          </a:p>
          <a:p>
            <a:r>
              <a:rPr lang="en-US" b="1" dirty="0"/>
              <a:t>S</a:t>
            </a:r>
            <a:r>
              <a:rPr lang="ru-RU" b="1" dirty="0"/>
              <a:t>3-совместимое хранилище</a:t>
            </a:r>
            <a:r>
              <a:rPr lang="ru-RU" dirty="0"/>
              <a:t> – объектное хранилище, поддерживающее интерфейсы взаимодействия, совместимые с </a:t>
            </a:r>
            <a:r>
              <a:rPr lang="en-US" dirty="0"/>
              <a:t>Amazon S</a:t>
            </a:r>
            <a:r>
              <a:rPr lang="ru-RU" dirty="0"/>
              <a:t>3.</a:t>
            </a:r>
          </a:p>
        </p:txBody>
      </p:sp>
      <p:sp>
        <p:nvSpPr>
          <p:cNvPr id="13" name="Подзаголовок 2"/>
          <p:cNvSpPr txBox="1">
            <a:spLocks/>
          </p:cNvSpPr>
          <p:nvPr/>
        </p:nvSpPr>
        <p:spPr>
          <a:xfrm>
            <a:off x="11274013" y="6164132"/>
            <a:ext cx="1014803" cy="516366"/>
          </a:xfrm>
          <a:prstGeom prst="rect">
            <a:avLst/>
          </a:prstGeom>
          <a:solidFill>
            <a:srgbClr val="A0DBED"/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  <a:softEdge rad="38100"/>
          </a:effectLst>
        </p:spPr>
        <p:txBody>
          <a:bodyPr vert="horz" lIns="27432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1600" dirty="0">
                <a:solidFill>
                  <a:schemeClr val="tx1">
                    <a:alpha val="80000"/>
                  </a:schemeClr>
                </a:solidFill>
              </a:rPr>
              <a:t>2/1</a:t>
            </a:r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4</a:t>
            </a:r>
            <a:endParaRPr lang="ru-RU" sz="1600" dirty="0">
              <a:solidFill>
                <a:schemeClr val="tx1">
                  <a:alpha val="8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58578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2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-118334" y="301214"/>
            <a:ext cx="5077609" cy="688489"/>
          </a:xfrm>
          <a:solidFill>
            <a:srgbClr val="F99F89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8100"/>
          </a:effectLst>
        </p:spPr>
        <p:txBody>
          <a:bodyPr lIns="274320">
            <a:normAutofit fontScale="92500"/>
          </a:bodyPr>
          <a:lstStyle/>
          <a:p>
            <a:pPr algn="l"/>
            <a:r>
              <a:rPr lang="ru-RU" sz="4000" b="1" dirty="0">
                <a:solidFill>
                  <a:schemeClr val="tx1">
                    <a:alpha val="80000"/>
                  </a:schemeClr>
                </a:solidFill>
              </a:rPr>
              <a:t>Актуальность работы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36329" y="1510046"/>
            <a:ext cx="5326328" cy="1292662"/>
          </a:xfrm>
          <a:prstGeom prst="rect">
            <a:avLst/>
          </a:prstGeom>
          <a:solidFill>
            <a:srgbClr val="BCD9FC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1750"/>
          </a:effectLst>
        </p:spPr>
        <p:txBody>
          <a:bodyPr wrap="square" lIns="274320" tIns="91440" rIns="274320" bIns="91440" rtlCol="0">
            <a:spAutoFit/>
          </a:bodyPr>
          <a:lstStyle/>
          <a:p>
            <a:pPr algn="ctr"/>
            <a:r>
              <a:rPr lang="ru-RU" sz="2400" dirty="0"/>
              <a:t>Рост спроса на цифровые образовательные платформы и онлайн-курсы</a:t>
            </a:r>
            <a:endParaRPr lang="ru-RU" sz="500" dirty="0">
              <a:solidFill>
                <a:schemeClr val="tx1">
                  <a:alpha val="70000"/>
                </a:schemeClr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789333" y="2884095"/>
            <a:ext cx="3992081" cy="923330"/>
          </a:xfrm>
          <a:prstGeom prst="rect">
            <a:avLst/>
          </a:prstGeom>
          <a:solidFill>
            <a:srgbClr val="BCD9FC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1750"/>
          </a:effectLst>
        </p:spPr>
        <p:txBody>
          <a:bodyPr wrap="square" lIns="274320" tIns="91440" rIns="274320" bIns="91440" rtlCol="0">
            <a:spAutoFit/>
          </a:bodyPr>
          <a:lstStyle/>
          <a:p>
            <a:pPr algn="ctr"/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Потребность в гибком функционале</a:t>
            </a:r>
            <a:endParaRPr lang="ru-RU" sz="500" dirty="0">
              <a:solidFill>
                <a:schemeClr val="tx1">
                  <a:alpha val="70000"/>
                </a:schemeClr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096000" y="3976656"/>
            <a:ext cx="3992081" cy="923330"/>
          </a:xfrm>
          <a:prstGeom prst="rect">
            <a:avLst/>
          </a:prstGeom>
          <a:solidFill>
            <a:srgbClr val="BCD9FC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1750"/>
          </a:effectLst>
        </p:spPr>
        <p:txBody>
          <a:bodyPr wrap="square" lIns="274320" tIns="91440" rIns="274320" bIns="91440" rtlCol="0">
            <a:spAutoFit/>
          </a:bodyPr>
          <a:lstStyle/>
          <a:p>
            <a:pPr algn="ctr"/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Необходимость импортозамещения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36329" y="865453"/>
            <a:ext cx="56450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b="1" dirty="0"/>
              <a:t>Актуальность работы основана на:</a:t>
            </a:r>
          </a:p>
        </p:txBody>
      </p:sp>
      <p:sp>
        <p:nvSpPr>
          <p:cNvPr id="13" name="Подзаголовок 2"/>
          <p:cNvSpPr txBox="1">
            <a:spLocks/>
          </p:cNvSpPr>
          <p:nvPr/>
        </p:nvSpPr>
        <p:spPr>
          <a:xfrm>
            <a:off x="11274013" y="6164132"/>
            <a:ext cx="1014803" cy="516366"/>
          </a:xfrm>
          <a:prstGeom prst="rect">
            <a:avLst/>
          </a:prstGeom>
          <a:solidFill>
            <a:srgbClr val="A0DBED"/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  <a:softEdge rad="38100"/>
          </a:effectLst>
        </p:spPr>
        <p:txBody>
          <a:bodyPr vert="horz" lIns="27432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1600" dirty="0">
                <a:solidFill>
                  <a:schemeClr val="tx1">
                    <a:alpha val="80000"/>
                  </a:schemeClr>
                </a:solidFill>
              </a:rPr>
              <a:t>3/1</a:t>
            </a:r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4</a:t>
            </a:r>
            <a:endParaRPr lang="ru-RU" sz="1600" dirty="0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9E77DF-37EB-47DB-AF60-9F6BC9506D36}"/>
              </a:ext>
            </a:extLst>
          </p:cNvPr>
          <p:cNvSpPr txBox="1"/>
          <p:nvPr/>
        </p:nvSpPr>
        <p:spPr>
          <a:xfrm>
            <a:off x="7773000" y="5069217"/>
            <a:ext cx="3992081" cy="923330"/>
          </a:xfrm>
          <a:prstGeom prst="rect">
            <a:avLst/>
          </a:prstGeom>
          <a:solidFill>
            <a:srgbClr val="BCD9FC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1750"/>
          </a:effectLst>
        </p:spPr>
        <p:txBody>
          <a:bodyPr wrap="square" lIns="274320" tIns="91440" rIns="274320" bIns="91440" rtlCol="0">
            <a:spAutoFit/>
          </a:bodyPr>
          <a:lstStyle/>
          <a:p>
            <a:pPr algn="ctr"/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Повышенные требования к безопасности</a:t>
            </a:r>
            <a:endParaRPr lang="ru-RU" sz="500" dirty="0">
              <a:solidFill>
                <a:schemeClr val="tx1">
                  <a:alpha val="70000"/>
                </a:schemeClr>
              </a:solidFill>
            </a:endParaRPr>
          </a:p>
        </p:txBody>
      </p:sp>
      <p:sp>
        <p:nvSpPr>
          <p:cNvPr id="15" name="Надпись 2">
            <a:extLst>
              <a:ext uri="{FF2B5EF4-FFF2-40B4-BE49-F238E27FC236}">
                <a16:creationId xmlns:a16="http://schemas.microsoft.com/office/drawing/2014/main" id="{7D5325EF-4173-497B-90E2-9ECF4120E3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39802" y="5530882"/>
            <a:ext cx="3279199" cy="33804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0" tIns="45720" rIns="91440" bIns="45720" anchor="t" anchorCtr="0">
            <a:spAutoFit/>
          </a:bodyPr>
          <a:lstStyle/>
          <a:p>
            <a:pPr indent="450215" algn="ctr">
              <a:lnSpc>
                <a:spcPct val="107000"/>
              </a:lnSpc>
              <a:spcAft>
                <a:spcPts val="800"/>
              </a:spcAft>
            </a:pPr>
            <a:r>
              <a:rPr lang="ru-RU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Рис. </a:t>
            </a:r>
            <a:r>
              <a:rPr lang="en-US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1</a:t>
            </a:r>
            <a:r>
              <a:rPr lang="ru-RU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– Визуал сайта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7CB1552A-9E9B-B8D9-76BE-2F2F1EFBFE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106" y="2072726"/>
            <a:ext cx="5482566" cy="3458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7066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2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-118334" y="267347"/>
            <a:ext cx="5077609" cy="688489"/>
          </a:xfrm>
          <a:solidFill>
            <a:srgbClr val="F99F89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8100"/>
          </a:effectLst>
        </p:spPr>
        <p:txBody>
          <a:bodyPr lIns="274320">
            <a:normAutofit/>
          </a:bodyPr>
          <a:lstStyle/>
          <a:p>
            <a:pPr algn="l"/>
            <a:r>
              <a:rPr lang="ru-RU" sz="4000" b="1" dirty="0">
                <a:solidFill>
                  <a:schemeClr val="tx1">
                    <a:alpha val="80000"/>
                  </a:schemeClr>
                </a:solidFill>
              </a:rPr>
              <a:t>Постановка задачи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2576" y="1340749"/>
            <a:ext cx="10994318" cy="1277273"/>
          </a:xfrm>
          <a:prstGeom prst="rect">
            <a:avLst/>
          </a:prstGeom>
          <a:solidFill>
            <a:srgbClr val="BCD9FC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1750"/>
          </a:effectLst>
        </p:spPr>
        <p:txBody>
          <a:bodyPr wrap="square" rtlCol="0">
            <a:spAutoFit/>
          </a:bodyPr>
          <a:lstStyle/>
          <a:p>
            <a:pPr algn="just"/>
            <a:r>
              <a:rPr lang="ru-RU" sz="2400" b="1" dirty="0">
                <a:solidFill>
                  <a:schemeClr val="tx1">
                    <a:alpha val="70000"/>
                  </a:schemeClr>
                </a:solidFill>
              </a:rPr>
              <a:t>Цель работы:</a:t>
            </a:r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 </a:t>
            </a:r>
            <a:r>
              <a:rPr lang="ru-RU" sz="2400" b="1" dirty="0"/>
              <a:t>исследование и разработка надежной образовательной платформы с курсами, обеспечивающей управление учебным контентом, пользователями и доступом к ресурсам системы.</a:t>
            </a:r>
            <a:endParaRPr lang="en-US" sz="2400" dirty="0">
              <a:solidFill>
                <a:schemeClr val="tx1">
                  <a:alpha val="70000"/>
                </a:schemeClr>
              </a:solidFill>
            </a:endParaRPr>
          </a:p>
          <a:p>
            <a:pPr algn="just"/>
            <a:endParaRPr lang="ru-RU" sz="500" dirty="0">
              <a:solidFill>
                <a:schemeClr val="tx1">
                  <a:alpha val="70000"/>
                </a:schemeClr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62576" y="3015234"/>
            <a:ext cx="10994318" cy="3631763"/>
          </a:xfrm>
          <a:prstGeom prst="rect">
            <a:avLst/>
          </a:prstGeom>
          <a:solidFill>
            <a:srgbClr val="BCD9FC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1750"/>
          </a:effectLst>
        </p:spPr>
        <p:txBody>
          <a:bodyPr wrap="square" rtlCol="0">
            <a:spAutoFit/>
          </a:bodyPr>
          <a:lstStyle/>
          <a:p>
            <a:pPr algn="just"/>
            <a:r>
              <a:rPr lang="ru-RU" sz="2400" b="1" dirty="0">
                <a:solidFill>
                  <a:schemeClr val="tx1">
                    <a:alpha val="70000"/>
                  </a:schemeClr>
                </a:solidFill>
              </a:rPr>
              <a:t>Задачи:</a:t>
            </a:r>
          </a:p>
          <a:p>
            <a:pPr algn="just"/>
            <a:endParaRPr lang="ru-RU" sz="2400" b="1" dirty="0">
              <a:solidFill>
                <a:schemeClr val="tx1">
                  <a:alpha val="70000"/>
                </a:schemeClr>
              </a:solidFill>
            </a:endParaRPr>
          </a:p>
          <a:p>
            <a:pPr algn="just"/>
            <a:endParaRPr lang="ru-RU" sz="2400" b="1" dirty="0">
              <a:solidFill>
                <a:schemeClr val="tx1">
                  <a:alpha val="70000"/>
                </a:schemeClr>
              </a:solidFill>
            </a:endParaRPr>
          </a:p>
          <a:p>
            <a:pPr algn="just"/>
            <a:endParaRPr lang="ru-RU" sz="2400" b="1" dirty="0">
              <a:solidFill>
                <a:schemeClr val="tx1">
                  <a:alpha val="70000"/>
                </a:schemeClr>
              </a:solidFill>
            </a:endParaRPr>
          </a:p>
          <a:p>
            <a:pPr algn="just"/>
            <a:endParaRPr lang="ru-RU" sz="2400" b="1" dirty="0">
              <a:solidFill>
                <a:schemeClr val="tx1">
                  <a:alpha val="70000"/>
                </a:schemeClr>
              </a:solidFill>
            </a:endParaRPr>
          </a:p>
          <a:p>
            <a:pPr algn="just"/>
            <a:endParaRPr lang="ru-RU" sz="2400" b="1" dirty="0">
              <a:solidFill>
                <a:schemeClr val="tx1">
                  <a:alpha val="70000"/>
                </a:schemeClr>
              </a:solidFill>
            </a:endParaRPr>
          </a:p>
          <a:p>
            <a:pPr algn="just"/>
            <a:endParaRPr lang="ru-RU" sz="2400" b="1" dirty="0">
              <a:solidFill>
                <a:schemeClr val="tx1">
                  <a:alpha val="70000"/>
                </a:schemeClr>
              </a:solidFill>
            </a:endParaRPr>
          </a:p>
          <a:p>
            <a:pPr algn="just"/>
            <a:r>
              <a:rPr lang="ru-RU" sz="2400" b="1" dirty="0">
                <a:solidFill>
                  <a:schemeClr val="tx1">
                    <a:alpha val="70000"/>
                  </a:schemeClr>
                </a:solidFill>
              </a:rPr>
              <a:t> </a:t>
            </a:r>
            <a:endParaRPr lang="en-US" sz="2400" b="1" dirty="0">
              <a:solidFill>
                <a:schemeClr val="tx1">
                  <a:alpha val="70000"/>
                </a:schemeClr>
              </a:solidFill>
            </a:endParaRPr>
          </a:p>
          <a:p>
            <a:pPr algn="just"/>
            <a:endParaRPr lang="ru-RU" sz="2400" dirty="0"/>
          </a:p>
          <a:p>
            <a:pPr algn="just"/>
            <a:endParaRPr lang="ru-RU" sz="1200" dirty="0"/>
          </a:p>
        </p:txBody>
      </p:sp>
      <p:graphicFrame>
        <p:nvGraphicFramePr>
          <p:cNvPr id="8" name="Таблица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3006095"/>
              </p:ext>
            </p:extLst>
          </p:nvPr>
        </p:nvGraphicFramePr>
        <p:xfrm>
          <a:off x="1247885" y="3414034"/>
          <a:ext cx="9778701" cy="332232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47634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152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</a:rPr>
                        <a:t>Провести анализ современных образовательных платформ и их требований</a:t>
                      </a:r>
                      <a:r>
                        <a:rPr lang="en-US" sz="2000" b="0" dirty="0">
                          <a:solidFill>
                            <a:schemeClr val="tx1">
                              <a:alpha val="70000"/>
                            </a:schemeClr>
                          </a:solidFill>
                        </a:rPr>
                        <a:t>;</a:t>
                      </a:r>
                      <a:endParaRPr lang="ru-RU" sz="2000" b="0" dirty="0">
                        <a:solidFill>
                          <a:schemeClr val="tx1">
                            <a:alpha val="70000"/>
                          </a:schemeClr>
                        </a:solidFill>
                      </a:endParaRPr>
                    </a:p>
                  </a:txBody>
                  <a:tcPr marR="4572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ru-RU" sz="2000" b="0" dirty="0">
                          <a:solidFill>
                            <a:schemeClr val="tx1">
                              <a:alpha val="70000"/>
                            </a:schemeClr>
                          </a:solidFill>
                        </a:rPr>
                        <a:t>Реализовать работу видеопроигрывателя;</a:t>
                      </a:r>
                    </a:p>
                  </a:txBody>
                  <a:tcPr marR="36576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812"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ru-RU" sz="2000" dirty="0">
                          <a:solidFill>
                            <a:schemeClr val="tx1"/>
                          </a:solidFill>
                        </a:rPr>
                        <a:t>Исследовать подходы к аутентификации, авторизации и управлению доступом</a:t>
                      </a:r>
                      <a:r>
                        <a:rPr lang="ru-RU" sz="2000" b="0" dirty="0">
                          <a:solidFill>
                            <a:schemeClr val="tx1">
                              <a:alpha val="70000"/>
                            </a:schemeClr>
                          </a:solidFill>
                        </a:rPr>
                        <a:t>;</a:t>
                      </a:r>
                    </a:p>
                  </a:txBody>
                  <a:tcPr marR="4572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ru-RU" sz="2000" b="0" dirty="0">
                          <a:solidFill>
                            <a:schemeClr val="tx1">
                              <a:alpha val="70000"/>
                            </a:schemeClr>
                          </a:solidFill>
                        </a:rPr>
                        <a:t>Разработать методы взаимодействия пользователя с цифровым контентом в AR и AI-режиме;</a:t>
                      </a:r>
                    </a:p>
                  </a:txBody>
                  <a:tcPr marR="36576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ru-RU" sz="2000" dirty="0"/>
                        <a:t>Разработать систему авторизации и разграничения доступа</a:t>
                      </a:r>
                      <a:r>
                        <a:rPr lang="ru-RU" sz="2000" b="0" dirty="0">
                          <a:solidFill>
                            <a:schemeClr val="tx1">
                              <a:alpha val="70000"/>
                            </a:schemeClr>
                          </a:solidFill>
                        </a:rPr>
                        <a:t>;</a:t>
                      </a:r>
                    </a:p>
                  </a:txBody>
                  <a:tcPr marR="4572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ru-RU" sz="2000" b="0" dirty="0">
                          <a:solidFill>
                            <a:schemeClr val="tx1">
                              <a:alpha val="70000"/>
                            </a:schemeClr>
                          </a:solidFill>
                        </a:rPr>
                        <a:t>Провести обзор существующих систем управления подписками и выбрать одну из них для внедрения в приложение.</a:t>
                      </a:r>
                    </a:p>
                  </a:txBody>
                  <a:tcPr marR="36576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Подзаголовок 2"/>
          <p:cNvSpPr txBox="1">
            <a:spLocks/>
          </p:cNvSpPr>
          <p:nvPr/>
        </p:nvSpPr>
        <p:spPr>
          <a:xfrm>
            <a:off x="11274013" y="6164132"/>
            <a:ext cx="1014803" cy="516366"/>
          </a:xfrm>
          <a:prstGeom prst="rect">
            <a:avLst/>
          </a:prstGeom>
          <a:solidFill>
            <a:srgbClr val="A0DBED"/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  <a:softEdge rad="38100"/>
          </a:effectLst>
        </p:spPr>
        <p:txBody>
          <a:bodyPr vert="horz" lIns="27432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1600" dirty="0">
                <a:solidFill>
                  <a:schemeClr val="tx1">
                    <a:alpha val="80000"/>
                  </a:schemeClr>
                </a:solidFill>
              </a:rPr>
              <a:t>4/1</a:t>
            </a:r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4</a:t>
            </a:r>
            <a:endParaRPr lang="ru-RU" sz="1600" dirty="0">
              <a:solidFill>
                <a:schemeClr val="tx1">
                  <a:alpha val="8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539220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2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7506528" y="1715588"/>
            <a:ext cx="4109424" cy="1569660"/>
          </a:xfrm>
          <a:prstGeom prst="rect">
            <a:avLst/>
          </a:prstGeom>
          <a:solidFill>
            <a:srgbClr val="BCD9FC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1750"/>
          </a:effectLst>
        </p:spPr>
        <p:txBody>
          <a:bodyPr wrap="square" rtlCol="0">
            <a:spAutoFit/>
          </a:bodyPr>
          <a:lstStyle/>
          <a:p>
            <a:pPr algn="just"/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Используется две разные платформы для хостинга из-за технических особенностей: </a:t>
            </a:r>
            <a:r>
              <a:rPr lang="en-US" sz="2400" b="1" dirty="0">
                <a:solidFill>
                  <a:schemeClr val="tx1">
                    <a:alpha val="70000"/>
                  </a:schemeClr>
                </a:solidFill>
              </a:rPr>
              <a:t>8</a:t>
            </a:r>
            <a:r>
              <a:rPr lang="en-US" sz="2400" b="1" baseline="30000" dirty="0">
                <a:solidFill>
                  <a:schemeClr val="tx1">
                    <a:alpha val="70000"/>
                  </a:schemeClr>
                </a:solidFill>
              </a:rPr>
              <a:t>th</a:t>
            </a:r>
            <a:r>
              <a:rPr lang="en-US" sz="2400" b="1" dirty="0">
                <a:solidFill>
                  <a:schemeClr val="tx1">
                    <a:alpha val="70000"/>
                  </a:schemeClr>
                </a:solidFill>
              </a:rPr>
              <a:t> Wall </a:t>
            </a:r>
            <a:r>
              <a:rPr lang="ru-RU" sz="2400" b="1" dirty="0">
                <a:solidFill>
                  <a:schemeClr val="tx1">
                    <a:alpha val="70000"/>
                  </a:schemeClr>
                </a:solidFill>
              </a:rPr>
              <a:t>и </a:t>
            </a:r>
            <a:r>
              <a:rPr lang="en-US" sz="2400" b="1" dirty="0" err="1">
                <a:solidFill>
                  <a:schemeClr val="tx1">
                    <a:alpha val="70000"/>
                  </a:schemeClr>
                </a:solidFill>
              </a:rPr>
              <a:t>Vercel</a:t>
            </a:r>
            <a:r>
              <a:rPr lang="en-US" sz="2400" dirty="0">
                <a:solidFill>
                  <a:schemeClr val="tx1">
                    <a:alpha val="70000"/>
                  </a:schemeClr>
                </a:solidFill>
              </a:rPr>
              <a:t>.</a:t>
            </a:r>
            <a:endParaRPr lang="ru-RU" sz="500" dirty="0">
              <a:solidFill>
                <a:schemeClr val="tx1">
                  <a:alpha val="70000"/>
                </a:schemeClr>
              </a:solidFill>
            </a:endParaRPr>
          </a:p>
        </p:txBody>
      </p:sp>
      <p:sp>
        <p:nvSpPr>
          <p:cNvPr id="10" name="Подзаголовок 2"/>
          <p:cNvSpPr txBox="1">
            <a:spLocks/>
          </p:cNvSpPr>
          <p:nvPr/>
        </p:nvSpPr>
        <p:spPr>
          <a:xfrm>
            <a:off x="11274013" y="6164132"/>
            <a:ext cx="1014803" cy="516366"/>
          </a:xfrm>
          <a:prstGeom prst="rect">
            <a:avLst/>
          </a:prstGeom>
          <a:solidFill>
            <a:srgbClr val="A0DBED"/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  <a:softEdge rad="38100"/>
          </a:effectLst>
        </p:spPr>
        <p:txBody>
          <a:bodyPr vert="horz" lIns="27432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1600" dirty="0">
                <a:solidFill>
                  <a:schemeClr val="tx1">
                    <a:alpha val="80000"/>
                  </a:schemeClr>
                </a:solidFill>
              </a:rPr>
              <a:t>5/1</a:t>
            </a:r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4</a:t>
            </a:r>
            <a:endParaRPr lang="ru-RU" sz="1600" dirty="0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506528" y="4296285"/>
            <a:ext cx="4109424" cy="1200329"/>
          </a:xfrm>
          <a:prstGeom prst="rect">
            <a:avLst/>
          </a:prstGeom>
          <a:solidFill>
            <a:srgbClr val="BCD9FC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1750"/>
          </a:effectLst>
        </p:spPr>
        <p:txBody>
          <a:bodyPr wrap="square" rtlCol="0">
            <a:spAutoFit/>
          </a:bodyPr>
          <a:lstStyle/>
          <a:p>
            <a:pPr algn="just"/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Связь организуется через переходы по внешним ссылкам.</a:t>
            </a:r>
            <a:endParaRPr lang="ru-RU" sz="500" dirty="0">
              <a:solidFill>
                <a:schemeClr val="tx1">
                  <a:alpha val="70000"/>
                </a:schemeClr>
              </a:solidFill>
            </a:endParaRPr>
          </a:p>
        </p:txBody>
      </p:sp>
      <p:grpSp>
        <p:nvGrpSpPr>
          <p:cNvPr id="7" name="Группа 6"/>
          <p:cNvGrpSpPr/>
          <p:nvPr/>
        </p:nvGrpSpPr>
        <p:grpSpPr>
          <a:xfrm>
            <a:off x="427740" y="1762814"/>
            <a:ext cx="5772150" cy="4072615"/>
            <a:chOff x="427740" y="1762814"/>
            <a:chExt cx="5772150" cy="4072615"/>
          </a:xfrm>
        </p:grpSpPr>
        <p:sp>
          <p:nvSpPr>
            <p:cNvPr id="9" name="Надпись 2"/>
            <p:cNvSpPr txBox="1">
              <a:spLocks noChangeArrowheads="1"/>
            </p:cNvSpPr>
            <p:nvPr/>
          </p:nvSpPr>
          <p:spPr bwMode="auto">
            <a:xfrm>
              <a:off x="427740" y="5497388"/>
              <a:ext cx="5463534" cy="33804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0" tIns="45720" rIns="91440" bIns="45720" anchor="t" anchorCtr="0">
              <a:spAutoFit/>
            </a:bodyPr>
            <a:lstStyle/>
            <a:p>
              <a:pPr marL="0" marR="0" indent="450215" algn="ctr">
                <a:lnSpc>
                  <a:spcPct val="107000"/>
                </a:lnSpc>
                <a:spcBef>
                  <a:spcPts val="0"/>
                </a:spcBef>
                <a:spcAft>
                  <a:spcPts val="800"/>
                </a:spcAft>
              </a:pPr>
              <a:r>
                <a:rPr lang="ru-RU" sz="1600" dirty="0">
                  <a:effectLst/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rPr>
                <a:t>Рис. </a:t>
              </a:r>
              <a:r>
                <a:rPr lang="en-US" sz="1600" dirty="0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rPr>
                <a:t>3</a:t>
              </a:r>
              <a:r>
                <a:rPr lang="ru-RU" sz="1600" dirty="0">
                  <a:effectLst/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rPr>
                <a:t> – Структура проекта</a:t>
              </a:r>
            </a:p>
          </p:txBody>
        </p:sp>
        <p:pic>
          <p:nvPicPr>
            <p:cNvPr id="6" name="Рисунок 5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7740" y="1762814"/>
              <a:ext cx="5772150" cy="3733800"/>
            </a:xfrm>
            <a:prstGeom prst="rect">
              <a:avLst/>
            </a:prstGeom>
          </p:spPr>
        </p:pic>
      </p:grpSp>
      <p:sp>
        <p:nvSpPr>
          <p:cNvPr id="12" name="Подзаголовок 2">
            <a:extLst>
              <a:ext uri="{FF2B5EF4-FFF2-40B4-BE49-F238E27FC236}">
                <a16:creationId xmlns:a16="http://schemas.microsoft.com/office/drawing/2014/main" id="{BD48EB56-1032-4F5C-A85C-DF6EB005B013}"/>
              </a:ext>
            </a:extLst>
          </p:cNvPr>
          <p:cNvSpPr txBox="1">
            <a:spLocks/>
          </p:cNvSpPr>
          <p:nvPr/>
        </p:nvSpPr>
        <p:spPr>
          <a:xfrm>
            <a:off x="-118334" y="233480"/>
            <a:ext cx="5077609" cy="688489"/>
          </a:xfrm>
          <a:prstGeom prst="rect">
            <a:avLst/>
          </a:prstGeom>
          <a:solidFill>
            <a:srgbClr val="F99F89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8100"/>
          </a:effectLst>
        </p:spPr>
        <p:txBody>
          <a:bodyPr vert="horz" lIns="27432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4000" b="1" dirty="0">
                <a:solidFill>
                  <a:schemeClr val="tx1">
                    <a:alpha val="80000"/>
                  </a:schemeClr>
                </a:solidFill>
              </a:rPr>
              <a:t>Структура проекта</a:t>
            </a:r>
          </a:p>
        </p:txBody>
      </p:sp>
    </p:spTree>
    <p:extLst>
      <p:ext uri="{BB962C8B-B14F-4D97-AF65-F5344CB8AC3E}">
        <p14:creationId xmlns:p14="http://schemas.microsoft.com/office/powerpoint/2010/main" val="37229200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2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-118335" y="301214"/>
            <a:ext cx="6501717" cy="688489"/>
          </a:xfrm>
          <a:solidFill>
            <a:srgbClr val="F99F89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8100"/>
          </a:effectLst>
        </p:spPr>
        <p:txBody>
          <a:bodyPr lIns="274320">
            <a:normAutofit/>
          </a:bodyPr>
          <a:lstStyle/>
          <a:p>
            <a:pPr algn="l"/>
            <a:r>
              <a:rPr lang="ru-RU" sz="4000" b="1" dirty="0">
                <a:solidFill>
                  <a:schemeClr val="tx1">
                    <a:alpha val="80000"/>
                  </a:schemeClr>
                </a:solidFill>
              </a:rPr>
              <a:t>Механизмы авторизации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9648" y="1385713"/>
            <a:ext cx="5331935" cy="1938992"/>
          </a:xfrm>
          <a:prstGeom prst="rect">
            <a:avLst/>
          </a:prstGeom>
          <a:solidFill>
            <a:srgbClr val="BCD9FC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1750"/>
          </a:effectLst>
        </p:spPr>
        <p:txBody>
          <a:bodyPr wrap="square" rtlCol="0">
            <a:spAutoFit/>
          </a:bodyPr>
          <a:lstStyle/>
          <a:p>
            <a:pPr algn="just"/>
            <a:r>
              <a:rPr lang="ru-RU" sz="2400" b="1">
                <a:solidFill>
                  <a:schemeClr val="tx1">
                    <a:alpha val="70000"/>
                  </a:schemeClr>
                </a:solidFill>
              </a:rPr>
              <a:t>Протокол авторизации </a:t>
            </a:r>
            <a:r>
              <a:rPr lang="en-US" sz="2400" b="1">
                <a:solidFill>
                  <a:schemeClr val="tx1">
                    <a:alpha val="70000"/>
                  </a:schemeClr>
                </a:solidFill>
              </a:rPr>
              <a:t>OAuth 2.0 </a:t>
            </a:r>
            <a:r>
              <a:rPr lang="ru-RU" sz="2400">
                <a:solidFill>
                  <a:schemeClr val="tx1">
                    <a:alpha val="70000"/>
                  </a:schemeClr>
                </a:solidFill>
              </a:rPr>
              <a:t>предоставляет стандартизированный механизм авторизации, подходящий для интеграции с внешними сервисами</a:t>
            </a:r>
            <a:r>
              <a:rPr lang="en-US" sz="2400">
                <a:solidFill>
                  <a:schemeClr val="tx1">
                    <a:alpha val="70000"/>
                  </a:schemeClr>
                </a:solidFill>
              </a:rPr>
              <a:t>.</a:t>
            </a:r>
            <a:endParaRPr lang="ru-RU" sz="500" dirty="0">
              <a:solidFill>
                <a:schemeClr val="tx1">
                  <a:alpha val="70000"/>
                </a:schemeClr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69648" y="3818735"/>
            <a:ext cx="5331935" cy="1938992"/>
          </a:xfrm>
          <a:prstGeom prst="rect">
            <a:avLst/>
          </a:prstGeom>
          <a:solidFill>
            <a:srgbClr val="BCD9FC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1750"/>
          </a:effectLst>
        </p:spPr>
        <p:txBody>
          <a:bodyPr wrap="square" rtlCol="0">
            <a:spAutoFit/>
          </a:bodyPr>
          <a:lstStyle/>
          <a:p>
            <a:pPr algn="just"/>
            <a:r>
              <a:rPr lang="ru-RU" sz="2400" b="1" dirty="0" err="1">
                <a:solidFill>
                  <a:schemeClr val="tx1">
                    <a:alpha val="70000"/>
                  </a:schemeClr>
                </a:solidFill>
              </a:rPr>
              <a:t>OAuth</a:t>
            </a:r>
            <a:r>
              <a:rPr lang="ru-RU" sz="2400" b="1" dirty="0">
                <a:solidFill>
                  <a:schemeClr val="tx1">
                    <a:alpha val="70000"/>
                  </a:schemeClr>
                </a:solidFill>
              </a:rPr>
              <a:t> 2.0 </a:t>
            </a:r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позволяет пользователям предоставлять приложению доступ к определённым данным или функциям своего аккаунта, не передавая свои учётные данные (логин и пароль</a:t>
            </a:r>
            <a:r>
              <a:rPr lang="en-US" sz="2400" dirty="0">
                <a:solidFill>
                  <a:schemeClr val="tx1">
                    <a:alpha val="70000"/>
                  </a:schemeClr>
                </a:solidFill>
              </a:rPr>
              <a:t>).</a:t>
            </a:r>
            <a:endParaRPr lang="ru-RU" sz="500" dirty="0">
              <a:solidFill>
                <a:schemeClr val="tx1">
                  <a:alpha val="70000"/>
                </a:schemeClr>
              </a:solidFill>
            </a:endParaRPr>
          </a:p>
        </p:txBody>
      </p:sp>
      <p:sp>
        <p:nvSpPr>
          <p:cNvPr id="16" name="Подзаголовок 2"/>
          <p:cNvSpPr txBox="1">
            <a:spLocks/>
          </p:cNvSpPr>
          <p:nvPr/>
        </p:nvSpPr>
        <p:spPr>
          <a:xfrm>
            <a:off x="11274013" y="6164132"/>
            <a:ext cx="1014803" cy="516366"/>
          </a:xfrm>
          <a:prstGeom prst="rect">
            <a:avLst/>
          </a:prstGeom>
          <a:solidFill>
            <a:srgbClr val="A0DBED"/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  <a:softEdge rad="38100"/>
          </a:effectLst>
        </p:spPr>
        <p:txBody>
          <a:bodyPr vert="horz" lIns="27432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1600" dirty="0">
                <a:solidFill>
                  <a:schemeClr val="tx1">
                    <a:alpha val="80000"/>
                  </a:schemeClr>
                </a:solidFill>
              </a:rPr>
              <a:t>6/1</a:t>
            </a:r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4</a:t>
            </a:r>
            <a:endParaRPr lang="ru-RU" sz="1600" dirty="0">
              <a:solidFill>
                <a:schemeClr val="tx1">
                  <a:alpha val="80000"/>
                </a:schemeClr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0880DA64-B719-4F2D-8374-3E36244CFDEC}"/>
              </a:ext>
            </a:extLst>
          </p:cNvPr>
          <p:cNvGrpSpPr/>
          <p:nvPr/>
        </p:nvGrpSpPr>
        <p:grpSpPr>
          <a:xfrm>
            <a:off x="6069872" y="338218"/>
            <a:ext cx="5538653" cy="6139824"/>
            <a:chOff x="6069872" y="338218"/>
            <a:chExt cx="5538653" cy="6139824"/>
          </a:xfrm>
        </p:grpSpPr>
        <p:sp>
          <p:nvSpPr>
            <p:cNvPr id="12" name="Надпись 2"/>
            <p:cNvSpPr txBox="1">
              <a:spLocks noChangeArrowheads="1"/>
            </p:cNvSpPr>
            <p:nvPr/>
          </p:nvSpPr>
          <p:spPr bwMode="auto">
            <a:xfrm>
              <a:off x="6069872" y="6140001"/>
              <a:ext cx="5538653" cy="33804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0" tIns="45720" rIns="91440" bIns="45720" anchor="t" anchorCtr="0">
              <a:spAutoFit/>
            </a:bodyPr>
            <a:lstStyle/>
            <a:p>
              <a:pPr marL="0" marR="0" indent="450215" algn="ctr">
                <a:lnSpc>
                  <a:spcPct val="107000"/>
                </a:lnSpc>
                <a:spcBef>
                  <a:spcPts val="0"/>
                </a:spcBef>
                <a:spcAft>
                  <a:spcPts val="800"/>
                </a:spcAft>
              </a:pPr>
              <a:r>
                <a:rPr lang="ru-RU" sz="1600" dirty="0">
                  <a:effectLst/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rPr>
                <a:t>Рис. </a:t>
              </a:r>
              <a:r>
                <a:rPr lang="en-US" sz="1600" dirty="0">
                  <a:effectLst/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rPr>
                <a:t>4</a:t>
              </a:r>
              <a:r>
                <a:rPr lang="ru-RU" sz="1600" dirty="0">
                  <a:effectLst/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rPr>
                <a:t> – Блок-схема аутентификации пользователя</a:t>
              </a:r>
            </a:p>
          </p:txBody>
        </p:sp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B9A5435-0B10-4089-AB11-4E401069C5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84467" y="338218"/>
              <a:ext cx="3865061" cy="580178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604134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2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-118334" y="301214"/>
            <a:ext cx="5265100" cy="688489"/>
          </a:xfrm>
          <a:solidFill>
            <a:srgbClr val="F99F89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8100"/>
          </a:effectLst>
        </p:spPr>
        <p:txBody>
          <a:bodyPr lIns="274320">
            <a:normAutofit/>
          </a:bodyPr>
          <a:lstStyle/>
          <a:p>
            <a:pPr algn="l"/>
            <a:r>
              <a:rPr lang="ru-RU" sz="4000" b="1" dirty="0">
                <a:solidFill>
                  <a:schemeClr val="tx1">
                    <a:alpha val="80000"/>
                  </a:schemeClr>
                </a:solidFill>
              </a:rPr>
              <a:t>Система </a:t>
            </a:r>
            <a:r>
              <a:rPr lang="ru-RU" sz="4000" b="1" dirty="0" err="1">
                <a:solidFill>
                  <a:schemeClr val="tx1">
                    <a:alpha val="80000"/>
                  </a:schemeClr>
                </a:solidFill>
              </a:rPr>
              <a:t>геопривязки</a:t>
            </a:r>
            <a:endParaRPr lang="ru-RU" sz="4000" b="1" dirty="0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462707" y="1442807"/>
            <a:ext cx="4534678" cy="1569660"/>
          </a:xfrm>
          <a:prstGeom prst="rect">
            <a:avLst/>
          </a:prstGeom>
          <a:solidFill>
            <a:srgbClr val="BCD9FC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1750"/>
          </a:effectLst>
        </p:spPr>
        <p:txBody>
          <a:bodyPr wrap="square" rtlCol="0">
            <a:spAutoFit/>
          </a:bodyPr>
          <a:lstStyle/>
          <a:p>
            <a:pPr algn="just"/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Для разработки используется </a:t>
            </a:r>
            <a:r>
              <a:rPr lang="en-US" sz="2400" b="1" dirty="0">
                <a:solidFill>
                  <a:schemeClr val="tx1">
                    <a:alpha val="70000"/>
                  </a:schemeClr>
                </a:solidFill>
              </a:rPr>
              <a:t>8</a:t>
            </a:r>
            <a:r>
              <a:rPr lang="en-US" sz="2400" b="1" baseline="30000" dirty="0">
                <a:solidFill>
                  <a:schemeClr val="tx1">
                    <a:alpha val="70000"/>
                  </a:schemeClr>
                </a:solidFill>
              </a:rPr>
              <a:t>th</a:t>
            </a:r>
            <a:r>
              <a:rPr lang="en-US" sz="2400" b="1" dirty="0">
                <a:solidFill>
                  <a:schemeClr val="tx1">
                    <a:alpha val="70000"/>
                  </a:schemeClr>
                </a:solidFill>
              </a:rPr>
              <a:t> Wall </a:t>
            </a:r>
            <a:r>
              <a:rPr lang="en-US" sz="2400" dirty="0">
                <a:solidFill>
                  <a:schemeClr val="tx1">
                    <a:alpha val="70000"/>
                  </a:schemeClr>
                </a:solidFill>
              </a:rPr>
              <a:t>– </a:t>
            </a:r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платформа разработки приложений дополненной реальности.</a:t>
            </a:r>
            <a:endParaRPr lang="ru-RU" sz="500" dirty="0">
              <a:solidFill>
                <a:schemeClr val="tx1">
                  <a:alpha val="70000"/>
                </a:schemeClr>
              </a:solidFill>
            </a:endParaRPr>
          </a:p>
        </p:txBody>
      </p:sp>
      <p:sp>
        <p:nvSpPr>
          <p:cNvPr id="16" name="Подзаголовок 2"/>
          <p:cNvSpPr txBox="1">
            <a:spLocks/>
          </p:cNvSpPr>
          <p:nvPr/>
        </p:nvSpPr>
        <p:spPr>
          <a:xfrm>
            <a:off x="11274013" y="6164132"/>
            <a:ext cx="1014803" cy="516366"/>
          </a:xfrm>
          <a:prstGeom prst="rect">
            <a:avLst/>
          </a:prstGeom>
          <a:solidFill>
            <a:srgbClr val="A0DBED"/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  <a:softEdge rad="38100"/>
          </a:effectLst>
        </p:spPr>
        <p:txBody>
          <a:bodyPr vert="horz" lIns="27432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1600" dirty="0">
                <a:solidFill>
                  <a:schemeClr val="tx1">
                    <a:alpha val="80000"/>
                  </a:schemeClr>
                </a:solidFill>
              </a:rPr>
              <a:t>7/1</a:t>
            </a:r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4</a:t>
            </a:r>
            <a:endParaRPr lang="ru-RU" sz="1600" dirty="0">
              <a:solidFill>
                <a:schemeClr val="tx1">
                  <a:alpha val="80000"/>
                </a:schemeClr>
              </a:solidFill>
            </a:endParaRPr>
          </a:p>
        </p:txBody>
      </p:sp>
      <p:grpSp>
        <p:nvGrpSpPr>
          <p:cNvPr id="15" name="Группа 14"/>
          <p:cNvGrpSpPr/>
          <p:nvPr/>
        </p:nvGrpSpPr>
        <p:grpSpPr>
          <a:xfrm>
            <a:off x="465118" y="1434315"/>
            <a:ext cx="6652356" cy="4736381"/>
            <a:chOff x="0" y="0"/>
            <a:chExt cx="5969000" cy="4249842"/>
          </a:xfrm>
        </p:grpSpPr>
        <p:grpSp>
          <p:nvGrpSpPr>
            <p:cNvPr id="17" name="Группа 16"/>
            <p:cNvGrpSpPr/>
            <p:nvPr/>
          </p:nvGrpSpPr>
          <p:grpSpPr>
            <a:xfrm>
              <a:off x="0" y="0"/>
              <a:ext cx="5969000" cy="4249842"/>
              <a:chOff x="0" y="0"/>
              <a:chExt cx="5969000" cy="4249845"/>
            </a:xfrm>
          </p:grpSpPr>
          <p:grpSp>
            <p:nvGrpSpPr>
              <p:cNvPr id="19" name="Группа 18"/>
              <p:cNvGrpSpPr/>
              <p:nvPr/>
            </p:nvGrpSpPr>
            <p:grpSpPr>
              <a:xfrm>
                <a:off x="0" y="0"/>
                <a:ext cx="5969000" cy="3959860"/>
                <a:chOff x="0" y="0"/>
                <a:chExt cx="5969000" cy="3959860"/>
              </a:xfrm>
            </p:grpSpPr>
            <p:pic>
              <p:nvPicPr>
                <p:cNvPr id="21" name="Рисунок 20"/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0" y="0"/>
                  <a:ext cx="1851660" cy="3959860"/>
                </a:xfrm>
                <a:prstGeom prst="rect">
                  <a:avLst/>
                </a:prstGeom>
              </p:spPr>
            </p:pic>
            <p:pic>
              <p:nvPicPr>
                <p:cNvPr id="22" name="Рисунок 21"/>
                <p:cNvPicPr>
                  <a:picLocks noChangeAspect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065020" y="0"/>
                  <a:ext cx="1854200" cy="3959860"/>
                </a:xfrm>
                <a:prstGeom prst="rect">
                  <a:avLst/>
                </a:prstGeom>
              </p:spPr>
            </p:pic>
            <p:pic>
              <p:nvPicPr>
                <p:cNvPr id="23" name="Рисунок 22"/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099560" y="0"/>
                  <a:ext cx="1869440" cy="3959860"/>
                </a:xfrm>
                <a:prstGeom prst="rect">
                  <a:avLst/>
                </a:prstGeom>
              </p:spPr>
            </p:pic>
          </p:grpSp>
          <p:sp>
            <p:nvSpPr>
              <p:cNvPr id="20" name="Надпись 2"/>
              <p:cNvSpPr txBox="1">
                <a:spLocks noChangeArrowheads="1"/>
              </p:cNvSpPr>
              <p:nvPr/>
            </p:nvSpPr>
            <p:spPr bwMode="auto">
              <a:xfrm>
                <a:off x="472440" y="3946529"/>
                <a:ext cx="5029834" cy="303316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91440" tIns="45720" rIns="91440" bIns="45720" anchor="t" anchorCtr="0">
                <a:spAutoFit/>
              </a:bodyPr>
              <a:lstStyle/>
              <a:p>
                <a:pPr marL="0" marR="0" indent="450215" algn="ctr">
                  <a:lnSpc>
                    <a:spcPct val="107000"/>
                  </a:lnSpc>
                  <a:spcBef>
                    <a:spcPts val="0"/>
                  </a:spcBef>
                  <a:spcAft>
                    <a:spcPts val="800"/>
                  </a:spcAft>
                </a:pPr>
                <a:r>
                  <a:rPr lang="ru-RU" sz="16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Рис.</a:t>
                </a:r>
                <a:r>
                  <a:rPr lang="en-US" sz="16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5</a:t>
                </a:r>
                <a:r>
                  <a:rPr lang="ru-RU" sz="16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– Макеты функционала главной страницы (</a:t>
                </a:r>
                <a:r>
                  <a:rPr lang="en-US" sz="16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AR</a:t>
                </a:r>
                <a:r>
                  <a:rPr lang="ru-RU" sz="16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)</a:t>
                </a:r>
              </a:p>
            </p:txBody>
          </p:sp>
        </p:grpSp>
        <p:pic>
          <p:nvPicPr>
            <p:cNvPr id="18" name="Рисунок 17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099560" y="7620"/>
              <a:ext cx="1829435" cy="3959225"/>
            </a:xfrm>
            <a:prstGeom prst="rect">
              <a:avLst/>
            </a:prstGeom>
          </p:spPr>
        </p:pic>
      </p:grpSp>
      <p:sp>
        <p:nvSpPr>
          <p:cNvPr id="24" name="TextBox 23"/>
          <p:cNvSpPr txBox="1"/>
          <p:nvPr/>
        </p:nvSpPr>
        <p:spPr>
          <a:xfrm>
            <a:off x="7462707" y="3477795"/>
            <a:ext cx="4534678" cy="2308324"/>
          </a:xfrm>
          <a:prstGeom prst="rect">
            <a:avLst/>
          </a:prstGeom>
          <a:solidFill>
            <a:srgbClr val="BCD9FC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1750"/>
          </a:effectLst>
        </p:spPr>
        <p:txBody>
          <a:bodyPr wrap="square" rtlCol="0">
            <a:spAutoFit/>
          </a:bodyPr>
          <a:lstStyle/>
          <a:p>
            <a:pPr algn="just"/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Для рендеринга карты используется библиотека </a:t>
            </a:r>
            <a:r>
              <a:rPr lang="en-US" sz="2400" b="1" dirty="0" err="1">
                <a:solidFill>
                  <a:schemeClr val="tx1">
                    <a:alpha val="70000"/>
                  </a:schemeClr>
                </a:solidFill>
              </a:rPr>
              <a:t>Mapbox</a:t>
            </a:r>
            <a:r>
              <a:rPr lang="en-US" sz="2400" b="1" dirty="0">
                <a:solidFill>
                  <a:schemeClr val="tx1">
                    <a:alpha val="70000"/>
                  </a:schemeClr>
                </a:solidFill>
              </a:rPr>
              <a:t> GL JS</a:t>
            </a:r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, что</a:t>
            </a:r>
            <a:r>
              <a:rPr lang="ru-RU" sz="2400" b="1" dirty="0">
                <a:solidFill>
                  <a:schemeClr val="tx1">
                    <a:alpha val="70000"/>
                  </a:schemeClr>
                </a:solidFill>
              </a:rPr>
              <a:t> </a:t>
            </a:r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позволяет задать уникальный стиль карты и обеспечить работу в широком спектре браузеров.</a:t>
            </a:r>
            <a:endParaRPr lang="ru-RU" sz="500" dirty="0">
              <a:solidFill>
                <a:schemeClr val="tx1">
                  <a:alpha val="7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4401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2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-118334" y="301214"/>
            <a:ext cx="5077609" cy="688489"/>
          </a:xfrm>
          <a:solidFill>
            <a:srgbClr val="F99F89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8100"/>
          </a:effectLst>
        </p:spPr>
        <p:txBody>
          <a:bodyPr lIns="274320">
            <a:normAutofit/>
          </a:bodyPr>
          <a:lstStyle/>
          <a:p>
            <a:pPr algn="l"/>
            <a:r>
              <a:rPr lang="en-US" sz="4000" b="1" dirty="0">
                <a:solidFill>
                  <a:schemeClr val="tx1">
                    <a:alpha val="80000"/>
                  </a:schemeClr>
                </a:solidFill>
              </a:rPr>
              <a:t>AR</a:t>
            </a:r>
            <a:r>
              <a:rPr lang="ru-RU" sz="4000" b="1" dirty="0">
                <a:solidFill>
                  <a:schemeClr val="tx1">
                    <a:alpha val="80000"/>
                  </a:schemeClr>
                </a:solidFill>
              </a:rPr>
              <a:t>-функционал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24393" y="1434315"/>
            <a:ext cx="3811306" cy="1938992"/>
          </a:xfrm>
          <a:prstGeom prst="rect">
            <a:avLst/>
          </a:prstGeom>
          <a:solidFill>
            <a:srgbClr val="BCD9FC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1750"/>
          </a:effectLst>
        </p:spPr>
        <p:txBody>
          <a:bodyPr wrap="square" rtlCol="0">
            <a:spAutoFit/>
          </a:bodyPr>
          <a:lstStyle/>
          <a:p>
            <a:pPr algn="just"/>
            <a:r>
              <a:rPr lang="en-US" sz="2400" dirty="0">
                <a:solidFill>
                  <a:schemeClr val="tx1">
                    <a:alpha val="70000"/>
                  </a:schemeClr>
                </a:solidFill>
              </a:rPr>
              <a:t>AR-</a:t>
            </a:r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функционал реализован на основе фреймворка </a:t>
            </a:r>
            <a:br>
              <a:rPr lang="en-US" sz="2400" dirty="0">
                <a:solidFill>
                  <a:schemeClr val="tx1">
                    <a:alpha val="70000"/>
                  </a:schemeClr>
                </a:solidFill>
              </a:rPr>
            </a:br>
            <a:r>
              <a:rPr lang="en-US" sz="2400" b="1" dirty="0">
                <a:solidFill>
                  <a:schemeClr val="tx1">
                    <a:alpha val="70000"/>
                  </a:schemeClr>
                </a:solidFill>
              </a:rPr>
              <a:t>A-Frame</a:t>
            </a:r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, который поддерживается хостинг-платформой</a:t>
            </a:r>
            <a:r>
              <a:rPr lang="ru-RU" sz="2400" b="1" dirty="0">
                <a:solidFill>
                  <a:schemeClr val="tx1">
                    <a:alpha val="70000"/>
                  </a:schemeClr>
                </a:solidFill>
              </a:rPr>
              <a:t> </a:t>
            </a:r>
            <a:r>
              <a:rPr lang="en-US" sz="2400" b="1" dirty="0">
                <a:solidFill>
                  <a:schemeClr val="tx1">
                    <a:alpha val="70000"/>
                  </a:schemeClr>
                </a:solidFill>
              </a:rPr>
              <a:t>8</a:t>
            </a:r>
            <a:r>
              <a:rPr lang="en-US" sz="2400" b="1" baseline="30000" dirty="0">
                <a:solidFill>
                  <a:schemeClr val="tx1">
                    <a:alpha val="70000"/>
                  </a:schemeClr>
                </a:solidFill>
              </a:rPr>
              <a:t>th</a:t>
            </a:r>
            <a:r>
              <a:rPr lang="en-US" sz="2400" b="1" dirty="0">
                <a:solidFill>
                  <a:schemeClr val="tx1">
                    <a:alpha val="70000"/>
                  </a:schemeClr>
                </a:solidFill>
              </a:rPr>
              <a:t> Wall</a:t>
            </a:r>
            <a:r>
              <a:rPr lang="ru-RU" sz="2400" b="1" dirty="0">
                <a:solidFill>
                  <a:schemeClr val="tx1">
                    <a:alpha val="70000"/>
                  </a:schemeClr>
                </a:solidFill>
              </a:rPr>
              <a:t>.</a:t>
            </a:r>
            <a:endParaRPr lang="ru-RU" sz="500" dirty="0">
              <a:solidFill>
                <a:schemeClr val="tx1">
                  <a:alpha val="70000"/>
                </a:schemeClr>
              </a:solidFill>
            </a:endParaRPr>
          </a:p>
        </p:txBody>
      </p:sp>
      <p:sp>
        <p:nvSpPr>
          <p:cNvPr id="16" name="Подзаголовок 2"/>
          <p:cNvSpPr txBox="1">
            <a:spLocks/>
          </p:cNvSpPr>
          <p:nvPr/>
        </p:nvSpPr>
        <p:spPr>
          <a:xfrm>
            <a:off x="11274013" y="6164132"/>
            <a:ext cx="1014803" cy="516366"/>
          </a:xfrm>
          <a:prstGeom prst="rect">
            <a:avLst/>
          </a:prstGeom>
          <a:solidFill>
            <a:srgbClr val="A0DBED"/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  <a:softEdge rad="38100"/>
          </a:effectLst>
        </p:spPr>
        <p:txBody>
          <a:bodyPr vert="horz" lIns="27432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1600" dirty="0">
                <a:solidFill>
                  <a:schemeClr val="tx1">
                    <a:alpha val="80000"/>
                  </a:schemeClr>
                </a:solidFill>
              </a:rPr>
              <a:t>8/1</a:t>
            </a:r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4</a:t>
            </a:r>
            <a:endParaRPr lang="ru-RU" sz="1600" dirty="0">
              <a:solidFill>
                <a:schemeClr val="tx1">
                  <a:alpha val="80000"/>
                </a:schemeClr>
              </a:solidFill>
            </a:endParaRPr>
          </a:p>
        </p:txBody>
      </p:sp>
      <p:grpSp>
        <p:nvGrpSpPr>
          <p:cNvPr id="30" name="Группа 29"/>
          <p:cNvGrpSpPr/>
          <p:nvPr/>
        </p:nvGrpSpPr>
        <p:grpSpPr>
          <a:xfrm>
            <a:off x="454689" y="1434315"/>
            <a:ext cx="6662785" cy="4760326"/>
            <a:chOff x="0" y="0"/>
            <a:chExt cx="5980430" cy="4272807"/>
          </a:xfrm>
        </p:grpSpPr>
        <p:grpSp>
          <p:nvGrpSpPr>
            <p:cNvPr id="31" name="Группа 30"/>
            <p:cNvGrpSpPr/>
            <p:nvPr/>
          </p:nvGrpSpPr>
          <p:grpSpPr>
            <a:xfrm>
              <a:off x="0" y="0"/>
              <a:ext cx="5980430" cy="3959860"/>
              <a:chOff x="0" y="0"/>
              <a:chExt cx="5980430" cy="3959860"/>
            </a:xfrm>
          </p:grpSpPr>
          <p:pic>
            <p:nvPicPr>
              <p:cNvPr id="33" name="Рисунок 32"/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0" y="0"/>
                <a:ext cx="1863725" cy="3959860"/>
              </a:xfrm>
              <a:prstGeom prst="rect">
                <a:avLst/>
              </a:prstGeom>
            </p:spPr>
          </p:pic>
          <p:pic>
            <p:nvPicPr>
              <p:cNvPr id="34" name="Рисунок 33"/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057400" y="0"/>
                <a:ext cx="1880235" cy="3959860"/>
              </a:xfrm>
              <a:prstGeom prst="rect">
                <a:avLst/>
              </a:prstGeom>
            </p:spPr>
          </p:pic>
          <p:pic>
            <p:nvPicPr>
              <p:cNvPr id="35" name="Рисунок 34"/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122420" y="0"/>
                <a:ext cx="1858010" cy="3959860"/>
              </a:xfrm>
              <a:prstGeom prst="rect">
                <a:avLst/>
              </a:prstGeom>
            </p:spPr>
          </p:pic>
        </p:grpSp>
        <p:sp>
          <p:nvSpPr>
            <p:cNvPr id="32" name="Надпись 2"/>
            <p:cNvSpPr txBox="1">
              <a:spLocks noChangeArrowheads="1"/>
            </p:cNvSpPr>
            <p:nvPr/>
          </p:nvSpPr>
          <p:spPr bwMode="auto">
            <a:xfrm>
              <a:off x="480060" y="3969386"/>
              <a:ext cx="5029834" cy="30342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spAutoFit/>
            </a:bodyPr>
            <a:lstStyle/>
            <a:p>
              <a:pPr marL="0" marR="0" indent="450215" algn="ctr">
                <a:lnSpc>
                  <a:spcPct val="107000"/>
                </a:lnSpc>
                <a:spcBef>
                  <a:spcPts val="0"/>
                </a:spcBef>
                <a:spcAft>
                  <a:spcPts val="800"/>
                </a:spcAft>
              </a:pPr>
              <a:r>
                <a:rPr lang="en-US" sz="1600" dirty="0">
                  <a:effectLst/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rPr>
                <a:t>Рис.</a:t>
              </a:r>
              <a:r>
                <a:rPr lang="en-US" sz="1600" dirty="0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rPr>
                <a:t>6</a:t>
              </a:r>
              <a:r>
                <a:rPr lang="en-US" sz="1600" dirty="0">
                  <a:effectLst/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rPr>
                <a:t> – </a:t>
              </a:r>
              <a:r>
                <a:rPr lang="en-US" sz="1600" dirty="0" err="1">
                  <a:effectLst/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rPr>
                <a:t>Макеты</a:t>
              </a:r>
              <a:r>
                <a:rPr lang="en-US" sz="1600" dirty="0">
                  <a:effectLst/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rPr>
                <a:t> </a:t>
              </a:r>
              <a:r>
                <a:rPr lang="en-US" sz="1600" dirty="0" err="1">
                  <a:effectLst/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rPr>
                <a:t>экрана</a:t>
              </a:r>
              <a:r>
                <a:rPr lang="en-US" sz="1600" dirty="0">
                  <a:effectLst/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rPr>
                <a:t> </a:t>
              </a:r>
              <a:r>
                <a:rPr lang="en-US" sz="1600" dirty="0" err="1">
                  <a:effectLst/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rPr>
                <a:t>режима</a:t>
              </a:r>
              <a:r>
                <a:rPr lang="en-US" sz="1600" dirty="0">
                  <a:effectLst/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rPr>
                <a:t> AR</a:t>
              </a:r>
              <a:endParaRPr lang="ru-RU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36" name="TextBox 35"/>
          <p:cNvSpPr txBox="1"/>
          <p:nvPr/>
        </p:nvSpPr>
        <p:spPr>
          <a:xfrm>
            <a:off x="7824393" y="4080224"/>
            <a:ext cx="3811306" cy="1569660"/>
          </a:xfrm>
          <a:prstGeom prst="rect">
            <a:avLst/>
          </a:prstGeom>
          <a:solidFill>
            <a:srgbClr val="BCD9FC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1750"/>
          </a:effectLst>
        </p:spPr>
        <p:txBody>
          <a:bodyPr wrap="square" rtlCol="0">
            <a:spAutoFit/>
          </a:bodyPr>
          <a:lstStyle/>
          <a:p>
            <a:pPr algn="just"/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Изображение работы устанавливается в атрибут </a:t>
            </a:r>
            <a:r>
              <a:rPr lang="en-US" sz="2400" dirty="0" err="1">
                <a:solidFill>
                  <a:schemeClr val="tx1">
                    <a:alpha val="7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src</a:t>
            </a:r>
            <a:r>
              <a:rPr lang="en-US" sz="2400" dirty="0">
                <a:solidFill>
                  <a:schemeClr val="tx1">
                    <a:alpha val="7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sz="2400" dirty="0">
                <a:solidFill>
                  <a:schemeClr val="tx1">
                    <a:alpha val="70000"/>
                  </a:schemeClr>
                </a:solidFill>
                <a:cs typeface="Courier New" panose="02070309020205020404" pitchFamily="49" charset="0"/>
              </a:rPr>
              <a:t>компонента </a:t>
            </a:r>
            <a:br>
              <a:rPr lang="ru-RU" sz="2400" dirty="0">
                <a:solidFill>
                  <a:schemeClr val="tx1">
                    <a:alpha val="70000"/>
                  </a:schemeClr>
                </a:solidFill>
                <a:cs typeface="Courier New" panose="02070309020205020404" pitchFamily="49" charset="0"/>
              </a:rPr>
            </a:br>
            <a:r>
              <a:rPr lang="en-US" sz="2400" dirty="0">
                <a:solidFill>
                  <a:schemeClr val="tx1">
                    <a:alpha val="7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&lt;a-plane&gt;</a:t>
            </a:r>
            <a:endParaRPr lang="ru-RU" sz="500" dirty="0">
              <a:solidFill>
                <a:schemeClr val="tx1">
                  <a:alpha val="7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37987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2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-118334" y="301214"/>
            <a:ext cx="5077609" cy="688489"/>
          </a:xfrm>
          <a:solidFill>
            <a:srgbClr val="F99F89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8100"/>
          </a:effectLst>
        </p:spPr>
        <p:txBody>
          <a:bodyPr lIns="274320" anchor="ctr">
            <a:normAutofit/>
          </a:bodyPr>
          <a:lstStyle/>
          <a:p>
            <a:pPr algn="l"/>
            <a:r>
              <a:rPr lang="ru-RU" sz="4000" b="1" dirty="0">
                <a:solidFill>
                  <a:schemeClr val="tx1">
                    <a:alpha val="80000"/>
                  </a:schemeClr>
                </a:solidFill>
              </a:rPr>
              <a:t>Матрица проекций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0714" y="4623603"/>
            <a:ext cx="5821939" cy="1200329"/>
          </a:xfrm>
          <a:prstGeom prst="rect">
            <a:avLst/>
          </a:prstGeom>
          <a:solidFill>
            <a:srgbClr val="BCD9FC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1750"/>
          </a:effectLst>
        </p:spPr>
        <p:txBody>
          <a:bodyPr wrap="square" rtlCol="0">
            <a:spAutoFit/>
          </a:bodyPr>
          <a:lstStyle/>
          <a:p>
            <a:pPr algn="just"/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Матрица проекций используется в </a:t>
            </a:r>
            <a:br>
              <a:rPr lang="ru-RU" sz="2400" dirty="0">
                <a:solidFill>
                  <a:schemeClr val="tx1">
                    <a:alpha val="70000"/>
                  </a:schemeClr>
                </a:solidFill>
              </a:rPr>
            </a:br>
            <a:r>
              <a:rPr lang="en-US" sz="2400" b="1" dirty="0">
                <a:solidFill>
                  <a:schemeClr val="tx1">
                    <a:alpha val="70000"/>
                  </a:schemeClr>
                </a:solidFill>
              </a:rPr>
              <a:t>A-Frame</a:t>
            </a:r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 для преобразования трехмерных координат в двумерные</a:t>
            </a:r>
            <a:r>
              <a:rPr lang="en-US" sz="2400" dirty="0">
                <a:solidFill>
                  <a:schemeClr val="tx1">
                    <a:alpha val="70000"/>
                  </a:schemeClr>
                </a:solidFill>
              </a:rPr>
              <a:t>.</a:t>
            </a:r>
            <a:endParaRPr lang="ru-RU" sz="500" dirty="0">
              <a:solidFill>
                <a:schemeClr val="tx1">
                  <a:alpha val="70000"/>
                </a:schemeClr>
              </a:solidFill>
            </a:endParaRPr>
          </a:p>
        </p:txBody>
      </p:sp>
      <p:sp>
        <p:nvSpPr>
          <p:cNvPr id="16" name="Подзаголовок 2"/>
          <p:cNvSpPr txBox="1">
            <a:spLocks/>
          </p:cNvSpPr>
          <p:nvPr/>
        </p:nvSpPr>
        <p:spPr>
          <a:xfrm>
            <a:off x="11274013" y="6164132"/>
            <a:ext cx="1014803" cy="516366"/>
          </a:xfrm>
          <a:prstGeom prst="rect">
            <a:avLst/>
          </a:prstGeom>
          <a:solidFill>
            <a:srgbClr val="A0DBED"/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  <a:softEdge rad="38100"/>
          </a:effectLst>
        </p:spPr>
        <p:txBody>
          <a:bodyPr vert="horz" lIns="27432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1600" dirty="0">
                <a:solidFill>
                  <a:schemeClr val="tx1">
                    <a:alpha val="80000"/>
                  </a:schemeClr>
                </a:solidFill>
              </a:rPr>
              <a:t>9/1</a:t>
            </a:r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4</a:t>
            </a:r>
            <a:endParaRPr lang="ru-RU" sz="1600" dirty="0">
              <a:solidFill>
                <a:schemeClr val="tx1">
                  <a:alpha val="8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/>
              <p:cNvSpPr txBox="1"/>
              <p:nvPr/>
            </p:nvSpPr>
            <p:spPr>
              <a:xfrm>
                <a:off x="1579303" y="3226023"/>
                <a:ext cx="8864762" cy="1234312"/>
              </a:xfrm>
              <a:prstGeom prst="rect">
                <a:avLst/>
              </a:prstGeom>
              <a:solidFill>
                <a:srgbClr val="BCD9FC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  <a:softEdge rad="31750"/>
              </a:effectLst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1">
                            <a:alpha val="70000"/>
                          </a:schemeClr>
                        </a:solidFill>
                        <a:latin typeface="Cambria Math" panose="02040503050406030204" pitchFamily="18" charset="0"/>
                      </a:rPr>
                      <m:t>𝑓𝑜𝑣</m:t>
                    </m:r>
                  </m:oMath>
                </a14:m>
                <a:r>
                  <a:rPr lang="en-US" sz="2400" dirty="0">
                    <a:solidFill>
                      <a:schemeClr val="tx1">
                        <a:alpha val="70000"/>
                      </a:schemeClr>
                    </a:solidFill>
                  </a:rPr>
                  <a:t> – </a:t>
                </a:r>
                <a:r>
                  <a:rPr lang="ru-RU" sz="2400" dirty="0">
                    <a:solidFill>
                      <a:schemeClr val="tx1">
                        <a:alpha val="70000"/>
                      </a:schemeClr>
                    </a:solidFill>
                  </a:rPr>
                  <a:t>угол обзора по вертикали,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1">
                            <a:alpha val="70000"/>
                          </a:schemeClr>
                        </a:solidFill>
                        <a:latin typeface="Cambria Math" panose="02040503050406030204" pitchFamily="18" charset="0"/>
                      </a:rPr>
                      <m:t>𝑎𝑠𝑝𝑒𝑐𝑡</m:t>
                    </m:r>
                  </m:oMath>
                </a14:m>
                <a:r>
                  <a:rPr lang="en-US" sz="2400" dirty="0">
                    <a:solidFill>
                      <a:schemeClr val="tx1">
                        <a:alpha val="70000"/>
                      </a:schemeClr>
                    </a:solidFill>
                  </a:rPr>
                  <a:t> </a:t>
                </a:r>
                <a:r>
                  <a:rPr lang="ru-RU" sz="2400" dirty="0">
                    <a:solidFill>
                      <a:schemeClr val="tx1">
                        <a:alpha val="70000"/>
                      </a:schemeClr>
                    </a:solidFill>
                  </a:rPr>
                  <a:t>– аспектное соотношение экрана,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400" b="0" i="1" dirty="0" smtClean="0">
                            <a:solidFill>
                              <a:schemeClr val="tx1">
                                <a:alpha val="7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1">
                                <a:alpha val="7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1">
                                <a:alpha val="7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b="0" i="1" dirty="0" smtClean="0">
                            <a:solidFill>
                              <a:schemeClr val="tx1">
                                <a:alpha val="7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𝑒𝑎𝑟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tx1">
                        <a:alpha val="70000"/>
                      </a:schemeClr>
                    </a:solidFill>
                  </a:rPr>
                  <a:t> – </a:t>
                </a:r>
                <a:r>
                  <a:rPr lang="ru-RU" sz="2400" dirty="0">
                    <a:solidFill>
                      <a:schemeClr val="tx1">
                        <a:alpha val="70000"/>
                      </a:schemeClr>
                    </a:solidFill>
                  </a:rPr>
                  <a:t>расстояние до ближней плоскости отсечения, </a:t>
                </a:r>
                <a:br>
                  <a:rPr lang="ru-RU" sz="2400" dirty="0">
                    <a:solidFill>
                      <a:schemeClr val="tx1">
                        <a:alpha val="70000"/>
                      </a:schemeClr>
                    </a:solidFill>
                  </a:rPr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1">
                                <a:alpha val="7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1">
                                <a:alpha val="7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chemeClr val="tx1">
                                <a:alpha val="7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𝑓𝑎𝑟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tx1">
                        <a:alpha val="70000"/>
                      </a:schemeClr>
                    </a:solidFill>
                  </a:rPr>
                  <a:t> – </a:t>
                </a:r>
                <a:r>
                  <a:rPr lang="ru-RU" sz="2400" dirty="0">
                    <a:solidFill>
                      <a:schemeClr val="tx1">
                        <a:alpha val="70000"/>
                      </a:schemeClr>
                    </a:solidFill>
                  </a:rPr>
                  <a:t>расстояние до дальней плоскости отсечения</a:t>
                </a:r>
                <a:r>
                  <a:rPr lang="en-US" sz="2400" dirty="0">
                    <a:solidFill>
                      <a:schemeClr val="tx1">
                        <a:alpha val="70000"/>
                      </a:schemeClr>
                    </a:solidFill>
                  </a:rPr>
                  <a:t>.</a:t>
                </a:r>
                <a:endParaRPr lang="ru-RU" sz="500" dirty="0">
                  <a:solidFill>
                    <a:schemeClr val="tx1">
                      <a:alpha val="70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 xmlns="">
          <p:sp>
            <p:nvSpPr>
              <p:cNvPr id="36" name="TextBox 3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9303" y="3226023"/>
                <a:ext cx="8864762" cy="1234312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  <a:softEdge rad="31750"/>
              </a:effectLst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Группа 8"/>
          <p:cNvGrpSpPr/>
          <p:nvPr/>
        </p:nvGrpSpPr>
        <p:grpSpPr>
          <a:xfrm>
            <a:off x="2838994" y="1365401"/>
            <a:ext cx="6345383" cy="1697354"/>
            <a:chOff x="0" y="2261191"/>
            <a:chExt cx="8440328" cy="2257740"/>
          </a:xfrm>
        </p:grpSpPr>
        <p:pic>
          <p:nvPicPr>
            <p:cNvPr id="7" name="Рисунок 6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0" y="2261191"/>
              <a:ext cx="8440328" cy="2257740"/>
            </a:xfrm>
            <a:prstGeom prst="rect">
              <a:avLst/>
            </a:prstGeom>
          </p:spPr>
        </p:pic>
        <p:pic>
          <p:nvPicPr>
            <p:cNvPr id="8" name="Рисунок 7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704733" y="3056639"/>
              <a:ext cx="562053" cy="66684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102663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2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-118334" y="301214"/>
            <a:ext cx="5077609" cy="688489"/>
          </a:xfrm>
          <a:solidFill>
            <a:srgbClr val="F99F89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8100"/>
          </a:effectLst>
        </p:spPr>
        <p:txBody>
          <a:bodyPr lIns="274320">
            <a:normAutofit/>
          </a:bodyPr>
          <a:lstStyle/>
          <a:p>
            <a:pPr algn="l"/>
            <a:r>
              <a:rPr lang="en-US" sz="4000" b="1" dirty="0">
                <a:solidFill>
                  <a:schemeClr val="tx1">
                    <a:alpha val="80000"/>
                  </a:schemeClr>
                </a:solidFill>
              </a:rPr>
              <a:t>GPT-</a:t>
            </a:r>
            <a:r>
              <a:rPr lang="ru-RU" sz="4000" b="1" dirty="0">
                <a:solidFill>
                  <a:schemeClr val="tx1">
                    <a:alpha val="80000"/>
                  </a:schemeClr>
                </a:solidFill>
              </a:rPr>
              <a:t>ассистент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4814" y="4409766"/>
            <a:ext cx="4406811" cy="1938992"/>
          </a:xfrm>
          <a:prstGeom prst="rect">
            <a:avLst/>
          </a:prstGeom>
          <a:solidFill>
            <a:srgbClr val="BCD9FC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1750"/>
          </a:effectLst>
        </p:spPr>
        <p:txBody>
          <a:bodyPr wrap="square" rtlCol="0">
            <a:spAutoFit/>
          </a:bodyPr>
          <a:lstStyle/>
          <a:p>
            <a:pPr algn="just"/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Система ориентирована на генерацию ответов на вопросы про искусство, используя </a:t>
            </a:r>
            <a:r>
              <a:rPr lang="en-US" sz="2400" dirty="0" err="1">
                <a:solidFill>
                  <a:schemeClr val="tx1">
                    <a:alpha val="70000"/>
                  </a:schemeClr>
                </a:solidFill>
              </a:rPr>
              <a:t>OpenAI</a:t>
            </a:r>
            <a:r>
              <a:rPr lang="en-US" sz="2400" dirty="0">
                <a:solidFill>
                  <a:schemeClr val="tx1">
                    <a:alpha val="70000"/>
                  </a:schemeClr>
                </a:solidFill>
              </a:rPr>
              <a:t> API </a:t>
            </a:r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и специализированный контекст.</a:t>
            </a:r>
            <a:endParaRPr lang="ru-RU" sz="500" dirty="0">
              <a:solidFill>
                <a:schemeClr val="tx1">
                  <a:alpha val="70000"/>
                </a:schemeClr>
              </a:solidFill>
            </a:endParaRPr>
          </a:p>
        </p:txBody>
      </p:sp>
      <p:sp>
        <p:nvSpPr>
          <p:cNvPr id="16" name="Подзаголовок 2"/>
          <p:cNvSpPr txBox="1">
            <a:spLocks/>
          </p:cNvSpPr>
          <p:nvPr/>
        </p:nvSpPr>
        <p:spPr>
          <a:xfrm>
            <a:off x="11274013" y="6164132"/>
            <a:ext cx="1014803" cy="516366"/>
          </a:xfrm>
          <a:prstGeom prst="rect">
            <a:avLst/>
          </a:prstGeom>
          <a:solidFill>
            <a:srgbClr val="A0DBED"/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  <a:softEdge rad="38100"/>
          </a:effectLst>
        </p:spPr>
        <p:txBody>
          <a:bodyPr vert="horz" lIns="27432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1600" dirty="0">
                <a:solidFill>
                  <a:schemeClr val="tx1">
                    <a:alpha val="80000"/>
                  </a:schemeClr>
                </a:solidFill>
              </a:rPr>
              <a:t>10/1</a:t>
            </a:r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4</a:t>
            </a:r>
            <a:endParaRPr lang="ru-RU" sz="1600" dirty="0">
              <a:solidFill>
                <a:schemeClr val="tx1">
                  <a:alpha val="80000"/>
                </a:schemeClr>
              </a:solidFill>
            </a:endParaRPr>
          </a:p>
        </p:txBody>
      </p:sp>
      <p:grpSp>
        <p:nvGrpSpPr>
          <p:cNvPr id="12" name="Группа 11"/>
          <p:cNvGrpSpPr/>
          <p:nvPr/>
        </p:nvGrpSpPr>
        <p:grpSpPr>
          <a:xfrm>
            <a:off x="5175418" y="1434315"/>
            <a:ext cx="6595098" cy="5043039"/>
            <a:chOff x="0" y="0"/>
            <a:chExt cx="5940425" cy="4542493"/>
          </a:xfrm>
        </p:grpSpPr>
        <p:pic>
          <p:nvPicPr>
            <p:cNvPr id="13" name="Рисунок 12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828800" cy="3959225"/>
            </a:xfrm>
            <a:prstGeom prst="rect">
              <a:avLst/>
            </a:prstGeom>
          </p:spPr>
        </p:pic>
        <p:pic>
          <p:nvPicPr>
            <p:cNvPr id="14" name="Рисунок 13"/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57400" y="7620"/>
              <a:ext cx="1842770" cy="3959225"/>
            </a:xfrm>
            <a:prstGeom prst="rect">
              <a:avLst/>
            </a:prstGeom>
          </p:spPr>
        </p:pic>
        <p:pic>
          <p:nvPicPr>
            <p:cNvPr id="15" name="Рисунок 14"/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099560" y="15240"/>
              <a:ext cx="1840865" cy="3959225"/>
            </a:xfrm>
            <a:prstGeom prst="rect">
              <a:avLst/>
            </a:prstGeom>
          </p:spPr>
        </p:pic>
        <p:sp>
          <p:nvSpPr>
            <p:cNvPr id="17" name="Надпись 2"/>
            <p:cNvSpPr txBox="1">
              <a:spLocks noChangeArrowheads="1"/>
            </p:cNvSpPr>
            <p:nvPr/>
          </p:nvSpPr>
          <p:spPr bwMode="auto">
            <a:xfrm>
              <a:off x="434340" y="3984687"/>
              <a:ext cx="5029834" cy="55780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spAutoFit/>
            </a:bodyPr>
            <a:lstStyle/>
            <a:p>
              <a:pPr marL="0" marR="0" indent="450215" algn="ctr">
                <a:lnSpc>
                  <a:spcPct val="107000"/>
                </a:lnSpc>
                <a:spcBef>
                  <a:spcPts val="0"/>
                </a:spcBef>
                <a:spcAft>
                  <a:spcPts val="800"/>
                </a:spcAft>
              </a:pPr>
              <a:r>
                <a:rPr lang="ru-RU" sz="1600" dirty="0">
                  <a:effectLst/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rPr>
                <a:t>Рис.</a:t>
              </a:r>
              <a:r>
                <a:rPr lang="en-US" sz="1600" dirty="0">
                  <a:effectLst/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rPr>
                <a:t>7</a:t>
              </a:r>
              <a:r>
                <a:rPr lang="ru-RU" sz="1600" dirty="0">
                  <a:effectLst/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rPr>
                <a:t> – Макеты функционала основных страниц </a:t>
              </a:r>
              <a:r>
                <a:rPr lang="en-US" sz="1600" dirty="0">
                  <a:effectLst/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rPr>
                <a:t>GPT</a:t>
              </a:r>
              <a:r>
                <a:rPr lang="ru-RU" sz="1600" dirty="0">
                  <a:effectLst/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rPr>
                <a:t>-ассистента</a:t>
              </a:r>
            </a:p>
          </p:txBody>
        </p:sp>
      </p:grpSp>
      <p:sp>
        <p:nvSpPr>
          <p:cNvPr id="18" name="TextBox 17"/>
          <p:cNvSpPr txBox="1"/>
          <p:nvPr/>
        </p:nvSpPr>
        <p:spPr>
          <a:xfrm>
            <a:off x="514814" y="1434315"/>
            <a:ext cx="4406811" cy="2677656"/>
          </a:xfrm>
          <a:prstGeom prst="rect">
            <a:avLst/>
          </a:prstGeom>
          <a:solidFill>
            <a:srgbClr val="BCD9FC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1750"/>
          </a:effectLst>
        </p:spPr>
        <p:txBody>
          <a:bodyPr wrap="square" rtlCol="0">
            <a:spAutoFit/>
          </a:bodyPr>
          <a:lstStyle/>
          <a:p>
            <a:pPr algn="just"/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Изначально пользователь взаимодействует с сервисом через </a:t>
            </a:r>
            <a:r>
              <a:rPr lang="en-US" sz="2400" dirty="0">
                <a:solidFill>
                  <a:schemeClr val="tx1">
                    <a:alpha val="70000"/>
                  </a:schemeClr>
                </a:solidFill>
              </a:rPr>
              <a:t>AI-</a:t>
            </a:r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ассистента.</a:t>
            </a:r>
          </a:p>
          <a:p>
            <a:pPr algn="just"/>
            <a:r>
              <a:rPr lang="en-US" sz="2400" dirty="0">
                <a:solidFill>
                  <a:schemeClr val="tx1">
                    <a:alpha val="70000"/>
                  </a:schemeClr>
                </a:solidFill>
              </a:rPr>
              <a:t>AI-</a:t>
            </a:r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часть приложения написана с использованием </a:t>
            </a:r>
            <a:r>
              <a:rPr lang="en-US" sz="2400" b="1" dirty="0">
                <a:solidFill>
                  <a:schemeClr val="tx1">
                    <a:alpha val="70000"/>
                  </a:schemeClr>
                </a:solidFill>
              </a:rPr>
              <a:t>React</a:t>
            </a:r>
            <a:r>
              <a:rPr lang="en-US" sz="2400" dirty="0">
                <a:solidFill>
                  <a:schemeClr val="tx1">
                    <a:alpha val="70000"/>
                  </a:schemeClr>
                </a:solidFill>
              </a:rPr>
              <a:t>, </a:t>
            </a:r>
            <a:r>
              <a:rPr lang="en-US" sz="2400" b="1" dirty="0">
                <a:solidFill>
                  <a:schemeClr val="tx1">
                    <a:alpha val="70000"/>
                  </a:schemeClr>
                </a:solidFill>
              </a:rPr>
              <a:t>Next.js</a:t>
            </a:r>
            <a:r>
              <a:rPr lang="en-US" sz="2400" dirty="0">
                <a:solidFill>
                  <a:schemeClr val="tx1">
                    <a:alpha val="70000"/>
                  </a:schemeClr>
                </a:solidFill>
              </a:rPr>
              <a:t> </a:t>
            </a:r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и </a:t>
            </a:r>
            <a:r>
              <a:rPr lang="en-US" sz="2400" b="1" dirty="0" err="1">
                <a:solidFill>
                  <a:schemeClr val="tx1">
                    <a:alpha val="70000"/>
                  </a:schemeClr>
                </a:solidFill>
              </a:rPr>
              <a:t>TypeScript</a:t>
            </a:r>
            <a:r>
              <a:rPr lang="en-US" sz="2400" dirty="0">
                <a:solidFill>
                  <a:schemeClr val="tx1">
                    <a:alpha val="70000"/>
                  </a:schemeClr>
                </a:solidFill>
              </a:rPr>
              <a:t>. </a:t>
            </a:r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В качестве БД используется </a:t>
            </a:r>
            <a:r>
              <a:rPr lang="en-US" sz="2400" b="1" dirty="0" err="1">
                <a:solidFill>
                  <a:schemeClr val="tx1">
                    <a:alpha val="70000"/>
                  </a:schemeClr>
                </a:solidFill>
              </a:rPr>
              <a:t>Supabase</a:t>
            </a:r>
            <a:r>
              <a:rPr lang="en-US" sz="2400" dirty="0">
                <a:solidFill>
                  <a:schemeClr val="tx1">
                    <a:alpha val="70000"/>
                  </a:schemeClr>
                </a:solidFill>
              </a:rPr>
              <a:t>.</a:t>
            </a:r>
            <a:endParaRPr lang="ru-RU" sz="500" dirty="0">
              <a:solidFill>
                <a:schemeClr val="tx1">
                  <a:alpha val="7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820215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2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-118334" y="301214"/>
            <a:ext cx="11979408" cy="688489"/>
          </a:xfrm>
          <a:solidFill>
            <a:srgbClr val="F99F89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8100"/>
          </a:effectLst>
        </p:spPr>
        <p:txBody>
          <a:bodyPr lIns="274320">
            <a:normAutofit/>
          </a:bodyPr>
          <a:lstStyle/>
          <a:p>
            <a:pPr algn="l"/>
            <a:r>
              <a:rPr lang="ru-RU" sz="4000" b="1" dirty="0">
                <a:solidFill>
                  <a:schemeClr val="tx1">
                    <a:alpha val="80000"/>
                  </a:schemeClr>
                </a:solidFill>
              </a:rPr>
              <a:t>Организация системы контекста запросов в </a:t>
            </a:r>
            <a:r>
              <a:rPr lang="en-US" sz="4000" b="1" dirty="0">
                <a:solidFill>
                  <a:schemeClr val="tx1">
                    <a:alpha val="80000"/>
                  </a:schemeClr>
                </a:solidFill>
              </a:rPr>
              <a:t>GPT</a:t>
            </a:r>
            <a:endParaRPr lang="ru-RU" sz="4000" b="1" dirty="0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22780" y="3096159"/>
            <a:ext cx="6900333" cy="3460627"/>
          </a:xfrm>
          <a:prstGeom prst="rect">
            <a:avLst/>
          </a:prstGeom>
          <a:solidFill>
            <a:srgbClr val="BCD9FC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1750"/>
          </a:effectLst>
        </p:spPr>
        <p:txBody>
          <a:bodyPr wrap="square" rtlCol="0">
            <a:spAutoFit/>
          </a:bodyPr>
          <a:lstStyle/>
          <a:p>
            <a:pPr algn="just"/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Разновидности контекстных дополнений к запросам:</a:t>
            </a:r>
          </a:p>
          <a:p>
            <a:pPr marL="628650" lvl="1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2400" dirty="0" err="1">
                <a:solidFill>
                  <a:schemeClr val="tx1">
                    <a:alpha val="70000"/>
                  </a:schemeClr>
                </a:solidFill>
              </a:rPr>
              <a:t>taskManager</a:t>
            </a:r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 – определение точности формулировки вопроса</a:t>
            </a:r>
            <a:r>
              <a:rPr lang="en-US" sz="2400" dirty="0">
                <a:solidFill>
                  <a:schemeClr val="tx1">
                    <a:alpha val="70000"/>
                  </a:schemeClr>
                </a:solidFill>
              </a:rPr>
              <a:t>;</a:t>
            </a:r>
          </a:p>
          <a:p>
            <a:pPr marL="628650" lvl="1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alpha val="70000"/>
                  </a:schemeClr>
                </a:solidFill>
              </a:rPr>
              <a:t>inquire</a:t>
            </a:r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 – генерация уточнений</a:t>
            </a:r>
            <a:r>
              <a:rPr lang="en-US" sz="2400" dirty="0">
                <a:solidFill>
                  <a:schemeClr val="tx1">
                    <a:alpha val="70000"/>
                  </a:schemeClr>
                </a:solidFill>
              </a:rPr>
              <a:t>;</a:t>
            </a:r>
          </a:p>
          <a:p>
            <a:pPr marL="628650" lvl="1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alpha val="70000"/>
                  </a:schemeClr>
                </a:solidFill>
              </a:rPr>
              <a:t>researcher – </a:t>
            </a:r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генерация ответа на вопрос</a:t>
            </a:r>
            <a:r>
              <a:rPr lang="en-US" sz="2400" dirty="0">
                <a:solidFill>
                  <a:schemeClr val="tx1">
                    <a:alpha val="70000"/>
                  </a:schemeClr>
                </a:solidFill>
              </a:rPr>
              <a:t>;</a:t>
            </a:r>
          </a:p>
          <a:p>
            <a:pPr marL="628650" lvl="1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2400" dirty="0" err="1">
                <a:solidFill>
                  <a:schemeClr val="tx1">
                    <a:alpha val="70000"/>
                  </a:schemeClr>
                </a:solidFill>
              </a:rPr>
              <a:t>querySuggestor</a:t>
            </a:r>
            <a:r>
              <a:rPr lang="en-US" sz="2400" dirty="0">
                <a:solidFill>
                  <a:schemeClr val="tx1">
                    <a:alpha val="70000"/>
                  </a:schemeClr>
                </a:solidFill>
              </a:rPr>
              <a:t> – </a:t>
            </a:r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генерация похожих вопросов.</a:t>
            </a:r>
            <a:endParaRPr lang="ru-RU" dirty="0">
              <a:solidFill>
                <a:schemeClr val="tx1">
                  <a:alpha val="70000"/>
                </a:schemeClr>
              </a:solidFill>
            </a:endParaRPr>
          </a:p>
        </p:txBody>
      </p:sp>
      <p:sp>
        <p:nvSpPr>
          <p:cNvPr id="16" name="Подзаголовок 2"/>
          <p:cNvSpPr txBox="1">
            <a:spLocks/>
          </p:cNvSpPr>
          <p:nvPr/>
        </p:nvSpPr>
        <p:spPr>
          <a:xfrm>
            <a:off x="11274013" y="6164132"/>
            <a:ext cx="1014803" cy="516366"/>
          </a:xfrm>
          <a:prstGeom prst="rect">
            <a:avLst/>
          </a:prstGeom>
          <a:solidFill>
            <a:srgbClr val="A0DBED"/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  <a:softEdge rad="38100"/>
          </a:effectLst>
        </p:spPr>
        <p:txBody>
          <a:bodyPr vert="horz" lIns="27432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1</a:t>
            </a:r>
            <a:r>
              <a:rPr lang="ru-RU" sz="1600" dirty="0">
                <a:solidFill>
                  <a:schemeClr val="tx1">
                    <a:alpha val="80000"/>
                  </a:schemeClr>
                </a:solidFill>
              </a:rPr>
              <a:t>1/1</a:t>
            </a:r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4</a:t>
            </a:r>
            <a:endParaRPr lang="ru-RU" sz="1600" dirty="0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22780" y="1258101"/>
            <a:ext cx="6235220" cy="1569660"/>
          </a:xfrm>
          <a:prstGeom prst="rect">
            <a:avLst/>
          </a:prstGeom>
          <a:solidFill>
            <a:srgbClr val="BCD9FC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1750"/>
          </a:effectLst>
        </p:spPr>
        <p:txBody>
          <a:bodyPr wrap="square" rtlCol="0">
            <a:spAutoFit/>
          </a:bodyPr>
          <a:lstStyle/>
          <a:p>
            <a:pPr algn="just"/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К запросу пользователя система автоматически добавляет необходимую контекстную информацию, исходя из сценария использования ассистента.</a:t>
            </a:r>
            <a:endParaRPr lang="en-US" sz="2400" dirty="0">
              <a:solidFill>
                <a:schemeClr val="tx1">
                  <a:alpha val="70000"/>
                </a:schemeClr>
              </a:solidFill>
            </a:endParaRPr>
          </a:p>
        </p:txBody>
      </p:sp>
      <p:grpSp>
        <p:nvGrpSpPr>
          <p:cNvPr id="11" name="Группа 10"/>
          <p:cNvGrpSpPr/>
          <p:nvPr/>
        </p:nvGrpSpPr>
        <p:grpSpPr>
          <a:xfrm>
            <a:off x="6021592" y="1688566"/>
            <a:ext cx="7050910" cy="4307860"/>
            <a:chOff x="0" y="0"/>
            <a:chExt cx="5029834" cy="3073261"/>
          </a:xfrm>
        </p:grpSpPr>
        <p:sp>
          <p:nvSpPr>
            <p:cNvPr id="19" name="Надпись 2"/>
            <p:cNvSpPr txBox="1">
              <a:spLocks noChangeArrowheads="1"/>
            </p:cNvSpPr>
            <p:nvPr/>
          </p:nvSpPr>
          <p:spPr bwMode="auto">
            <a:xfrm>
              <a:off x="0" y="2832100"/>
              <a:ext cx="5029834" cy="24116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spAutoFit/>
            </a:bodyPr>
            <a:lstStyle/>
            <a:p>
              <a:pPr marL="0" marR="0" indent="0" algn="ctr">
                <a:lnSpc>
                  <a:spcPct val="107000"/>
                </a:lnSpc>
                <a:spcBef>
                  <a:spcPts val="0"/>
                </a:spcBef>
                <a:spcAft>
                  <a:spcPts val="800"/>
                </a:spcAft>
              </a:pPr>
              <a:r>
                <a:rPr lang="ru-RU" sz="1600" dirty="0">
                  <a:effectLst/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rPr>
                <a:t>Рис.</a:t>
              </a:r>
              <a:r>
                <a:rPr lang="en-US" sz="1600" dirty="0">
                  <a:effectLst/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rPr>
                <a:t>8</a:t>
              </a:r>
              <a:r>
                <a:rPr lang="ru-RU" sz="1600" dirty="0">
                  <a:effectLst/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rPr>
                <a:t>– Схема структуры </a:t>
              </a:r>
              <a:r>
                <a:rPr lang="ru-RU" sz="1600" dirty="0" err="1">
                  <a:effectLst/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rPr>
                <a:t>промпта</a:t>
              </a:r>
              <a:endParaRPr lang="ru-RU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  <p:pic>
          <p:nvPicPr>
            <p:cNvPr id="20" name="Рисунок 19" descr="E:\ВУЗ\Диплом\Свой\prompt_structure.png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65250" y="0"/>
              <a:ext cx="2301240" cy="2773680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31310423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2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-118334" y="301214"/>
            <a:ext cx="5077609" cy="688489"/>
          </a:xfrm>
          <a:solidFill>
            <a:srgbClr val="F99F89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8100"/>
          </a:effectLst>
        </p:spPr>
        <p:txBody>
          <a:bodyPr lIns="274320">
            <a:normAutofit/>
          </a:bodyPr>
          <a:lstStyle/>
          <a:p>
            <a:pPr algn="l"/>
            <a:r>
              <a:rPr lang="ru-RU" sz="4000" b="1" dirty="0">
                <a:solidFill>
                  <a:schemeClr val="tx1">
                    <a:alpha val="80000"/>
                  </a:schemeClr>
                </a:solidFill>
              </a:rPr>
              <a:t>Генерация ответа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3908" y="4085073"/>
            <a:ext cx="5457955" cy="1938992"/>
          </a:xfrm>
          <a:prstGeom prst="rect">
            <a:avLst/>
          </a:prstGeom>
          <a:solidFill>
            <a:srgbClr val="BCD9FC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1750"/>
          </a:effectLst>
        </p:spPr>
        <p:txBody>
          <a:bodyPr wrap="square" rtlCol="0">
            <a:spAutoFit/>
          </a:bodyPr>
          <a:lstStyle/>
          <a:p>
            <a:pPr algn="just"/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В его основе лежат два </a:t>
            </a:r>
            <a:r>
              <a:rPr lang="ru-RU" sz="2400" dirty="0" err="1">
                <a:solidFill>
                  <a:schemeClr val="tx1">
                    <a:alpha val="70000"/>
                  </a:schemeClr>
                </a:solidFill>
              </a:rPr>
              <a:t>промпта</a:t>
            </a:r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: </a:t>
            </a:r>
            <a:r>
              <a:rPr lang="en-US" sz="2400" dirty="0">
                <a:solidFill>
                  <a:schemeClr val="tx1">
                    <a:alpha val="70000"/>
                  </a:schemeClr>
                </a:solidFill>
              </a:rPr>
              <a:t>inquire </a:t>
            </a:r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и </a:t>
            </a:r>
            <a:r>
              <a:rPr lang="en-US" sz="2400" dirty="0" err="1">
                <a:solidFill>
                  <a:schemeClr val="tx1">
                    <a:alpha val="70000"/>
                  </a:schemeClr>
                </a:solidFill>
              </a:rPr>
              <a:t>taskManager</a:t>
            </a:r>
            <a:r>
              <a:rPr lang="en-US" sz="2400" dirty="0">
                <a:solidFill>
                  <a:schemeClr val="tx1">
                    <a:alpha val="70000"/>
                  </a:schemeClr>
                </a:solidFill>
              </a:rPr>
              <a:t>, </a:t>
            </a:r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использующиеся для генерации уточнений и определения возможности генерации качественного ответа.</a:t>
            </a:r>
            <a:endParaRPr lang="ru-RU" dirty="0">
              <a:solidFill>
                <a:schemeClr val="tx1">
                  <a:alpha val="70000"/>
                </a:schemeClr>
              </a:solidFill>
            </a:endParaRPr>
          </a:p>
        </p:txBody>
      </p:sp>
      <p:sp>
        <p:nvSpPr>
          <p:cNvPr id="16" name="Подзаголовок 2"/>
          <p:cNvSpPr txBox="1">
            <a:spLocks/>
          </p:cNvSpPr>
          <p:nvPr/>
        </p:nvSpPr>
        <p:spPr>
          <a:xfrm>
            <a:off x="11274013" y="6164132"/>
            <a:ext cx="1014803" cy="516366"/>
          </a:xfrm>
          <a:prstGeom prst="rect">
            <a:avLst/>
          </a:prstGeom>
          <a:solidFill>
            <a:srgbClr val="A0DBED"/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  <a:softEdge rad="38100"/>
          </a:effectLst>
        </p:spPr>
        <p:txBody>
          <a:bodyPr vert="horz" lIns="27432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1600" dirty="0">
                <a:solidFill>
                  <a:schemeClr val="tx1">
                    <a:alpha val="80000"/>
                  </a:schemeClr>
                </a:solidFill>
              </a:rPr>
              <a:t>12/1</a:t>
            </a:r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4</a:t>
            </a:r>
            <a:endParaRPr lang="ru-RU" sz="1600" dirty="0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43908" y="1752558"/>
            <a:ext cx="4646549" cy="1569660"/>
          </a:xfrm>
          <a:prstGeom prst="rect">
            <a:avLst/>
          </a:prstGeom>
          <a:solidFill>
            <a:srgbClr val="BCD9FC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1750"/>
          </a:effectLst>
        </p:spPr>
        <p:txBody>
          <a:bodyPr wrap="square" rtlCol="0">
            <a:spAutoFit/>
          </a:bodyPr>
          <a:lstStyle/>
          <a:p>
            <a:pPr algn="just"/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Алгоритм, приведенный на рис. </a:t>
            </a:r>
            <a:r>
              <a:rPr lang="en-US" sz="2400" dirty="0">
                <a:solidFill>
                  <a:schemeClr val="tx1">
                    <a:alpha val="70000"/>
                  </a:schemeClr>
                </a:solidFill>
              </a:rPr>
              <a:t>9,</a:t>
            </a:r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 обеспечивает генерацию более точного и детального ответа за счет использования уточнений</a:t>
            </a:r>
            <a:endParaRPr lang="ru-RU" sz="500" dirty="0">
              <a:solidFill>
                <a:schemeClr val="tx1">
                  <a:alpha val="70000"/>
                </a:schemeClr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A205B22-9DC1-4665-856E-AC4636E16BAC}"/>
              </a:ext>
            </a:extLst>
          </p:cNvPr>
          <p:cNvGrpSpPr/>
          <p:nvPr/>
        </p:nvGrpSpPr>
        <p:grpSpPr>
          <a:xfrm>
            <a:off x="7718198" y="465524"/>
            <a:ext cx="4063216" cy="6173661"/>
            <a:chOff x="7718198" y="465524"/>
            <a:chExt cx="4063216" cy="6173661"/>
          </a:xfrm>
        </p:grpSpPr>
        <p:sp>
          <p:nvSpPr>
            <p:cNvPr id="19" name="Надпись 2"/>
            <p:cNvSpPr txBox="1">
              <a:spLocks noChangeArrowheads="1"/>
            </p:cNvSpPr>
            <p:nvPr/>
          </p:nvSpPr>
          <p:spPr bwMode="auto">
            <a:xfrm>
              <a:off x="7718198" y="6054410"/>
              <a:ext cx="4063216" cy="5847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spAutoFit/>
            </a:bodyPr>
            <a:lstStyle/>
            <a:p>
              <a:pPr algn="ctr"/>
              <a:r>
                <a:rPr lang="ru-RU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Рис.</a:t>
              </a:r>
              <a:r>
                <a: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  <a:r>
                <a:rPr lang="ru-RU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– Блок-схема обработки пользовательского запроса</a:t>
              </a:r>
            </a:p>
          </p:txBody>
        </p: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72338552-15DD-40AB-A650-9F78455BD66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01956" y="465524"/>
              <a:ext cx="3695700" cy="553402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136439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2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-118334" y="301214"/>
            <a:ext cx="5517648" cy="688489"/>
          </a:xfrm>
          <a:solidFill>
            <a:srgbClr val="F99F89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8100"/>
          </a:effectLst>
        </p:spPr>
        <p:txBody>
          <a:bodyPr lIns="274320">
            <a:normAutofit/>
          </a:bodyPr>
          <a:lstStyle/>
          <a:p>
            <a:pPr algn="l"/>
            <a:r>
              <a:rPr lang="ru-RU" sz="4000" b="1" dirty="0">
                <a:solidFill>
                  <a:schemeClr val="tx1">
                    <a:alpha val="80000"/>
                  </a:schemeClr>
                </a:solidFill>
              </a:rPr>
              <a:t>Демонстрация работы</a:t>
            </a:r>
          </a:p>
        </p:txBody>
      </p:sp>
      <p:sp>
        <p:nvSpPr>
          <p:cNvPr id="16" name="Подзаголовок 2"/>
          <p:cNvSpPr txBox="1">
            <a:spLocks/>
          </p:cNvSpPr>
          <p:nvPr/>
        </p:nvSpPr>
        <p:spPr>
          <a:xfrm>
            <a:off x="11274013" y="6164132"/>
            <a:ext cx="1014803" cy="516366"/>
          </a:xfrm>
          <a:prstGeom prst="rect">
            <a:avLst/>
          </a:prstGeom>
          <a:solidFill>
            <a:srgbClr val="A0DBED"/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  <a:softEdge rad="38100"/>
          </a:effectLst>
        </p:spPr>
        <p:txBody>
          <a:bodyPr vert="horz" lIns="27432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1</a:t>
            </a:r>
            <a:r>
              <a:rPr lang="ru-RU" sz="1600" dirty="0">
                <a:solidFill>
                  <a:schemeClr val="tx1">
                    <a:alpha val="80000"/>
                  </a:schemeClr>
                </a:solidFill>
              </a:rPr>
              <a:t>3/1</a:t>
            </a:r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4</a:t>
            </a:r>
            <a:endParaRPr lang="ru-RU" sz="1600" dirty="0">
              <a:solidFill>
                <a:schemeClr val="tx1">
                  <a:alpha val="80000"/>
                </a:schemeClr>
              </a:solidFill>
            </a:endParaRPr>
          </a:p>
        </p:txBody>
      </p:sp>
      <p:pic>
        <p:nvPicPr>
          <p:cNvPr id="7" name="Запись экрана 6">
            <a:hlinkClick r:id="" action="ppaction://media"/>
            <a:extLst>
              <a:ext uri="{FF2B5EF4-FFF2-40B4-BE49-F238E27FC236}">
                <a16:creationId xmlns:a16="http://schemas.microsoft.com/office/drawing/2014/main" id="{365FF28D-7E56-06B3-7457-374CE9F30E4B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40763" y="1107274"/>
            <a:ext cx="11310474" cy="4861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62747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130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2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-118334" y="301214"/>
            <a:ext cx="5077609" cy="688489"/>
          </a:xfrm>
          <a:solidFill>
            <a:srgbClr val="F99F89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8100"/>
          </a:effectLst>
        </p:spPr>
        <p:txBody>
          <a:bodyPr lIns="274320">
            <a:normAutofit/>
          </a:bodyPr>
          <a:lstStyle/>
          <a:p>
            <a:pPr algn="l"/>
            <a:r>
              <a:rPr lang="ru-RU" sz="4000" b="1" dirty="0">
                <a:solidFill>
                  <a:schemeClr val="tx1">
                    <a:alpha val="80000"/>
                  </a:schemeClr>
                </a:solidFill>
              </a:rPr>
              <a:t>Заключение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196" y="2678592"/>
            <a:ext cx="10615953" cy="3416320"/>
          </a:xfrm>
          <a:prstGeom prst="rect">
            <a:avLst/>
          </a:prstGeom>
          <a:solidFill>
            <a:srgbClr val="BCD9FC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1750"/>
          </a:effectLst>
        </p:spPr>
        <p:txBody>
          <a:bodyPr wrap="square" rtlCol="0">
            <a:spAutoFit/>
          </a:bodyPr>
          <a:lstStyle/>
          <a:p>
            <a:pPr algn="just"/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Для достижения цели были решены следующие задачи:</a:t>
            </a:r>
          </a:p>
          <a:p>
            <a:pPr algn="just"/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1.	Проведён обзор и анализ современных технологий в областях AR и AI;</a:t>
            </a:r>
          </a:p>
          <a:p>
            <a:pPr algn="just"/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2.	Спроектирован пользовательский интерфейс;</a:t>
            </a:r>
          </a:p>
          <a:p>
            <a:pPr algn="just"/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3.	Реализована интеграция библиотек и модулей для реализации картографического модуля и дополненной реальности;</a:t>
            </a:r>
          </a:p>
          <a:p>
            <a:pPr algn="just"/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4.	Разработан и настроен GPT-ассистент;</a:t>
            </a:r>
          </a:p>
          <a:p>
            <a:pPr algn="just"/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5.	Созданы методы взаимодействия пользователей с цифровым контентом в AR и AI-режиме;</a:t>
            </a:r>
          </a:p>
          <a:p>
            <a:pPr algn="just"/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6.	Реализована система управления подписками.</a:t>
            </a:r>
          </a:p>
        </p:txBody>
      </p:sp>
      <p:sp>
        <p:nvSpPr>
          <p:cNvPr id="16" name="Подзаголовок 2"/>
          <p:cNvSpPr txBox="1">
            <a:spLocks/>
          </p:cNvSpPr>
          <p:nvPr/>
        </p:nvSpPr>
        <p:spPr>
          <a:xfrm>
            <a:off x="11274013" y="6164132"/>
            <a:ext cx="1014803" cy="516366"/>
          </a:xfrm>
          <a:prstGeom prst="rect">
            <a:avLst/>
          </a:prstGeom>
          <a:solidFill>
            <a:srgbClr val="A0DBED"/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  <a:softEdge rad="38100"/>
          </a:effectLst>
        </p:spPr>
        <p:txBody>
          <a:bodyPr vert="horz" lIns="27432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1</a:t>
            </a:r>
            <a:r>
              <a:rPr lang="ru-RU" sz="1600" dirty="0">
                <a:solidFill>
                  <a:schemeClr val="tx1">
                    <a:alpha val="80000"/>
                  </a:schemeClr>
                </a:solidFill>
              </a:rPr>
              <a:t>4/1</a:t>
            </a:r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4</a:t>
            </a:r>
            <a:endParaRPr lang="ru-RU" sz="1600" dirty="0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28133" y="1233983"/>
            <a:ext cx="10615953" cy="1200329"/>
          </a:xfrm>
          <a:prstGeom prst="rect">
            <a:avLst/>
          </a:prstGeom>
          <a:solidFill>
            <a:srgbClr val="BCD9FC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1750"/>
          </a:effectLst>
        </p:spPr>
        <p:txBody>
          <a:bodyPr wrap="square" rtlCol="0">
            <a:spAutoFit/>
          </a:bodyPr>
          <a:lstStyle/>
          <a:p>
            <a:pPr algn="just"/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В ходе выполнения работы было разработано веб-приложение, объединяющее функции дополненной реальности и искусственного интеллекта</a:t>
            </a:r>
            <a:r>
              <a:rPr lang="ru-RU" sz="2400" dirty="0">
                <a:solidFill>
                  <a:srgbClr val="FF0000">
                    <a:alpha val="70000"/>
                  </a:srgbClr>
                </a:solidFill>
              </a:rPr>
              <a:t> </a:t>
            </a:r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для художников, работающих в направлении современного искусства.</a:t>
            </a:r>
            <a:endParaRPr lang="ru-RU" sz="500" dirty="0">
              <a:solidFill>
                <a:schemeClr val="tx1">
                  <a:alpha val="7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7002834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3387</TotalTime>
  <Words>2112</Words>
  <Application>Microsoft Office PowerPoint</Application>
  <PresentationFormat>Широкоэкранный</PresentationFormat>
  <Paragraphs>184</Paragraphs>
  <Slides>14</Slides>
  <Notes>14</Notes>
  <HiddenSlides>0</HiddenSlides>
  <MMClips>1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22" baseType="lpstr">
      <vt:lpstr>Arial</vt:lpstr>
      <vt:lpstr>Calibri</vt:lpstr>
      <vt:lpstr>Calibri Light</vt:lpstr>
      <vt:lpstr>Cambria Math</vt:lpstr>
      <vt:lpstr>Courier New</vt:lpstr>
      <vt:lpstr>Symbol</vt:lpstr>
      <vt:lpstr>Times New Roman</vt:lpstr>
      <vt:lpstr>Тема Office</vt:lpstr>
      <vt:lpstr>Исследование и разработка образовательной платформы с курсами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Учетная запись Майкрософт</dc:creator>
  <cp:lastModifiedBy>artyom Onyushev</cp:lastModifiedBy>
  <cp:revision>101</cp:revision>
  <dcterms:created xsi:type="dcterms:W3CDTF">2024-12-23T13:04:42Z</dcterms:created>
  <dcterms:modified xsi:type="dcterms:W3CDTF">2026-04-21T22:41:46Z</dcterms:modified>
</cp:coreProperties>
</file>